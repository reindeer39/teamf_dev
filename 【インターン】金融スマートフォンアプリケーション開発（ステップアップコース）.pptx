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4" roundtripDataSignature="AMtx7miMcFsKN6JmvThDLHl4dUNoZWeb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F3EBE6-6BAB-4126-A069-9DDFE45B0A15}">
  <a:tblStyle styleId="{E7F3EBE6-6BAB-4126-A069-9DDFE45B0A1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CB4C225-7969-4F9A-B681-CAE03884277C}"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rgbClr val="FC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e56551be6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e56551be6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rgbClr val="FC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rgbClr val="FC0000"/>
              </a:solidFill>
            </a:endParaRPr>
          </a:p>
        </p:txBody>
      </p:sp>
      <p:sp>
        <p:nvSpPr>
          <p:cNvPr id="97" name="Google Shape;9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solidFill>
                <a:srgbClr val="E6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rgbClr val="FC0000"/>
              </a:solidFill>
            </a:endParaRPr>
          </a:p>
        </p:txBody>
      </p:sp>
      <p:sp>
        <p:nvSpPr>
          <p:cNvPr id="128" name="Google Shape;12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t/>
            </a:r>
            <a:endParaRPr>
              <a:solidFill>
                <a:srgbClr val="FC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rgbClr val="FC0000"/>
              </a:solidFill>
            </a:endParaRPr>
          </a:p>
        </p:txBody>
      </p:sp>
      <p:sp>
        <p:nvSpPr>
          <p:cNvPr id="236" name="Google Shape;23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solidFill>
                <a:srgbClr val="FC0000"/>
              </a:solidFill>
            </a:endParaRPr>
          </a:p>
        </p:txBody>
      </p:sp>
      <p:sp>
        <p:nvSpPr>
          <p:cNvPr id="253" name="Google Shape;2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e56551be6e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67" name="Google Shape;267;g2e56551be6e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84" name="Google Shape;2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02" name="Google Shape;3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311" name="Google Shape;31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7" name="Google Shape;33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347" name="Google Shape;3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67" name="Google Shape;36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375" name="Google Shape;37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99" name="Google Shape;39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407" name="Google Shape;40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36" name="Google Shape;43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444" name="Google Shape;44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62" name="Google Shape;46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0" name="Google Shape;470;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477" name="Google Shape;47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06" name="Google Shape;50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14" name="Google Shape;51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27" name="Google Shape;52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43" name="Google Shape;5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5" name="Google Shape;55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64" name="Google Shape;56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74" name="Google Shape;57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86" name="Google Shape;58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olumn 1">
  <p:cSld name="1-Column_1">
    <p:spTree>
      <p:nvGrpSpPr>
        <p:cNvPr id="12" name="Shape 12"/>
        <p:cNvGrpSpPr/>
        <p:nvPr/>
      </p:nvGrpSpPr>
      <p:grpSpPr>
        <a:xfrm>
          <a:off x="0" y="0"/>
          <a:ext cx="0" cy="0"/>
          <a:chOff x="0" y="0"/>
          <a:chExt cx="0" cy="0"/>
        </a:xfrm>
      </p:grpSpPr>
      <p:sp>
        <p:nvSpPr>
          <p:cNvPr id="13" name="Google Shape;13;g2ecd2c669a6_2_64"/>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Meiryo"/>
                <a:ea typeface="Meiryo"/>
                <a:cs typeface="Meiryo"/>
                <a:sym typeface="Meiryo"/>
              </a:defRPr>
            </a:lvl9pPr>
          </a:lstStyle>
          <a:p>
            <a:pPr indent="0" lvl="0" marL="0" rtl="0" algn="l">
              <a:spcBef>
                <a:spcPts val="0"/>
              </a:spcBef>
              <a:spcAft>
                <a:spcPts val="0"/>
              </a:spcAft>
              <a:buNone/>
            </a:pPr>
            <a:fld id="{00000000-1234-1234-1234-123412341234}" type="slidenum">
              <a:rPr lang="ja"/>
              <a:t>‹#›</a:t>
            </a:fld>
            <a:endParaRPr/>
          </a:p>
        </p:txBody>
      </p:sp>
      <p:pic>
        <p:nvPicPr>
          <p:cNvPr descr="部屋 が含まれている画像&#10;&#10;自動的に生成された説明" id="14" name="Google Shape;14;g2ecd2c669a6_2_64"/>
          <p:cNvPicPr preferRelativeResize="0"/>
          <p:nvPr/>
        </p:nvPicPr>
        <p:blipFill rotWithShape="1">
          <a:blip r:embed="rId2">
            <a:alphaModFix/>
          </a:blip>
          <a:srcRect b="0" l="0" r="0" t="0"/>
          <a:stretch/>
        </p:blipFill>
        <p:spPr>
          <a:xfrm>
            <a:off x="1356539" y="0"/>
            <a:ext cx="6430925" cy="5143500"/>
          </a:xfrm>
          <a:prstGeom prst="rect">
            <a:avLst/>
          </a:prstGeom>
          <a:noFill/>
          <a:ln>
            <a:noFill/>
          </a:ln>
        </p:spPr>
      </p:pic>
      <p:pic>
        <p:nvPicPr>
          <p:cNvPr descr="背景パターン&#10;&#10;低い精度で自動的に生成された説明" id="15" name="Google Shape;15;g2ecd2c669a6_2_64"/>
          <p:cNvPicPr preferRelativeResize="0"/>
          <p:nvPr/>
        </p:nvPicPr>
        <p:blipFill rotWithShape="1">
          <a:blip r:embed="rId3">
            <a:alphaModFix/>
          </a:blip>
          <a:srcRect b="0" l="0" r="0" t="0"/>
          <a:stretch/>
        </p:blipFill>
        <p:spPr>
          <a:xfrm>
            <a:off x="0" y="0"/>
            <a:ext cx="1356539" cy="5143500"/>
          </a:xfrm>
          <a:prstGeom prst="rect">
            <a:avLst/>
          </a:prstGeom>
          <a:noFill/>
          <a:ln>
            <a:noFill/>
          </a:ln>
        </p:spPr>
      </p:pic>
      <p:pic>
        <p:nvPicPr>
          <p:cNvPr descr="背景パターン&#10;&#10;低い精度で自動的に生成された説明" id="16" name="Google Shape;16;g2ecd2c669a6_2_64"/>
          <p:cNvPicPr preferRelativeResize="0"/>
          <p:nvPr/>
        </p:nvPicPr>
        <p:blipFill rotWithShape="1">
          <a:blip r:embed="rId3">
            <a:alphaModFix/>
          </a:blip>
          <a:srcRect b="0" l="0" r="0" t="0"/>
          <a:stretch/>
        </p:blipFill>
        <p:spPr>
          <a:xfrm>
            <a:off x="7787461" y="0"/>
            <a:ext cx="1356539" cy="5143500"/>
          </a:xfrm>
          <a:prstGeom prst="rect">
            <a:avLst/>
          </a:prstGeom>
          <a:noFill/>
          <a:ln>
            <a:noFill/>
          </a:ln>
        </p:spPr>
      </p:pic>
      <p:pic>
        <p:nvPicPr>
          <p:cNvPr descr="画像" id="17" name="Google Shape;17;g2ecd2c669a6_2_64"/>
          <p:cNvPicPr preferRelativeResize="0"/>
          <p:nvPr/>
        </p:nvPicPr>
        <p:blipFill rotWithShape="1">
          <a:blip r:embed="rId4">
            <a:alphaModFix/>
          </a:blip>
          <a:srcRect b="0" l="0" r="0" t="0"/>
          <a:stretch/>
        </p:blipFill>
        <p:spPr>
          <a:xfrm>
            <a:off x="256325" y="4778263"/>
            <a:ext cx="2714625" cy="276225"/>
          </a:xfrm>
          <a:prstGeom prst="rect">
            <a:avLst/>
          </a:prstGeom>
          <a:noFill/>
          <a:ln>
            <a:noFill/>
          </a:ln>
        </p:spPr>
      </p:pic>
      <p:pic>
        <p:nvPicPr>
          <p:cNvPr id="18" name="Google Shape;18;g2ecd2c669a6_2_64"/>
          <p:cNvPicPr preferRelativeResize="0"/>
          <p:nvPr/>
        </p:nvPicPr>
        <p:blipFill rotWithShape="1">
          <a:blip r:embed="rId5">
            <a:alphaModFix/>
          </a:blip>
          <a:srcRect b="0" l="0" r="0" t="0"/>
          <a:stretch/>
        </p:blipFill>
        <p:spPr>
          <a:xfrm>
            <a:off x="7684475" y="4762792"/>
            <a:ext cx="1250741" cy="3071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g2ecd2c669a6_2_71"/>
          <p:cNvSpPr txBox="1"/>
          <p:nvPr>
            <p:ph type="title"/>
          </p:nvPr>
        </p:nvSpPr>
        <p:spPr>
          <a:xfrm>
            <a:off x="0" y="4425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b="0" i="0">
                <a:latin typeface="Meiryo"/>
                <a:ea typeface="Meiryo"/>
                <a:cs typeface="Meiryo"/>
                <a:sym typeface="Meiry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2ecd2c669a6_2_71"/>
          <p:cNvSpPr txBox="1"/>
          <p:nvPr>
            <p:ph idx="1" type="body"/>
          </p:nvPr>
        </p:nvSpPr>
        <p:spPr>
          <a:xfrm>
            <a:off x="82600" y="863538"/>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b="0" i="0">
                <a:latin typeface="Meiryo"/>
                <a:ea typeface="Meiryo"/>
                <a:cs typeface="Meiryo"/>
                <a:sym typeface="Meiry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g2ecd2c669a6_2_71"/>
          <p:cNvSpPr txBox="1"/>
          <p:nvPr>
            <p:ph idx="12" type="sldNum"/>
          </p:nvPr>
        </p:nvSpPr>
        <p:spPr>
          <a:xfrm>
            <a:off x="82608" y="468906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Meiryo"/>
                <a:ea typeface="Meiryo"/>
                <a:cs typeface="Meiryo"/>
                <a:sym typeface="Meiry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p:cSld name="タイトルのみ">
    <p:spTree>
      <p:nvGrpSpPr>
        <p:cNvPr id="23" name="Shape 23"/>
        <p:cNvGrpSpPr/>
        <p:nvPr/>
      </p:nvGrpSpPr>
      <p:grpSpPr>
        <a:xfrm>
          <a:off x="0" y="0"/>
          <a:ext cx="0" cy="0"/>
          <a:chOff x="0" y="0"/>
          <a:chExt cx="0" cy="0"/>
        </a:xfrm>
      </p:grpSpPr>
      <p:sp>
        <p:nvSpPr>
          <p:cNvPr id="24" name="Google Shape;24;g2ecd2c669a6_2_7"/>
          <p:cNvSpPr txBox="1"/>
          <p:nvPr>
            <p:ph idx="1" type="body"/>
          </p:nvPr>
        </p:nvSpPr>
        <p:spPr>
          <a:xfrm>
            <a:off x="467544" y="718592"/>
            <a:ext cx="81906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g2ecd2c669a6_2_7"/>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26" name="Google Shape;26;g2ecd2c669a6_2_7"/>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olumn">
  <p:cSld name="1-Column">
    <p:spTree>
      <p:nvGrpSpPr>
        <p:cNvPr id="27" name="Shape 27"/>
        <p:cNvGrpSpPr/>
        <p:nvPr/>
      </p:nvGrpSpPr>
      <p:grpSpPr>
        <a:xfrm>
          <a:off x="0" y="0"/>
          <a:ext cx="0" cy="0"/>
          <a:chOff x="0" y="0"/>
          <a:chExt cx="0" cy="0"/>
        </a:xfrm>
      </p:grpSpPr>
      <p:sp>
        <p:nvSpPr>
          <p:cNvPr id="28" name="Google Shape;28;g2ecd2c669a6_2_11"/>
          <p:cNvSpPr txBox="1"/>
          <p:nvPr>
            <p:ph idx="1" type="body"/>
          </p:nvPr>
        </p:nvSpPr>
        <p:spPr>
          <a:xfrm>
            <a:off x="467544" y="1131589"/>
            <a:ext cx="8208000" cy="34563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1000"/>
              </a:spcBef>
              <a:spcAft>
                <a:spcPts val="0"/>
              </a:spcAft>
              <a:buClr>
                <a:schemeClr val="dk1"/>
              </a:buClr>
              <a:buSzPts val="1800"/>
              <a:buNone/>
              <a:defRPr/>
            </a:lvl1pPr>
            <a:lvl2pPr indent="-342900" lvl="1" marL="914400" algn="l">
              <a:lnSpc>
                <a:spcPct val="100000"/>
              </a:lnSpc>
              <a:spcBef>
                <a:spcPts val="1000"/>
              </a:spcBef>
              <a:spcAft>
                <a:spcPts val="0"/>
              </a:spcAft>
              <a:buSzPts val="1800"/>
              <a:buChar char="•"/>
              <a:defRPr/>
            </a:lvl2pPr>
            <a:lvl3pPr indent="-342900" lvl="2" marL="1371600" algn="l">
              <a:lnSpc>
                <a:spcPct val="88888"/>
              </a:lnSpc>
              <a:spcBef>
                <a:spcPts val="1000"/>
              </a:spcBef>
              <a:spcAft>
                <a:spcPts val="0"/>
              </a:spcAft>
              <a:buSzPts val="1800"/>
              <a:buChar char="•"/>
              <a:defRPr/>
            </a:lvl3pPr>
            <a:lvl4pPr indent="-342900" lvl="3" marL="1828800" algn="l">
              <a:lnSpc>
                <a:spcPct val="77777"/>
              </a:lnSpc>
              <a:spcBef>
                <a:spcPts val="1000"/>
              </a:spcBef>
              <a:spcAft>
                <a:spcPts val="0"/>
              </a:spcAft>
              <a:buSzPts val="1800"/>
              <a:buChar char="•"/>
              <a:defRPr/>
            </a:lvl4pPr>
            <a:lvl5pPr indent="-228600" lvl="4" marL="2286000" algn="l">
              <a:lnSpc>
                <a:spcPct val="111111"/>
              </a:lnSpc>
              <a:spcBef>
                <a:spcPts val="1200"/>
              </a:spcBef>
              <a:spcAft>
                <a:spcPts val="0"/>
              </a:spcAft>
              <a:buClr>
                <a:schemeClr val="lt2"/>
              </a:buClr>
              <a:buSzPts val="1800"/>
              <a:buNone/>
              <a:defRPr/>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g2ecd2c669a6_2_11"/>
          <p:cNvSpPr txBox="1"/>
          <p:nvPr>
            <p:ph idx="2" type="body"/>
          </p:nvPr>
        </p:nvSpPr>
        <p:spPr>
          <a:xfrm>
            <a:off x="468313" y="718592"/>
            <a:ext cx="82074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g2ecd2c669a6_2_11"/>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31" name="Google Shape;31;g2ecd2c669a6_2_11"/>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32" name="Shape 32"/>
        <p:cNvGrpSpPr/>
        <p:nvPr/>
      </p:nvGrpSpPr>
      <p:grpSpPr>
        <a:xfrm>
          <a:off x="0" y="0"/>
          <a:ext cx="0" cy="0"/>
          <a:chOff x="0" y="0"/>
          <a:chExt cx="0" cy="0"/>
        </a:xfrm>
      </p:grpSpPr>
      <p:sp>
        <p:nvSpPr>
          <p:cNvPr id="33" name="Google Shape;33;g2ecd2c669a6_2_16"/>
          <p:cNvSpPr txBox="1"/>
          <p:nvPr>
            <p:ph idx="1" type="body"/>
          </p:nvPr>
        </p:nvSpPr>
        <p:spPr>
          <a:xfrm>
            <a:off x="467544" y="1131589"/>
            <a:ext cx="4032900" cy="34563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2000"/>
              </a:spcBef>
              <a:spcAft>
                <a:spcPts val="0"/>
              </a:spcAft>
              <a:buClr>
                <a:schemeClr val="dk1"/>
              </a:buClr>
              <a:buSzPts val="1800"/>
              <a:buFont typeface="Arial"/>
              <a:buNone/>
              <a:defRPr/>
            </a:lvl1pPr>
            <a:lvl2pPr indent="-330200" lvl="1" marL="914400" algn="l">
              <a:lnSpc>
                <a:spcPct val="125000"/>
              </a:lnSpc>
              <a:spcBef>
                <a:spcPts val="400"/>
              </a:spcBef>
              <a:spcAft>
                <a:spcPts val="0"/>
              </a:spcAft>
              <a:buSzPts val="1600"/>
              <a:buFont typeface="Arial"/>
              <a:buAutoNum type="alphaLcParenR"/>
              <a:defRPr/>
            </a:lvl2pPr>
            <a:lvl3pPr indent="-317500" lvl="2" marL="1371600" algn="l">
              <a:lnSpc>
                <a:spcPct val="114285"/>
              </a:lnSpc>
              <a:spcBef>
                <a:spcPts val="400"/>
              </a:spcBef>
              <a:spcAft>
                <a:spcPts val="0"/>
              </a:spcAft>
              <a:buSzPts val="1400"/>
              <a:buChar char="•"/>
              <a:defRPr/>
            </a:lvl3pPr>
            <a:lvl4pPr indent="-304800" lvl="3" marL="1828800" algn="l">
              <a:lnSpc>
                <a:spcPct val="116666"/>
              </a:lnSpc>
              <a:spcBef>
                <a:spcPts val="400"/>
              </a:spcBef>
              <a:spcAft>
                <a:spcPts val="0"/>
              </a:spcAft>
              <a:buSzPts val="1200"/>
              <a:buChar char="•"/>
              <a:defRPr/>
            </a:lvl4pPr>
            <a:lvl5pPr indent="-228600" lvl="4" marL="2286000" algn="l">
              <a:lnSpc>
                <a:spcPct val="166666"/>
              </a:lnSpc>
              <a:spcBef>
                <a:spcPts val="4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g2ecd2c669a6_2_16"/>
          <p:cNvSpPr txBox="1"/>
          <p:nvPr>
            <p:ph idx="2" type="body"/>
          </p:nvPr>
        </p:nvSpPr>
        <p:spPr>
          <a:xfrm>
            <a:off x="468313" y="718592"/>
            <a:ext cx="82074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 name="Google Shape;35;g2ecd2c669a6_2_16"/>
          <p:cNvSpPr txBox="1"/>
          <p:nvPr>
            <p:ph idx="3" type="body"/>
          </p:nvPr>
        </p:nvSpPr>
        <p:spPr>
          <a:xfrm>
            <a:off x="4637090" y="1131589"/>
            <a:ext cx="4038600" cy="34563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2000"/>
              </a:spcBef>
              <a:spcAft>
                <a:spcPts val="0"/>
              </a:spcAft>
              <a:buClr>
                <a:schemeClr val="dk1"/>
              </a:buClr>
              <a:buSzPts val="1800"/>
              <a:buFont typeface="Arial"/>
              <a:buNone/>
              <a:defRPr/>
            </a:lvl1pPr>
            <a:lvl2pPr indent="-330200" lvl="1" marL="914400" algn="l">
              <a:lnSpc>
                <a:spcPct val="125000"/>
              </a:lnSpc>
              <a:spcBef>
                <a:spcPts val="400"/>
              </a:spcBef>
              <a:spcAft>
                <a:spcPts val="0"/>
              </a:spcAft>
              <a:buSzPts val="1600"/>
              <a:buFont typeface="Arial"/>
              <a:buAutoNum type="alphaLcParenR"/>
              <a:defRPr/>
            </a:lvl2pPr>
            <a:lvl3pPr indent="-317500" lvl="2" marL="1371600" algn="l">
              <a:lnSpc>
                <a:spcPct val="114285"/>
              </a:lnSpc>
              <a:spcBef>
                <a:spcPts val="400"/>
              </a:spcBef>
              <a:spcAft>
                <a:spcPts val="0"/>
              </a:spcAft>
              <a:buSzPts val="1400"/>
              <a:buChar char="•"/>
              <a:defRPr/>
            </a:lvl3pPr>
            <a:lvl4pPr indent="-304800" lvl="3" marL="1828800" algn="l">
              <a:lnSpc>
                <a:spcPct val="116666"/>
              </a:lnSpc>
              <a:spcBef>
                <a:spcPts val="400"/>
              </a:spcBef>
              <a:spcAft>
                <a:spcPts val="0"/>
              </a:spcAft>
              <a:buSzPts val="1200"/>
              <a:buChar char="•"/>
              <a:defRPr/>
            </a:lvl4pPr>
            <a:lvl5pPr indent="-228600" lvl="4" marL="2286000" algn="l">
              <a:lnSpc>
                <a:spcPct val="166666"/>
              </a:lnSpc>
              <a:spcBef>
                <a:spcPts val="4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 name="Google Shape;36;g2ecd2c669a6_2_16"/>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37" name="Google Shape;37;g2ecd2c669a6_2_16"/>
          <p:cNvSpPr txBox="1"/>
          <p:nvPr>
            <p:ph type="title"/>
          </p:nvPr>
        </p:nvSpPr>
        <p:spPr>
          <a:xfrm>
            <a:off x="467544" y="129600"/>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p:cSld name="2-Column">
    <p:spTree>
      <p:nvGrpSpPr>
        <p:cNvPr id="38" name="Shape 38"/>
        <p:cNvGrpSpPr/>
        <p:nvPr/>
      </p:nvGrpSpPr>
      <p:grpSpPr>
        <a:xfrm>
          <a:off x="0" y="0"/>
          <a:ext cx="0" cy="0"/>
          <a:chOff x="0" y="0"/>
          <a:chExt cx="0" cy="0"/>
        </a:xfrm>
      </p:grpSpPr>
      <p:sp>
        <p:nvSpPr>
          <p:cNvPr id="39" name="Google Shape;39;g2ecd2c669a6_2_22"/>
          <p:cNvSpPr txBox="1"/>
          <p:nvPr>
            <p:ph idx="1" type="body"/>
          </p:nvPr>
        </p:nvSpPr>
        <p:spPr>
          <a:xfrm>
            <a:off x="467543" y="1131590"/>
            <a:ext cx="4032900" cy="34290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1000"/>
              </a:spcBef>
              <a:spcAft>
                <a:spcPts val="0"/>
              </a:spcAft>
              <a:buClr>
                <a:schemeClr val="dk1"/>
              </a:buClr>
              <a:buSzPts val="1800"/>
              <a:buNone/>
              <a:defRPr/>
            </a:lvl1pPr>
            <a:lvl2pPr indent="-342900" lvl="1" marL="914400" algn="l">
              <a:lnSpc>
                <a:spcPct val="100000"/>
              </a:lnSpc>
              <a:spcBef>
                <a:spcPts val="1000"/>
              </a:spcBef>
              <a:spcAft>
                <a:spcPts val="0"/>
              </a:spcAft>
              <a:buSzPts val="1800"/>
              <a:buChar char="•"/>
              <a:defRPr/>
            </a:lvl2pPr>
            <a:lvl3pPr indent="-342900" lvl="2" marL="1371600" algn="l">
              <a:lnSpc>
                <a:spcPct val="88888"/>
              </a:lnSpc>
              <a:spcBef>
                <a:spcPts val="1000"/>
              </a:spcBef>
              <a:spcAft>
                <a:spcPts val="0"/>
              </a:spcAft>
              <a:buSzPts val="1800"/>
              <a:buChar char="•"/>
              <a:defRPr/>
            </a:lvl3pPr>
            <a:lvl4pPr indent="-342900" lvl="3" marL="1828800" algn="l">
              <a:lnSpc>
                <a:spcPct val="77777"/>
              </a:lnSpc>
              <a:spcBef>
                <a:spcPts val="1000"/>
              </a:spcBef>
              <a:spcAft>
                <a:spcPts val="0"/>
              </a:spcAft>
              <a:buSzPts val="1800"/>
              <a:buChar char="•"/>
              <a:defRPr/>
            </a:lvl4pPr>
            <a:lvl5pPr indent="-228600" lvl="4" marL="2286000" algn="l">
              <a:lnSpc>
                <a:spcPct val="111111"/>
              </a:lnSpc>
              <a:spcBef>
                <a:spcPts val="1200"/>
              </a:spcBef>
              <a:spcAft>
                <a:spcPts val="0"/>
              </a:spcAft>
              <a:buClr>
                <a:schemeClr val="lt2"/>
              </a:buClr>
              <a:buSzPts val="1800"/>
              <a:buNone/>
              <a:defRPr/>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 name="Google Shape;40;g2ecd2c669a6_2_22"/>
          <p:cNvSpPr txBox="1"/>
          <p:nvPr>
            <p:ph idx="2" type="body"/>
          </p:nvPr>
        </p:nvSpPr>
        <p:spPr>
          <a:xfrm>
            <a:off x="4640264" y="1131590"/>
            <a:ext cx="4035300" cy="34290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1000"/>
              </a:spcBef>
              <a:spcAft>
                <a:spcPts val="0"/>
              </a:spcAft>
              <a:buClr>
                <a:schemeClr val="dk1"/>
              </a:buClr>
              <a:buSzPts val="1800"/>
              <a:buNone/>
              <a:defRPr/>
            </a:lvl1pPr>
            <a:lvl2pPr indent="-342900" lvl="1" marL="914400" algn="l">
              <a:lnSpc>
                <a:spcPct val="100000"/>
              </a:lnSpc>
              <a:spcBef>
                <a:spcPts val="1000"/>
              </a:spcBef>
              <a:spcAft>
                <a:spcPts val="0"/>
              </a:spcAft>
              <a:buSzPts val="1800"/>
              <a:buChar char="•"/>
              <a:defRPr/>
            </a:lvl2pPr>
            <a:lvl3pPr indent="-342900" lvl="2" marL="1371600" algn="l">
              <a:lnSpc>
                <a:spcPct val="88888"/>
              </a:lnSpc>
              <a:spcBef>
                <a:spcPts val="1000"/>
              </a:spcBef>
              <a:spcAft>
                <a:spcPts val="0"/>
              </a:spcAft>
              <a:buSzPts val="1800"/>
              <a:buChar char="•"/>
              <a:defRPr/>
            </a:lvl3pPr>
            <a:lvl4pPr indent="-342900" lvl="3" marL="1828800" algn="l">
              <a:lnSpc>
                <a:spcPct val="77777"/>
              </a:lnSpc>
              <a:spcBef>
                <a:spcPts val="1000"/>
              </a:spcBef>
              <a:spcAft>
                <a:spcPts val="0"/>
              </a:spcAft>
              <a:buSzPts val="1800"/>
              <a:buChar char="•"/>
              <a:defRPr/>
            </a:lvl4pPr>
            <a:lvl5pPr indent="-228600" lvl="4" marL="2286000" algn="l">
              <a:lnSpc>
                <a:spcPct val="111111"/>
              </a:lnSpc>
              <a:spcBef>
                <a:spcPts val="1200"/>
              </a:spcBef>
              <a:spcAft>
                <a:spcPts val="0"/>
              </a:spcAft>
              <a:buClr>
                <a:schemeClr val="lt2"/>
              </a:buClr>
              <a:buSzPts val="1800"/>
              <a:buNone/>
              <a:defRPr/>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 name="Google Shape;41;g2ecd2c669a6_2_22"/>
          <p:cNvSpPr txBox="1"/>
          <p:nvPr>
            <p:ph idx="3" type="body"/>
          </p:nvPr>
        </p:nvSpPr>
        <p:spPr>
          <a:xfrm>
            <a:off x="467544" y="718592"/>
            <a:ext cx="82080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2" name="Google Shape;42;g2ecd2c669a6_2_22"/>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43" name="Google Shape;43;g2ecd2c669a6_2_22"/>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2-Subhead">
  <p:cSld name="2-Column 2-Subhead">
    <p:spTree>
      <p:nvGrpSpPr>
        <p:cNvPr id="44" name="Shape 44"/>
        <p:cNvGrpSpPr/>
        <p:nvPr/>
      </p:nvGrpSpPr>
      <p:grpSpPr>
        <a:xfrm>
          <a:off x="0" y="0"/>
          <a:ext cx="0" cy="0"/>
          <a:chOff x="0" y="0"/>
          <a:chExt cx="0" cy="0"/>
        </a:xfrm>
      </p:grpSpPr>
      <p:sp>
        <p:nvSpPr>
          <p:cNvPr id="45" name="Google Shape;45;g2ecd2c669a6_2_28"/>
          <p:cNvSpPr txBox="1"/>
          <p:nvPr>
            <p:ph idx="1" type="body"/>
          </p:nvPr>
        </p:nvSpPr>
        <p:spPr>
          <a:xfrm>
            <a:off x="467545" y="1419622"/>
            <a:ext cx="4037700" cy="31410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1000"/>
              </a:spcBef>
              <a:spcAft>
                <a:spcPts val="0"/>
              </a:spcAft>
              <a:buClr>
                <a:schemeClr val="dk1"/>
              </a:buClr>
              <a:buSzPts val="1800"/>
              <a:buNone/>
              <a:defRPr/>
            </a:lvl1pPr>
            <a:lvl2pPr indent="-342900" lvl="1" marL="914400" algn="l">
              <a:lnSpc>
                <a:spcPct val="100000"/>
              </a:lnSpc>
              <a:spcBef>
                <a:spcPts val="1000"/>
              </a:spcBef>
              <a:spcAft>
                <a:spcPts val="0"/>
              </a:spcAft>
              <a:buSzPts val="1800"/>
              <a:buChar char="•"/>
              <a:defRPr/>
            </a:lvl2pPr>
            <a:lvl3pPr indent="-342900" lvl="2" marL="1371600" algn="l">
              <a:lnSpc>
                <a:spcPct val="88888"/>
              </a:lnSpc>
              <a:spcBef>
                <a:spcPts val="1000"/>
              </a:spcBef>
              <a:spcAft>
                <a:spcPts val="0"/>
              </a:spcAft>
              <a:buSzPts val="1800"/>
              <a:buChar char="•"/>
              <a:defRPr/>
            </a:lvl3pPr>
            <a:lvl4pPr indent="-342900" lvl="3" marL="1828800" algn="l">
              <a:lnSpc>
                <a:spcPct val="77777"/>
              </a:lnSpc>
              <a:spcBef>
                <a:spcPts val="1000"/>
              </a:spcBef>
              <a:spcAft>
                <a:spcPts val="0"/>
              </a:spcAft>
              <a:buSzPts val="1800"/>
              <a:buChar char="•"/>
              <a:defRPr/>
            </a:lvl4pPr>
            <a:lvl5pPr indent="-228600" lvl="4" marL="2286000" algn="l">
              <a:lnSpc>
                <a:spcPct val="111111"/>
              </a:lnSpc>
              <a:spcBef>
                <a:spcPts val="1200"/>
              </a:spcBef>
              <a:spcAft>
                <a:spcPts val="0"/>
              </a:spcAft>
              <a:buClr>
                <a:schemeClr val="lt2"/>
              </a:buClr>
              <a:buSzPts val="1800"/>
              <a:buNone/>
              <a:defRPr/>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 name="Google Shape;46;g2ecd2c669a6_2_28"/>
          <p:cNvSpPr txBox="1"/>
          <p:nvPr>
            <p:ph idx="2" type="body"/>
          </p:nvPr>
        </p:nvSpPr>
        <p:spPr>
          <a:xfrm>
            <a:off x="4643438" y="1419622"/>
            <a:ext cx="4032300" cy="3141000"/>
          </a:xfrm>
          <a:prstGeom prst="rect">
            <a:avLst/>
          </a:prstGeom>
          <a:noFill/>
          <a:ln>
            <a:noFill/>
          </a:ln>
        </p:spPr>
        <p:txBody>
          <a:bodyPr anchorCtr="0" anchor="t" bIns="0" lIns="0" spcFirstLastPara="1" rIns="0" wrap="square" tIns="0">
            <a:normAutofit/>
          </a:bodyPr>
          <a:lstStyle>
            <a:lvl1pPr indent="-228600" lvl="0" marL="457200" algn="l">
              <a:lnSpc>
                <a:spcPct val="111111"/>
              </a:lnSpc>
              <a:spcBef>
                <a:spcPts val="1000"/>
              </a:spcBef>
              <a:spcAft>
                <a:spcPts val="0"/>
              </a:spcAft>
              <a:buClr>
                <a:schemeClr val="dk1"/>
              </a:buClr>
              <a:buSzPts val="1800"/>
              <a:buNone/>
              <a:defRPr/>
            </a:lvl1pPr>
            <a:lvl2pPr indent="-342900" lvl="1" marL="914400" algn="l">
              <a:lnSpc>
                <a:spcPct val="100000"/>
              </a:lnSpc>
              <a:spcBef>
                <a:spcPts val="1000"/>
              </a:spcBef>
              <a:spcAft>
                <a:spcPts val="0"/>
              </a:spcAft>
              <a:buSzPts val="1800"/>
              <a:buChar char="•"/>
              <a:defRPr/>
            </a:lvl2pPr>
            <a:lvl3pPr indent="-342900" lvl="2" marL="1371600" algn="l">
              <a:lnSpc>
                <a:spcPct val="88888"/>
              </a:lnSpc>
              <a:spcBef>
                <a:spcPts val="1000"/>
              </a:spcBef>
              <a:spcAft>
                <a:spcPts val="0"/>
              </a:spcAft>
              <a:buSzPts val="1800"/>
              <a:buChar char="•"/>
              <a:defRPr/>
            </a:lvl3pPr>
            <a:lvl4pPr indent="-342900" lvl="3" marL="1828800" algn="l">
              <a:lnSpc>
                <a:spcPct val="77777"/>
              </a:lnSpc>
              <a:spcBef>
                <a:spcPts val="1000"/>
              </a:spcBef>
              <a:spcAft>
                <a:spcPts val="0"/>
              </a:spcAft>
              <a:buSzPts val="1800"/>
              <a:buChar char="•"/>
              <a:defRPr/>
            </a:lvl4pPr>
            <a:lvl5pPr indent="-228600" lvl="4" marL="2286000" algn="l">
              <a:lnSpc>
                <a:spcPct val="111111"/>
              </a:lnSpc>
              <a:spcBef>
                <a:spcPts val="1200"/>
              </a:spcBef>
              <a:spcAft>
                <a:spcPts val="0"/>
              </a:spcAft>
              <a:buClr>
                <a:schemeClr val="lt2"/>
              </a:buClr>
              <a:buSzPts val="1800"/>
              <a:buNone/>
              <a:defRPr/>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 name="Google Shape;47;g2ecd2c669a6_2_28"/>
          <p:cNvSpPr txBox="1"/>
          <p:nvPr>
            <p:ph idx="3" type="body"/>
          </p:nvPr>
        </p:nvSpPr>
        <p:spPr>
          <a:xfrm>
            <a:off x="467544" y="718592"/>
            <a:ext cx="4037700" cy="6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 name="Google Shape;48;g2ecd2c669a6_2_28"/>
          <p:cNvSpPr txBox="1"/>
          <p:nvPr>
            <p:ph idx="4" type="body"/>
          </p:nvPr>
        </p:nvSpPr>
        <p:spPr>
          <a:xfrm>
            <a:off x="4643438" y="718592"/>
            <a:ext cx="4032300" cy="6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 name="Google Shape;49;g2ecd2c669a6_2_28"/>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50" name="Google Shape;50;g2ecd2c669a6_2_28"/>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p:cSld name="3/4">
    <p:spTree>
      <p:nvGrpSpPr>
        <p:cNvPr id="51" name="Shape 51"/>
        <p:cNvGrpSpPr/>
        <p:nvPr/>
      </p:nvGrpSpPr>
      <p:grpSpPr>
        <a:xfrm>
          <a:off x="0" y="0"/>
          <a:ext cx="0" cy="0"/>
          <a:chOff x="0" y="0"/>
          <a:chExt cx="0" cy="0"/>
        </a:xfrm>
      </p:grpSpPr>
      <p:sp>
        <p:nvSpPr>
          <p:cNvPr id="52" name="Google Shape;52;g2ecd2c669a6_2_35"/>
          <p:cNvSpPr txBox="1"/>
          <p:nvPr>
            <p:ph idx="1" type="body"/>
          </p:nvPr>
        </p:nvSpPr>
        <p:spPr>
          <a:xfrm>
            <a:off x="467544" y="1131590"/>
            <a:ext cx="1944000" cy="34290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3" name="Google Shape;53;g2ecd2c669a6_2_35"/>
          <p:cNvSpPr txBox="1"/>
          <p:nvPr>
            <p:ph idx="2" type="body"/>
          </p:nvPr>
        </p:nvSpPr>
        <p:spPr>
          <a:xfrm>
            <a:off x="2555875" y="1131590"/>
            <a:ext cx="6119700" cy="34290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 name="Google Shape;54;g2ecd2c669a6_2_35"/>
          <p:cNvSpPr txBox="1"/>
          <p:nvPr>
            <p:ph idx="3" type="body"/>
          </p:nvPr>
        </p:nvSpPr>
        <p:spPr>
          <a:xfrm>
            <a:off x="468312" y="718592"/>
            <a:ext cx="82074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g2ecd2c669a6_2_35"/>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56" name="Google Shape;56;g2ecd2c669a6_2_35"/>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Double Content">
  <p:cSld name="3/4 Double Content">
    <p:spTree>
      <p:nvGrpSpPr>
        <p:cNvPr id="57" name="Shape 57"/>
        <p:cNvGrpSpPr/>
        <p:nvPr/>
      </p:nvGrpSpPr>
      <p:grpSpPr>
        <a:xfrm>
          <a:off x="0" y="0"/>
          <a:ext cx="0" cy="0"/>
          <a:chOff x="0" y="0"/>
          <a:chExt cx="0" cy="0"/>
        </a:xfrm>
      </p:grpSpPr>
      <p:sp>
        <p:nvSpPr>
          <p:cNvPr id="58" name="Google Shape;58;g2ecd2c669a6_2_41"/>
          <p:cNvSpPr txBox="1"/>
          <p:nvPr>
            <p:ph idx="1" type="body"/>
          </p:nvPr>
        </p:nvSpPr>
        <p:spPr>
          <a:xfrm>
            <a:off x="468313" y="762000"/>
            <a:ext cx="1943100" cy="37644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 name="Google Shape;59;g2ecd2c669a6_2_41"/>
          <p:cNvSpPr txBox="1"/>
          <p:nvPr>
            <p:ph idx="2" type="body"/>
          </p:nvPr>
        </p:nvSpPr>
        <p:spPr>
          <a:xfrm>
            <a:off x="2555776" y="1419622"/>
            <a:ext cx="2981400" cy="31419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 name="Google Shape;60;g2ecd2c669a6_2_41"/>
          <p:cNvSpPr txBox="1"/>
          <p:nvPr>
            <p:ph idx="3" type="body"/>
          </p:nvPr>
        </p:nvSpPr>
        <p:spPr>
          <a:xfrm>
            <a:off x="5722617" y="1419622"/>
            <a:ext cx="2953200" cy="31419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g2ecd2c669a6_2_41"/>
          <p:cNvSpPr txBox="1"/>
          <p:nvPr>
            <p:ph idx="4" type="body"/>
          </p:nvPr>
        </p:nvSpPr>
        <p:spPr>
          <a:xfrm>
            <a:off x="2555779" y="718592"/>
            <a:ext cx="2981400" cy="6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 name="Google Shape;62;g2ecd2c669a6_2_41"/>
          <p:cNvSpPr txBox="1"/>
          <p:nvPr>
            <p:ph idx="5" type="body"/>
          </p:nvPr>
        </p:nvSpPr>
        <p:spPr>
          <a:xfrm>
            <a:off x="5722617" y="718592"/>
            <a:ext cx="2953200" cy="6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 name="Google Shape;63;g2ecd2c669a6_2_41"/>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64" name="Google Shape;64;g2ecd2c669a6_2_41"/>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ontent">
  <p:cSld name="4-Content">
    <p:spTree>
      <p:nvGrpSpPr>
        <p:cNvPr id="65" name="Shape 65"/>
        <p:cNvGrpSpPr/>
        <p:nvPr/>
      </p:nvGrpSpPr>
      <p:grpSpPr>
        <a:xfrm>
          <a:off x="0" y="0"/>
          <a:ext cx="0" cy="0"/>
          <a:chOff x="0" y="0"/>
          <a:chExt cx="0" cy="0"/>
        </a:xfrm>
      </p:grpSpPr>
      <p:sp>
        <p:nvSpPr>
          <p:cNvPr id="66" name="Google Shape;66;g2ecd2c669a6_2_49"/>
          <p:cNvSpPr txBox="1"/>
          <p:nvPr>
            <p:ph idx="1" type="body"/>
          </p:nvPr>
        </p:nvSpPr>
        <p:spPr>
          <a:xfrm>
            <a:off x="467544" y="1131590"/>
            <a:ext cx="1944000" cy="34563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 name="Google Shape;67;g2ecd2c669a6_2_49"/>
          <p:cNvSpPr txBox="1"/>
          <p:nvPr>
            <p:ph idx="2" type="body"/>
          </p:nvPr>
        </p:nvSpPr>
        <p:spPr>
          <a:xfrm>
            <a:off x="2555776" y="1128138"/>
            <a:ext cx="2981400" cy="16596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 name="Google Shape;68;g2ecd2c669a6_2_49"/>
          <p:cNvSpPr txBox="1"/>
          <p:nvPr>
            <p:ph idx="3" type="body"/>
          </p:nvPr>
        </p:nvSpPr>
        <p:spPr>
          <a:xfrm>
            <a:off x="5732862" y="1128138"/>
            <a:ext cx="2953200" cy="16596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g2ecd2c669a6_2_49"/>
          <p:cNvSpPr txBox="1"/>
          <p:nvPr>
            <p:ph idx="4" type="body"/>
          </p:nvPr>
        </p:nvSpPr>
        <p:spPr>
          <a:xfrm>
            <a:off x="2555776" y="2928338"/>
            <a:ext cx="2981400" cy="16596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 name="Google Shape;70;g2ecd2c669a6_2_49"/>
          <p:cNvSpPr txBox="1"/>
          <p:nvPr>
            <p:ph idx="5" type="body"/>
          </p:nvPr>
        </p:nvSpPr>
        <p:spPr>
          <a:xfrm>
            <a:off x="5732862" y="2928338"/>
            <a:ext cx="2953200" cy="16596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600"/>
              </a:spcBef>
              <a:spcAft>
                <a:spcPts val="0"/>
              </a:spcAft>
              <a:buClr>
                <a:schemeClr val="dk1"/>
              </a:buClr>
              <a:buSzPts val="1400"/>
              <a:buFont typeface="Arial"/>
              <a:buNone/>
              <a:defRPr sz="1400"/>
            </a:lvl1pPr>
            <a:lvl2pPr indent="-304800" lvl="1" marL="914400" algn="l">
              <a:lnSpc>
                <a:spcPct val="125000"/>
              </a:lnSpc>
              <a:spcBef>
                <a:spcPts val="600"/>
              </a:spcBef>
              <a:spcAft>
                <a:spcPts val="0"/>
              </a:spcAft>
              <a:buSzPts val="1200"/>
              <a:buChar char="•"/>
              <a:defRPr sz="1200"/>
            </a:lvl2pPr>
            <a:lvl3pPr indent="-304800" lvl="2" marL="1371600" algn="l">
              <a:lnSpc>
                <a:spcPct val="108333"/>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228600" lvl="4" marL="2286000" algn="l">
              <a:lnSpc>
                <a:spcPct val="125000"/>
              </a:lnSpc>
              <a:spcBef>
                <a:spcPts val="6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g2ecd2c669a6_2_49"/>
          <p:cNvSpPr txBox="1"/>
          <p:nvPr>
            <p:ph idx="6" type="body"/>
          </p:nvPr>
        </p:nvSpPr>
        <p:spPr>
          <a:xfrm>
            <a:off x="468313" y="718592"/>
            <a:ext cx="82074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 name="Google Shape;72;g2ecd2c669a6_2_49"/>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73" name="Google Shape;73;g2ecd2c669a6_2_49"/>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Small Text">
  <p:cSld name="2-Column Small Text">
    <p:spTree>
      <p:nvGrpSpPr>
        <p:cNvPr id="74" name="Shape 74"/>
        <p:cNvGrpSpPr/>
        <p:nvPr/>
      </p:nvGrpSpPr>
      <p:grpSpPr>
        <a:xfrm>
          <a:off x="0" y="0"/>
          <a:ext cx="0" cy="0"/>
          <a:chOff x="0" y="0"/>
          <a:chExt cx="0" cy="0"/>
        </a:xfrm>
      </p:grpSpPr>
      <p:sp>
        <p:nvSpPr>
          <p:cNvPr id="75" name="Google Shape;75;g2ecd2c669a6_2_58"/>
          <p:cNvSpPr txBox="1"/>
          <p:nvPr>
            <p:ph idx="1" type="body"/>
          </p:nvPr>
        </p:nvSpPr>
        <p:spPr>
          <a:xfrm>
            <a:off x="467544" y="1131590"/>
            <a:ext cx="4032900" cy="34290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1000"/>
              </a:spcBef>
              <a:spcAft>
                <a:spcPts val="0"/>
              </a:spcAft>
              <a:buClr>
                <a:schemeClr val="dk1"/>
              </a:buClr>
              <a:buSzPts val="1400"/>
              <a:buFont typeface="Arial"/>
              <a:buNone/>
              <a:defRPr sz="1400"/>
            </a:lvl1pPr>
            <a:lvl2pPr indent="-304800" lvl="1" marL="914400" algn="l">
              <a:lnSpc>
                <a:spcPct val="114000"/>
              </a:lnSpc>
              <a:spcBef>
                <a:spcPts val="400"/>
              </a:spcBef>
              <a:spcAft>
                <a:spcPts val="0"/>
              </a:spcAft>
              <a:buSzPts val="1200"/>
              <a:buChar char="•"/>
              <a:defRPr sz="1200"/>
            </a:lvl2pPr>
            <a:lvl3pPr indent="-304800" lvl="2" marL="1371600" algn="l">
              <a:lnSpc>
                <a:spcPct val="114000"/>
              </a:lnSpc>
              <a:spcBef>
                <a:spcPts val="400"/>
              </a:spcBef>
              <a:spcAft>
                <a:spcPts val="0"/>
              </a:spcAft>
              <a:buSzPts val="1200"/>
              <a:buChar char="•"/>
              <a:defRPr sz="1200"/>
            </a:lvl3pPr>
            <a:lvl4pPr indent="-304800" lvl="3" marL="1828800" algn="l">
              <a:lnSpc>
                <a:spcPct val="114000"/>
              </a:lnSpc>
              <a:spcBef>
                <a:spcPts val="400"/>
              </a:spcBef>
              <a:spcAft>
                <a:spcPts val="0"/>
              </a:spcAft>
              <a:buSzPts val="1200"/>
              <a:buChar char="•"/>
              <a:defRPr sz="1200"/>
            </a:lvl4pPr>
            <a:lvl5pPr indent="-228600" lvl="4" marL="2286000" algn="l">
              <a:lnSpc>
                <a:spcPct val="114000"/>
              </a:lnSpc>
              <a:spcBef>
                <a:spcPts val="10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g2ecd2c669a6_2_58"/>
          <p:cNvSpPr txBox="1"/>
          <p:nvPr>
            <p:ph idx="2" type="body"/>
          </p:nvPr>
        </p:nvSpPr>
        <p:spPr>
          <a:xfrm>
            <a:off x="4637089" y="1131590"/>
            <a:ext cx="4038600" cy="3429000"/>
          </a:xfrm>
          <a:prstGeom prst="rect">
            <a:avLst/>
          </a:prstGeom>
          <a:noFill/>
          <a:ln>
            <a:noFill/>
          </a:ln>
        </p:spPr>
        <p:txBody>
          <a:bodyPr anchorCtr="0" anchor="t" bIns="0" lIns="0" spcFirstLastPara="1" rIns="0" wrap="square" tIns="0">
            <a:normAutofit/>
          </a:bodyPr>
          <a:lstStyle>
            <a:lvl1pPr indent="-228600" lvl="0" marL="457200" algn="l">
              <a:lnSpc>
                <a:spcPct val="107142"/>
              </a:lnSpc>
              <a:spcBef>
                <a:spcPts val="1000"/>
              </a:spcBef>
              <a:spcAft>
                <a:spcPts val="0"/>
              </a:spcAft>
              <a:buClr>
                <a:schemeClr val="dk1"/>
              </a:buClr>
              <a:buSzPts val="1400"/>
              <a:buFont typeface="Arial"/>
              <a:buNone/>
              <a:defRPr sz="1400"/>
            </a:lvl1pPr>
            <a:lvl2pPr indent="-304800" lvl="1" marL="914400" algn="l">
              <a:lnSpc>
                <a:spcPct val="114000"/>
              </a:lnSpc>
              <a:spcBef>
                <a:spcPts val="400"/>
              </a:spcBef>
              <a:spcAft>
                <a:spcPts val="0"/>
              </a:spcAft>
              <a:buSzPts val="1200"/>
              <a:buChar char="•"/>
              <a:defRPr sz="1200"/>
            </a:lvl2pPr>
            <a:lvl3pPr indent="-304800" lvl="2" marL="1371600" algn="l">
              <a:lnSpc>
                <a:spcPct val="114000"/>
              </a:lnSpc>
              <a:spcBef>
                <a:spcPts val="400"/>
              </a:spcBef>
              <a:spcAft>
                <a:spcPts val="0"/>
              </a:spcAft>
              <a:buSzPts val="1200"/>
              <a:buChar char="•"/>
              <a:defRPr sz="1200"/>
            </a:lvl3pPr>
            <a:lvl4pPr indent="-304800" lvl="3" marL="1828800" marR="0" algn="l">
              <a:lnSpc>
                <a:spcPct val="114000"/>
              </a:lnSpc>
              <a:spcBef>
                <a:spcPts val="400"/>
              </a:spcBef>
              <a:spcAft>
                <a:spcPts val="0"/>
              </a:spcAft>
              <a:buClr>
                <a:schemeClr val="dk1"/>
              </a:buClr>
              <a:buSzPts val="1200"/>
              <a:buFont typeface="Arial"/>
              <a:buChar char="•"/>
              <a:defRPr sz="1200"/>
            </a:lvl4pPr>
            <a:lvl5pPr indent="-228600" lvl="4" marL="2286000" algn="l">
              <a:lnSpc>
                <a:spcPct val="114000"/>
              </a:lnSpc>
              <a:spcBef>
                <a:spcPts val="1000"/>
              </a:spcBef>
              <a:spcAft>
                <a:spcPts val="0"/>
              </a:spcAft>
              <a:buClr>
                <a:schemeClr val="lt2"/>
              </a:buClr>
              <a:buSzPts val="1200"/>
              <a:buFont typeface="Arial"/>
              <a:buNone/>
              <a:defRPr sz="1200"/>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g2ecd2c669a6_2_58"/>
          <p:cNvSpPr txBox="1"/>
          <p:nvPr>
            <p:ph idx="3" type="body"/>
          </p:nvPr>
        </p:nvSpPr>
        <p:spPr>
          <a:xfrm>
            <a:off x="467544" y="718592"/>
            <a:ext cx="8190600" cy="32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000"/>
              <a:buFont typeface="Arial"/>
              <a:buNone/>
              <a:defRPr b="1" i="0" sz="2000" cap="none"/>
            </a:lvl1pPr>
            <a:lvl2pPr indent="-298450" lvl="1" marL="914400" algn="l">
              <a:lnSpc>
                <a:spcPct val="145454"/>
              </a:lnSpc>
              <a:spcBef>
                <a:spcPts val="0"/>
              </a:spcBef>
              <a:spcAft>
                <a:spcPts val="0"/>
              </a:spcAft>
              <a:buSzPts val="1100"/>
              <a:buChar char="•"/>
              <a:defRPr b="1" i="0" sz="1100" cap="none"/>
            </a:lvl2pPr>
            <a:lvl3pPr indent="-298450" lvl="2" marL="1371600" algn="l">
              <a:lnSpc>
                <a:spcPct val="145454"/>
              </a:lnSpc>
              <a:spcBef>
                <a:spcPts val="0"/>
              </a:spcBef>
              <a:spcAft>
                <a:spcPts val="0"/>
              </a:spcAft>
              <a:buSzPts val="1100"/>
              <a:buChar char="•"/>
              <a:defRPr b="1" i="0" sz="1100" cap="none"/>
            </a:lvl3pPr>
            <a:lvl4pPr indent="-298450" lvl="3" marL="1828800" algn="l">
              <a:lnSpc>
                <a:spcPct val="145454"/>
              </a:lnSpc>
              <a:spcBef>
                <a:spcPts val="0"/>
              </a:spcBef>
              <a:spcAft>
                <a:spcPts val="0"/>
              </a:spcAft>
              <a:buSzPts val="1100"/>
              <a:buChar char="•"/>
              <a:defRPr b="1" i="0" sz="1100" cap="none"/>
            </a:lvl4pPr>
            <a:lvl5pPr indent="-228600" lvl="4" marL="2286000" algn="l">
              <a:lnSpc>
                <a:spcPct val="145454"/>
              </a:lnSpc>
              <a:spcBef>
                <a:spcPts val="0"/>
              </a:spcBef>
              <a:spcAft>
                <a:spcPts val="0"/>
              </a:spcAft>
              <a:buClr>
                <a:schemeClr val="lt2"/>
              </a:buClr>
              <a:buSzPts val="1100"/>
              <a:buFont typeface="Arial"/>
              <a:buNone/>
              <a:defRPr b="1" i="0" sz="1100" cap="none"/>
            </a:lvl5pPr>
            <a:lvl6pPr indent="-228600" lvl="5" marL="2743200" algn="l">
              <a:lnSpc>
                <a:spcPct val="55555"/>
              </a:lnSpc>
              <a:spcBef>
                <a:spcPts val="600"/>
              </a:spcBef>
              <a:spcAft>
                <a:spcPts val="0"/>
              </a:spcAft>
              <a:buSzPts val="1800"/>
              <a:buNone/>
              <a:defRPr/>
            </a:lvl6pPr>
            <a:lvl7pPr indent="-228600" lvl="6" marL="3200400" algn="l">
              <a:lnSpc>
                <a:spcPct val="77777"/>
              </a:lnSpc>
              <a:spcBef>
                <a:spcPts val="600"/>
              </a:spcBef>
              <a:spcAft>
                <a:spcPts val="0"/>
              </a:spcAft>
              <a:buClr>
                <a:schemeClr val="dk1"/>
              </a:buClr>
              <a:buSzPts val="1800"/>
              <a:buNone/>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g2ecd2c669a6_2_58"/>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sp>
        <p:nvSpPr>
          <p:cNvPr id="79" name="Google Shape;79;g2ecd2c669a6_2_58"/>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2ecd2c669a6_2_0"/>
          <p:cNvSpPr txBox="1"/>
          <p:nvPr>
            <p:ph idx="1" type="body"/>
          </p:nvPr>
        </p:nvSpPr>
        <p:spPr>
          <a:xfrm>
            <a:off x="467544" y="1131589"/>
            <a:ext cx="8208000" cy="3456300"/>
          </a:xfrm>
          <a:prstGeom prst="rect">
            <a:avLst/>
          </a:prstGeom>
          <a:noFill/>
          <a:ln>
            <a:noFill/>
          </a:ln>
        </p:spPr>
        <p:txBody>
          <a:bodyPr anchorCtr="0" anchor="t" bIns="0" lIns="0" spcFirstLastPara="1" rIns="0" wrap="square" tIns="0">
            <a:normAutofit/>
          </a:bodyPr>
          <a:lstStyle>
            <a:lvl1pPr indent="-228600" lvl="0" marL="457200" marR="0" rtl="0" algn="l">
              <a:lnSpc>
                <a:spcPct val="111111"/>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rtl="0" algn="l">
              <a:lnSpc>
                <a:spcPct val="1125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14285"/>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16666"/>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228600" lvl="4" marL="2286000" marR="0" rtl="0" algn="l">
              <a:lnSpc>
                <a:spcPct val="111111"/>
              </a:lnSpc>
              <a:spcBef>
                <a:spcPts val="1200"/>
              </a:spcBef>
              <a:spcAft>
                <a:spcPts val="0"/>
              </a:spcAft>
              <a:buClr>
                <a:schemeClr val="lt2"/>
              </a:buClr>
              <a:buSzPts val="1800"/>
              <a:buFont typeface="Arial"/>
              <a:buNone/>
              <a:defRPr b="0" i="1" sz="1800" u="none" cap="none" strike="noStrike">
                <a:solidFill>
                  <a:schemeClr val="lt2"/>
                </a:solidFill>
                <a:latin typeface="Arial"/>
                <a:ea typeface="Arial"/>
                <a:cs typeface="Arial"/>
                <a:sym typeface="Arial"/>
              </a:defRPr>
            </a:lvl5pPr>
            <a:lvl6pPr indent="-228600" lvl="5" marL="2743200" marR="0" rtl="0" algn="l">
              <a:lnSpc>
                <a:spcPct val="125000"/>
              </a:lnSpc>
              <a:spcBef>
                <a:spcPts val="6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6pPr>
            <a:lvl7pPr indent="-228600" lvl="6" marL="3200400" marR="0" rtl="0" algn="l">
              <a:lnSpc>
                <a:spcPct val="140000"/>
              </a:lnSpc>
              <a:spcBef>
                <a:spcPts val="600"/>
              </a:spcBef>
              <a:spcAft>
                <a:spcPts val="0"/>
              </a:spcAft>
              <a:buClr>
                <a:schemeClr val="dk1"/>
              </a:buClr>
              <a:buSzPts val="1000"/>
              <a:buFont typeface="Arial"/>
              <a:buNone/>
              <a:defRPr b="0" i="1" sz="1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 name="Google Shape;7;g2ecd2c669a6_2_0"/>
          <p:cNvSpPr txBox="1"/>
          <p:nvPr/>
        </p:nvSpPr>
        <p:spPr>
          <a:xfrm>
            <a:off x="795248" y="4835453"/>
            <a:ext cx="34302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chemeClr val="dk1"/>
                </a:solidFill>
                <a:latin typeface="Arial"/>
                <a:ea typeface="Arial"/>
                <a:cs typeface="Arial"/>
                <a:sym typeface="Arial"/>
              </a:rPr>
              <a:t>Copyright(C) 2025 Mitsubishi UFJ Information Technology Ltd.  All rights reserved.</a:t>
            </a:r>
            <a:endParaRPr b="0" i="0" sz="1400" u="none" cap="none" strike="noStrike">
              <a:solidFill>
                <a:srgbClr val="000000"/>
              </a:solidFill>
              <a:latin typeface="Arial"/>
              <a:ea typeface="Arial"/>
              <a:cs typeface="Arial"/>
              <a:sym typeface="Arial"/>
            </a:endParaRPr>
          </a:p>
        </p:txBody>
      </p:sp>
      <p:sp>
        <p:nvSpPr>
          <p:cNvPr id="8" name="Google Shape;8;g2ecd2c669a6_2_0"/>
          <p:cNvSpPr txBox="1"/>
          <p:nvPr>
            <p:ph type="title"/>
          </p:nvPr>
        </p:nvSpPr>
        <p:spPr>
          <a:xfrm>
            <a:off x="467544" y="130816"/>
            <a:ext cx="8208000" cy="4584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g2ecd2c669a6_2_0"/>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
              <a:t>‹#›</a:t>
            </a:fld>
            <a:endParaRPr/>
          </a:p>
        </p:txBody>
      </p:sp>
      <p:cxnSp>
        <p:nvCxnSpPr>
          <p:cNvPr id="10" name="Google Shape;10;g2ecd2c669a6_2_0"/>
          <p:cNvCxnSpPr/>
          <p:nvPr/>
        </p:nvCxnSpPr>
        <p:spPr>
          <a:xfrm>
            <a:off x="446760" y="654060"/>
            <a:ext cx="8244000" cy="0"/>
          </a:xfrm>
          <a:prstGeom prst="straightConnector1">
            <a:avLst/>
          </a:prstGeom>
          <a:noFill/>
          <a:ln cap="flat" cmpd="sng" w="12700">
            <a:solidFill>
              <a:schemeClr val="lt2"/>
            </a:solidFill>
            <a:prstDash val="solid"/>
            <a:round/>
            <a:headEnd len="sm" w="sm" type="none"/>
            <a:tailEnd len="sm" w="sm" type="none"/>
          </a:ln>
        </p:spPr>
      </p:cxnSp>
      <p:pic>
        <p:nvPicPr>
          <p:cNvPr id="11" name="Google Shape;11;g2ecd2c669a6_2_0"/>
          <p:cNvPicPr preferRelativeResize="0"/>
          <p:nvPr/>
        </p:nvPicPr>
        <p:blipFill rotWithShape="1">
          <a:blip r:embed="rId1">
            <a:alphaModFix/>
          </a:blip>
          <a:srcRect b="0" l="0" r="0" t="0"/>
          <a:stretch/>
        </p:blipFill>
        <p:spPr>
          <a:xfrm>
            <a:off x="7484575" y="4703317"/>
            <a:ext cx="1250741" cy="3071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33.png"/><Relationship Id="rId6" Type="http://schemas.openxmlformats.org/officeDocument/2006/relationships/image" Target="../media/image13.pn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rive.google.com/drive/folders/1PfuAZBYEujrOydawbZM5n6agAzsM--jp" TargetMode="External"/><Relationship Id="rId4" Type="http://schemas.openxmlformats.org/officeDocument/2006/relationships/hyperlink" Target="https://drive.google.com/drive/folders/1hYmRNlsVxyh_fKARkFPQDS9-c-hks2y6" TargetMode="External"/><Relationship Id="rId5" Type="http://schemas.openxmlformats.org/officeDocument/2006/relationships/hyperlink" Target="https://drive.google.com/drive/folders/1PfuAZBYEujrOydawbZM5n6agAzsM--jp" TargetMode="External"/><Relationship Id="rId6" Type="http://schemas.openxmlformats.org/officeDocument/2006/relationships/hyperlink" Target="https://drive.google.com/drive/folders/1hYmRNlsVxyh_fKARkFPQDS9-c-hks2y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drive.google.com/drive/folders/1a7NAg-pzS92NYPylpkrmOtHfpvQgjPj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29.png"/><Relationship Id="rId6"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1155572"/>
            <a:ext cx="9144000" cy="6165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800"/>
              <a:buFont typeface="Arial"/>
              <a:buNone/>
            </a:pPr>
            <a:r>
              <a:rPr b="0" i="0" lang="ja" sz="2800" u="none" cap="none" strike="noStrike">
                <a:solidFill>
                  <a:schemeClr val="dk1"/>
                </a:solidFill>
                <a:latin typeface="Meiryo"/>
                <a:ea typeface="Meiryo"/>
                <a:cs typeface="Meiryo"/>
                <a:sym typeface="Meiryo"/>
              </a:rPr>
              <a:t>アプリの開発に向けて（ステップアップコース）</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Meiryo"/>
              <a:ea typeface="Meiryo"/>
              <a:cs typeface="Meiryo"/>
              <a:sym typeface="Meiryo"/>
            </a:endParaRPr>
          </a:p>
        </p:txBody>
      </p:sp>
      <p:sp>
        <p:nvSpPr>
          <p:cNvPr id="85" name="Google Shape;85;p1"/>
          <p:cNvSpPr txBox="1"/>
          <p:nvPr/>
        </p:nvSpPr>
        <p:spPr>
          <a:xfrm>
            <a:off x="1" y="847322"/>
            <a:ext cx="9144000" cy="384900"/>
          </a:xfrm>
          <a:prstGeom prst="rect">
            <a:avLst/>
          </a:prstGeom>
          <a:noFill/>
          <a:ln>
            <a:noFill/>
          </a:ln>
        </p:spPr>
        <p:txBody>
          <a:bodyPr anchorCtr="0" anchor="t" bIns="91425" lIns="90000" spcFirstLastPara="1" rIns="91425" wrap="square" tIns="91425">
            <a:noAutofit/>
          </a:bodyPr>
          <a:lstStyle/>
          <a:p>
            <a:pPr indent="0" lvl="0" marL="0" marR="0" rtl="0" algn="ctr">
              <a:lnSpc>
                <a:spcPct val="115000"/>
              </a:lnSpc>
              <a:spcBef>
                <a:spcPts val="0"/>
              </a:spcBef>
              <a:spcAft>
                <a:spcPts val="1200"/>
              </a:spcAft>
              <a:buClr>
                <a:schemeClr val="dk1"/>
              </a:buClr>
              <a:buSzPts val="1800"/>
              <a:buFont typeface="Arial"/>
              <a:buNone/>
            </a:pPr>
            <a:r>
              <a:rPr b="0" i="0" lang="ja" sz="1800" u="none" cap="none" strike="noStrike">
                <a:solidFill>
                  <a:schemeClr val="dk1"/>
                </a:solidFill>
                <a:latin typeface="Meiryo"/>
                <a:ea typeface="Meiryo"/>
                <a:cs typeface="Meiryo"/>
                <a:sym typeface="Meiryo"/>
              </a:rPr>
              <a:t>Background Information</a:t>
            </a:r>
            <a:endParaRPr b="0" i="0" sz="1800" u="none" cap="none" strike="noStrike">
              <a:solidFill>
                <a:schemeClr val="dk1"/>
              </a:solidFill>
              <a:latin typeface="Meiryo"/>
              <a:ea typeface="Meiryo"/>
              <a:cs typeface="Meiryo"/>
              <a:sym typeface="Meiry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e56551be6e_0_0"/>
          <p:cNvSpPr txBox="1"/>
          <p:nvPr>
            <p:ph type="title"/>
          </p:nvPr>
        </p:nvSpPr>
        <p:spPr>
          <a:xfrm>
            <a:off x="435926" y="270482"/>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lang="ja" sz="2020"/>
              <a:t>開発していただくスマホアプリ</a:t>
            </a:r>
            <a:endParaRPr sz="2020"/>
          </a:p>
        </p:txBody>
      </p:sp>
      <p:sp>
        <p:nvSpPr>
          <p:cNvPr id="91" name="Google Shape;91;g2e56551be6e_0_0"/>
          <p:cNvSpPr txBox="1"/>
          <p:nvPr>
            <p:ph idx="1" type="body"/>
          </p:nvPr>
        </p:nvSpPr>
        <p:spPr>
          <a:xfrm>
            <a:off x="171500" y="616952"/>
            <a:ext cx="8520600" cy="403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ja"/>
              <a:t>4日間で</a:t>
            </a:r>
            <a:r>
              <a:rPr b="1" lang="ja"/>
              <a:t>手軽に送金できるスマホアプリ</a:t>
            </a:r>
            <a:r>
              <a:rPr lang="ja"/>
              <a:t>の開発を体験していただきます。</a:t>
            </a:r>
            <a:endParaRPr/>
          </a:p>
        </p:txBody>
      </p:sp>
      <p:sp>
        <p:nvSpPr>
          <p:cNvPr id="92" name="Google Shape;92;g2e56551be6e_0_0"/>
          <p:cNvSpPr txBox="1"/>
          <p:nvPr/>
        </p:nvSpPr>
        <p:spPr>
          <a:xfrm>
            <a:off x="436025" y="1667925"/>
            <a:ext cx="4241700" cy="241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イメージとしては・・・</a:t>
            </a:r>
            <a:endParaRPr b="0" i="0" sz="1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Meiryo"/>
              <a:ea typeface="Meiryo"/>
              <a:cs typeface="Meiryo"/>
              <a:sym typeface="Meiryo"/>
            </a:endParaRPr>
          </a:p>
          <a:p>
            <a:pPr indent="45720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・ホーム画面にユーザ情報	</a:t>
            </a:r>
            <a:endParaRPr b="0" i="0" sz="1800" u="none" cap="none" strike="noStrike">
              <a:solidFill>
                <a:schemeClr val="dk1"/>
              </a:solidFill>
              <a:latin typeface="Meiryo"/>
              <a:ea typeface="Meiryo"/>
              <a:cs typeface="Meiryo"/>
              <a:sym typeface="Meiryo"/>
            </a:endParaRPr>
          </a:p>
          <a:p>
            <a:pPr indent="45720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・送金を行う機能</a:t>
            </a:r>
            <a:endParaRPr b="0" i="0" sz="1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　　・請求を行う機能</a:t>
            </a:r>
            <a:endParaRPr b="0" i="0" sz="1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　　・請求履歴を確認する機能</a:t>
            </a:r>
            <a:endParaRPr b="0" i="0" sz="1800" u="none" cap="none" strike="noStrike">
              <a:solidFill>
                <a:schemeClr val="dk1"/>
              </a:solidFill>
              <a:latin typeface="Meiryo"/>
              <a:ea typeface="Meiryo"/>
              <a:cs typeface="Meiryo"/>
              <a:sym typeface="Meiryo"/>
            </a:endParaRPr>
          </a:p>
        </p:txBody>
      </p:sp>
      <p:pic>
        <p:nvPicPr>
          <p:cNvPr descr="グラフィカル ユーザー インターフェイス, テキスト, アプリケーション&#10;&#10;自動的に生成された説明" id="93" name="Google Shape;93;g2e56551be6e_0_0"/>
          <p:cNvPicPr preferRelativeResize="0"/>
          <p:nvPr/>
        </p:nvPicPr>
        <p:blipFill rotWithShape="1">
          <a:blip r:embed="rId3">
            <a:alphaModFix/>
          </a:blip>
          <a:srcRect b="0" l="0" r="0" t="0"/>
          <a:stretch/>
        </p:blipFill>
        <p:spPr>
          <a:xfrm>
            <a:off x="5634572" y="1208949"/>
            <a:ext cx="1672150" cy="3503773"/>
          </a:xfrm>
          <a:prstGeom prst="rect">
            <a:avLst/>
          </a:prstGeom>
          <a:noFill/>
          <a:ln>
            <a:noFill/>
          </a:ln>
        </p:spPr>
      </p:pic>
      <p:sp>
        <p:nvSpPr>
          <p:cNvPr id="94" name="Google Shape;94;g2e56551be6e_0_0"/>
          <p:cNvSpPr txBox="1"/>
          <p:nvPr>
            <p:ph idx="12" type="sldNum"/>
          </p:nvPr>
        </p:nvSpPr>
        <p:spPr>
          <a:xfrm>
            <a:off x="82608" y="468906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r>
              <a:rPr lang="ja">
                <a:latin typeface="Arial"/>
                <a:ea typeface="Arial"/>
                <a:cs typeface="Arial"/>
                <a:sym typeface="Arial"/>
              </a:rPr>
              <a:t>2</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r>
              <a:rPr lang="ja"/>
              <a:t>3</a:t>
            </a:r>
            <a:endParaRPr>
              <a:latin typeface="Arial"/>
              <a:ea typeface="Arial"/>
              <a:cs typeface="Arial"/>
              <a:sym typeface="Arial"/>
            </a:endParaRPr>
          </a:p>
        </p:txBody>
      </p:sp>
      <p:sp>
        <p:nvSpPr>
          <p:cNvPr id="100" name="Google Shape;100;p4"/>
          <p:cNvSpPr txBox="1"/>
          <p:nvPr/>
        </p:nvSpPr>
        <p:spPr>
          <a:xfrm>
            <a:off x="471677" y="268088"/>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開発に着手する前に決めること</a:t>
            </a:r>
            <a:endParaRPr b="0" i="0" sz="1400" u="none" cap="none" strike="noStrike">
              <a:solidFill>
                <a:schemeClr val="dk1"/>
              </a:solidFill>
              <a:latin typeface="Arial"/>
              <a:ea typeface="Arial"/>
              <a:cs typeface="Arial"/>
              <a:sym typeface="Arial"/>
            </a:endParaRPr>
          </a:p>
        </p:txBody>
      </p:sp>
      <p:sp>
        <p:nvSpPr>
          <p:cNvPr id="101" name="Google Shape;101;p4"/>
          <p:cNvSpPr txBox="1"/>
          <p:nvPr/>
        </p:nvSpPr>
        <p:spPr>
          <a:xfrm>
            <a:off x="283364" y="729533"/>
            <a:ext cx="8577300"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Miroの「DAY1開発の流れ」に沿って、「チーム名」、</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「どのような技術を用いて開発を進めるか」、「ステップアップコースと</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800" u="none" cap="none" strike="noStrike">
                <a:solidFill>
                  <a:schemeClr val="dk1"/>
                </a:solidFill>
                <a:latin typeface="Meiryo"/>
                <a:ea typeface="Meiryo"/>
                <a:cs typeface="Meiryo"/>
                <a:sym typeface="Meiryo"/>
              </a:rPr>
              <a:t>アジャイル実践コースどちらで開発を進めるか」を決めてください。</a:t>
            </a:r>
            <a:endParaRPr b="0" i="0" sz="1800" u="none" cap="none" strike="noStrike">
              <a:solidFill>
                <a:schemeClr val="dk1"/>
              </a:solidFill>
              <a:latin typeface="Arial"/>
              <a:ea typeface="Arial"/>
              <a:cs typeface="Arial"/>
              <a:sym typeface="Arial"/>
            </a:endParaRPr>
          </a:p>
        </p:txBody>
      </p:sp>
      <p:sp>
        <p:nvSpPr>
          <p:cNvPr id="102" name="Google Shape;102;p4"/>
          <p:cNvSpPr txBox="1"/>
          <p:nvPr/>
        </p:nvSpPr>
        <p:spPr>
          <a:xfrm>
            <a:off x="4851157" y="1928210"/>
            <a:ext cx="3095273"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800" u="none" cap="none" strike="noStrike">
                <a:solidFill>
                  <a:srgbClr val="000000"/>
                </a:solidFill>
                <a:latin typeface="Meiryo"/>
                <a:ea typeface="Meiryo"/>
                <a:cs typeface="Meiryo"/>
                <a:sym typeface="Meiryo"/>
              </a:rPr>
              <a:t>チーム名を決めたら、</a:t>
            </a:r>
            <a:endParaRPr b="0" i="0" sz="18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800" u="none" cap="none" strike="noStrike">
                <a:solidFill>
                  <a:srgbClr val="000000"/>
                </a:solidFill>
                <a:latin typeface="Meiryo"/>
                <a:ea typeface="Meiryo"/>
                <a:cs typeface="Meiryo"/>
                <a:sym typeface="Meiryo"/>
              </a:rPr>
              <a:t>ここに記入してください。</a:t>
            </a:r>
            <a:endParaRPr b="0" i="0" sz="1800" u="none" cap="none" strike="noStrike">
              <a:solidFill>
                <a:srgbClr val="000000"/>
              </a:solidFill>
              <a:latin typeface="Meiryo"/>
              <a:ea typeface="Meiryo"/>
              <a:cs typeface="Meiryo"/>
              <a:sym typeface="Meiryo"/>
            </a:endParaRPr>
          </a:p>
        </p:txBody>
      </p:sp>
      <p:cxnSp>
        <p:nvCxnSpPr>
          <p:cNvPr id="103" name="Google Shape;103;p4"/>
          <p:cNvCxnSpPr/>
          <p:nvPr/>
        </p:nvCxnSpPr>
        <p:spPr>
          <a:xfrm rot="10800000">
            <a:off x="2915642" y="2066679"/>
            <a:ext cx="1935512" cy="25373"/>
          </a:xfrm>
          <a:prstGeom prst="straightConnector1">
            <a:avLst/>
          </a:prstGeom>
          <a:noFill/>
          <a:ln cap="flat" cmpd="sng" w="9525">
            <a:solidFill>
              <a:srgbClr val="C00000"/>
            </a:solidFill>
            <a:prstDash val="solid"/>
            <a:round/>
            <a:headEnd len="sm" w="sm" type="none"/>
            <a:tailEnd len="med" w="med" type="triangle"/>
          </a:ln>
        </p:spPr>
      </p:cxnSp>
      <p:pic>
        <p:nvPicPr>
          <p:cNvPr id="104" name="Google Shape;104;p4"/>
          <p:cNvPicPr preferRelativeResize="0"/>
          <p:nvPr/>
        </p:nvPicPr>
        <p:blipFill rotWithShape="1">
          <a:blip r:embed="rId3">
            <a:alphaModFix/>
          </a:blip>
          <a:srcRect b="0" l="0" r="0" t="0"/>
          <a:stretch/>
        </p:blipFill>
        <p:spPr>
          <a:xfrm>
            <a:off x="472639" y="1701509"/>
            <a:ext cx="2386306" cy="31237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idx="12" type="sldNum"/>
          </p:nvPr>
        </p:nvSpPr>
        <p:spPr>
          <a:xfrm>
            <a:off x="82608" y="468906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110" name="Google Shape;110;p2"/>
          <p:cNvSpPr txBox="1"/>
          <p:nvPr/>
        </p:nvSpPr>
        <p:spPr>
          <a:xfrm>
            <a:off x="213350" y="861475"/>
            <a:ext cx="823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基本的な構成は以下のとおりですが、利用するプログラミング言語や技術は</a:t>
            </a:r>
            <a:r>
              <a:rPr b="1" i="0" lang="ja" sz="1600" u="none" cap="none" strike="noStrike">
                <a:solidFill>
                  <a:schemeClr val="dk1"/>
                </a:solidFill>
                <a:latin typeface="Meiryo"/>
                <a:ea typeface="Meiryo"/>
                <a:cs typeface="Meiryo"/>
                <a:sym typeface="Meiryo"/>
              </a:rPr>
              <a:t>自由</a:t>
            </a:r>
            <a:r>
              <a:rPr b="0" i="0" lang="ja" sz="1600" u="none" cap="none" strike="noStrike">
                <a:solidFill>
                  <a:schemeClr val="dk1"/>
                </a:solidFill>
                <a:latin typeface="Meiryo"/>
                <a:ea typeface="Meiryo"/>
                <a:cs typeface="Meiryo"/>
                <a:sym typeface="Meiryo"/>
              </a:rPr>
              <a:t>です。</a:t>
            </a:r>
            <a:endParaRPr b="0" i="0" sz="1400" u="none" cap="none" strike="noStrike">
              <a:solidFill>
                <a:srgbClr val="000000"/>
              </a:solidFill>
              <a:latin typeface="Arial"/>
              <a:ea typeface="Arial"/>
              <a:cs typeface="Arial"/>
              <a:sym typeface="Arial"/>
            </a:endParaRPr>
          </a:p>
        </p:txBody>
      </p:sp>
      <p:sp>
        <p:nvSpPr>
          <p:cNvPr id="111" name="Google Shape;111;p2"/>
          <p:cNvSpPr txBox="1"/>
          <p:nvPr/>
        </p:nvSpPr>
        <p:spPr>
          <a:xfrm>
            <a:off x="437327" y="29363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ソフトウェア開発技術</a:t>
            </a:r>
            <a:endParaRPr b="0" i="0" sz="1400" u="none" cap="none" strike="noStrike">
              <a:solidFill>
                <a:schemeClr val="dk1"/>
              </a:solidFill>
              <a:latin typeface="Arial"/>
              <a:ea typeface="Arial"/>
              <a:cs typeface="Arial"/>
              <a:sym typeface="Arial"/>
            </a:endParaRPr>
          </a:p>
        </p:txBody>
      </p:sp>
      <p:grpSp>
        <p:nvGrpSpPr>
          <p:cNvPr id="112" name="Google Shape;112;p2"/>
          <p:cNvGrpSpPr/>
          <p:nvPr/>
        </p:nvGrpSpPr>
        <p:grpSpPr>
          <a:xfrm>
            <a:off x="2120687" y="1652020"/>
            <a:ext cx="4166647" cy="1523198"/>
            <a:chOff x="3085984" y="2100275"/>
            <a:chExt cx="2870382" cy="1231763"/>
          </a:xfrm>
        </p:grpSpPr>
        <p:sp>
          <p:nvSpPr>
            <p:cNvPr id="113" name="Google Shape;113;p2"/>
            <p:cNvSpPr/>
            <p:nvPr/>
          </p:nvSpPr>
          <p:spPr>
            <a:xfrm>
              <a:off x="4190106" y="2109547"/>
              <a:ext cx="518100" cy="626700"/>
            </a:xfrm>
            <a:prstGeom prst="roundRect">
              <a:avLst>
                <a:gd fmla="val 16667" name="adj"/>
              </a:avLst>
            </a:prstGeom>
            <a:solidFill>
              <a:srgbClr val="FEEDD8"/>
            </a:solidFill>
            <a:ln cap="flat" cmpd="sng" w="9525">
              <a:solidFill>
                <a:srgbClr val="9F5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14" name="Google Shape;114;p2"/>
            <p:cNvGrpSpPr/>
            <p:nvPr/>
          </p:nvGrpSpPr>
          <p:grpSpPr>
            <a:xfrm>
              <a:off x="3085984" y="2100275"/>
              <a:ext cx="2870382" cy="1231763"/>
              <a:chOff x="5672774" y="1641152"/>
              <a:chExt cx="2870382" cy="1231763"/>
            </a:xfrm>
          </p:grpSpPr>
          <p:sp>
            <p:nvSpPr>
              <p:cNvPr id="115" name="Google Shape;115;p2"/>
              <p:cNvSpPr/>
              <p:nvPr/>
            </p:nvSpPr>
            <p:spPr>
              <a:xfrm>
                <a:off x="7826072" y="1641152"/>
                <a:ext cx="453300" cy="626700"/>
              </a:xfrm>
              <a:prstGeom prst="can">
                <a:avLst>
                  <a:gd fmla="val 25000" name="adj"/>
                </a:avLst>
              </a:prstGeom>
              <a:solidFill>
                <a:srgbClr val="B1CDFB"/>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cxnSp>
            <p:nvCxnSpPr>
              <p:cNvPr id="116" name="Google Shape;116;p2"/>
              <p:cNvCxnSpPr/>
              <p:nvPr/>
            </p:nvCxnSpPr>
            <p:spPr>
              <a:xfrm flipH="1" rot="10800000">
                <a:off x="7294934" y="1860134"/>
                <a:ext cx="531000" cy="3300"/>
              </a:xfrm>
              <a:prstGeom prst="straightConnector1">
                <a:avLst/>
              </a:prstGeom>
              <a:noFill/>
              <a:ln cap="flat" cmpd="sng" w="9525">
                <a:solidFill>
                  <a:schemeClr val="dk1"/>
                </a:solidFill>
                <a:prstDash val="solid"/>
                <a:round/>
                <a:headEnd len="sm" w="sm" type="none"/>
                <a:tailEnd len="med" w="med" type="triangle"/>
              </a:ln>
            </p:spPr>
          </p:cxnSp>
          <p:cxnSp>
            <p:nvCxnSpPr>
              <p:cNvPr id="117" name="Google Shape;117;p2"/>
              <p:cNvCxnSpPr/>
              <p:nvPr/>
            </p:nvCxnSpPr>
            <p:spPr>
              <a:xfrm flipH="1">
                <a:off x="7295072" y="2090101"/>
                <a:ext cx="531000" cy="12300"/>
              </a:xfrm>
              <a:prstGeom prst="straightConnector1">
                <a:avLst/>
              </a:prstGeom>
              <a:noFill/>
              <a:ln cap="flat" cmpd="sng" w="9525">
                <a:solidFill>
                  <a:schemeClr val="dk1"/>
                </a:solidFill>
                <a:prstDash val="solid"/>
                <a:round/>
                <a:headEnd len="sm" w="sm" type="none"/>
                <a:tailEnd len="med" w="med" type="triangle"/>
              </a:ln>
            </p:spPr>
          </p:cxnSp>
          <p:pic>
            <p:nvPicPr>
              <p:cNvPr id="118" name="Google Shape;118;p2"/>
              <p:cNvPicPr preferRelativeResize="0"/>
              <p:nvPr/>
            </p:nvPicPr>
            <p:blipFill rotWithShape="1">
              <a:blip r:embed="rId3">
                <a:alphaModFix/>
              </a:blip>
              <a:srcRect b="0" l="0" r="0" t="0"/>
              <a:stretch/>
            </p:blipFill>
            <p:spPr>
              <a:xfrm>
                <a:off x="5672774" y="1724630"/>
                <a:ext cx="606252" cy="484073"/>
              </a:xfrm>
              <a:prstGeom prst="rect">
                <a:avLst/>
              </a:prstGeom>
              <a:noFill/>
              <a:ln>
                <a:noFill/>
              </a:ln>
            </p:spPr>
          </p:pic>
          <p:cxnSp>
            <p:nvCxnSpPr>
              <p:cNvPr id="119" name="Google Shape;119;p2"/>
              <p:cNvCxnSpPr/>
              <p:nvPr/>
            </p:nvCxnSpPr>
            <p:spPr>
              <a:xfrm>
                <a:off x="6320916" y="1863434"/>
                <a:ext cx="468000" cy="0"/>
              </a:xfrm>
              <a:prstGeom prst="straightConnector1">
                <a:avLst/>
              </a:prstGeom>
              <a:noFill/>
              <a:ln cap="flat" cmpd="sng" w="9525">
                <a:solidFill>
                  <a:schemeClr val="dk1"/>
                </a:solidFill>
                <a:prstDash val="solid"/>
                <a:round/>
                <a:headEnd len="sm" w="sm" type="none"/>
                <a:tailEnd len="med" w="med" type="triangle"/>
              </a:ln>
            </p:spPr>
          </p:cxnSp>
          <p:cxnSp>
            <p:nvCxnSpPr>
              <p:cNvPr id="120" name="Google Shape;120;p2"/>
              <p:cNvCxnSpPr/>
              <p:nvPr/>
            </p:nvCxnSpPr>
            <p:spPr>
              <a:xfrm rot="10800000">
                <a:off x="6279149" y="2102385"/>
                <a:ext cx="512400" cy="0"/>
              </a:xfrm>
              <a:prstGeom prst="straightConnector1">
                <a:avLst/>
              </a:prstGeom>
              <a:noFill/>
              <a:ln cap="flat" cmpd="sng" w="9525">
                <a:solidFill>
                  <a:schemeClr val="dk1"/>
                </a:solidFill>
                <a:prstDash val="solid"/>
                <a:round/>
                <a:headEnd len="sm" w="sm" type="none"/>
                <a:tailEnd len="med" w="med" type="triangle"/>
              </a:ln>
            </p:spPr>
          </p:cxnSp>
          <p:sp>
            <p:nvSpPr>
              <p:cNvPr id="121" name="Google Shape;121;p2"/>
              <p:cNvSpPr txBox="1"/>
              <p:nvPr/>
            </p:nvSpPr>
            <p:spPr>
              <a:xfrm>
                <a:off x="7758470" y="1798519"/>
                <a:ext cx="588600" cy="33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DB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サーバ</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6739579" y="1783126"/>
                <a:ext cx="588600" cy="33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AP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サーバ</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6560728" y="2267927"/>
                <a:ext cx="894900" cy="59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JavaScript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Python</a:t>
                </a:r>
                <a:endParaRPr b="0" i="0" sz="1050" u="none" cap="none" strike="noStrike">
                  <a:solidFill>
                    <a:srgbClr val="000000"/>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PHP</a:t>
                </a:r>
                <a:endParaRPr b="0" i="0" sz="1050" u="none" cap="none" strike="noStrike">
                  <a:solidFill>
                    <a:srgbClr val="000000"/>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など</a:t>
                </a:r>
                <a:endParaRPr b="0" i="0" sz="1400" u="none" cap="none" strike="noStrike">
                  <a:solidFill>
                    <a:srgbClr val="000000"/>
                  </a:solidFill>
                  <a:latin typeface="Arial"/>
                  <a:ea typeface="Arial"/>
                  <a:cs typeface="Arial"/>
                  <a:sym typeface="Arial"/>
                </a:endParaRPr>
              </a:p>
            </p:txBody>
          </p:sp>
          <p:sp>
            <p:nvSpPr>
              <p:cNvPr id="124" name="Google Shape;124;p2"/>
              <p:cNvSpPr txBox="1"/>
              <p:nvPr/>
            </p:nvSpPr>
            <p:spPr>
              <a:xfrm>
                <a:off x="7562456" y="2275615"/>
                <a:ext cx="980700" cy="59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MySQL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PostgreSQL</a:t>
                </a:r>
                <a:endParaRPr b="0" i="0" sz="1050" u="none" cap="none" strike="noStrike">
                  <a:solidFill>
                    <a:srgbClr val="000000"/>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Firebase</a:t>
                </a:r>
                <a:endParaRPr b="0" i="0" sz="1050" u="none" cap="none" strike="noStrike">
                  <a:solidFill>
                    <a:srgbClr val="000000"/>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50"/>
                  <a:buFont typeface="Arial"/>
                  <a:buNone/>
                </a:pPr>
                <a:r>
                  <a:rPr b="0" i="0" lang="ja" sz="1050" u="none" cap="none" strike="noStrike">
                    <a:solidFill>
                      <a:srgbClr val="000000"/>
                    </a:solidFill>
                    <a:latin typeface="Meiryo"/>
                    <a:ea typeface="Meiryo"/>
                    <a:cs typeface="Meiryo"/>
                    <a:sym typeface="Meiryo"/>
                  </a:rPr>
                  <a:t>など</a:t>
                </a:r>
                <a:endParaRPr b="0" i="0" sz="1400" u="none" cap="none" strike="noStrike">
                  <a:solidFill>
                    <a:srgbClr val="000000"/>
                  </a:solidFill>
                  <a:latin typeface="Arial"/>
                  <a:ea typeface="Arial"/>
                  <a:cs typeface="Arial"/>
                  <a:sym typeface="Arial"/>
                </a:endParaRPr>
              </a:p>
            </p:txBody>
          </p:sp>
        </p:grpSp>
      </p:grpSp>
      <p:sp>
        <p:nvSpPr>
          <p:cNvPr id="125" name="Google Shape;125;p2"/>
          <p:cNvSpPr txBox="1"/>
          <p:nvPr/>
        </p:nvSpPr>
        <p:spPr>
          <a:xfrm>
            <a:off x="127890" y="3288557"/>
            <a:ext cx="84177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「スマホネイティブアプリ」という制約もないため、</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FF0000"/>
                </a:solidFill>
                <a:latin typeface="Meiryo"/>
                <a:ea typeface="Meiryo"/>
                <a:cs typeface="Meiryo"/>
                <a:sym typeface="Meiryo"/>
              </a:rPr>
              <a:t>「スマホアプリのようなWebアプリ」(p.13ご参照)を開発していただいても構いません</a:t>
            </a:r>
            <a:r>
              <a:rPr b="0" i="0" lang="ja" sz="1600" u="none" cap="none" strike="noStrike">
                <a:solidFill>
                  <a:schemeClr val="dk1"/>
                </a:solidFill>
                <a:latin typeface="Meiryo"/>
                <a:ea typeface="Meiryo"/>
                <a:cs typeface="Meiryo"/>
                <a:sym typeface="Meiryo"/>
              </a:rPr>
              <a:t>。</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データの永続化も必須ではありません。</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UIにこだわるのか、APIにこだわるのかなど、どこにこだわって実装するかも自由です。</a:t>
            </a:r>
            <a:endParaRPr b="0" i="0" sz="1600" u="none" cap="none" strike="noStrike">
              <a:solidFill>
                <a:schemeClr val="dk1"/>
              </a:solidFill>
              <a:latin typeface="Meiryo"/>
              <a:ea typeface="Meiryo"/>
              <a:cs typeface="Meiryo"/>
              <a:sym typeface="Meiry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r>
              <a:rPr lang="ja"/>
              <a:t>5</a:t>
            </a:r>
            <a:endParaRPr>
              <a:latin typeface="Arial"/>
              <a:ea typeface="Arial"/>
              <a:cs typeface="Arial"/>
              <a:sym typeface="Arial"/>
            </a:endParaRPr>
          </a:p>
        </p:txBody>
      </p:sp>
      <p:sp>
        <p:nvSpPr>
          <p:cNvPr id="131" name="Google Shape;131;p9"/>
          <p:cNvSpPr txBox="1"/>
          <p:nvPr/>
        </p:nvSpPr>
        <p:spPr>
          <a:xfrm>
            <a:off x="471677" y="268088"/>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chemeClr val="dk1"/>
                </a:solidFill>
                <a:latin typeface="Meiryo"/>
                <a:ea typeface="Meiryo"/>
                <a:cs typeface="Meiryo"/>
                <a:sym typeface="Meiryo"/>
              </a:rPr>
              <a:t>コースの違い</a:t>
            </a:r>
            <a:endParaRPr b="0" i="0" sz="1400" u="none" cap="none" strike="noStrike">
              <a:solidFill>
                <a:schemeClr val="dk1"/>
              </a:solidFill>
              <a:latin typeface="Arial"/>
              <a:ea typeface="Arial"/>
              <a:cs typeface="Arial"/>
              <a:sym typeface="Arial"/>
            </a:endParaRPr>
          </a:p>
        </p:txBody>
      </p:sp>
      <p:graphicFrame>
        <p:nvGraphicFramePr>
          <p:cNvPr id="132" name="Google Shape;132;p9"/>
          <p:cNvGraphicFramePr/>
          <p:nvPr/>
        </p:nvGraphicFramePr>
        <p:xfrm>
          <a:off x="706856" y="1992730"/>
          <a:ext cx="3000000" cy="3000000"/>
        </p:xfrm>
        <a:graphic>
          <a:graphicData uri="http://schemas.openxmlformats.org/drawingml/2006/table">
            <a:tbl>
              <a:tblPr bandRow="1" firstRow="1">
                <a:noFill/>
                <a:tableStyleId>{E7F3EBE6-6BAB-4126-A069-9DDFE45B0A15}</a:tableStyleId>
              </a:tblPr>
              <a:tblGrid>
                <a:gridCol w="2546600"/>
                <a:gridCol w="2546600"/>
                <a:gridCol w="2546600"/>
              </a:tblGrid>
              <a:tr h="503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Meiryo"/>
                        <a:ea typeface="Meiryo"/>
                        <a:cs typeface="Meiryo"/>
                        <a:sym typeface="Meiry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ステップアップコース</a:t>
                      </a:r>
                      <a:endParaRPr sz="1800" u="none" cap="none" strike="noStrike">
                        <a:latin typeface="Meiryo"/>
                        <a:ea typeface="Meiryo"/>
                        <a:cs typeface="Meiryo"/>
                        <a:sym typeface="Meiryo"/>
                      </a:endParaRPr>
                    </a:p>
                  </a:txBody>
                  <a:tcPr marT="45725" marB="45725" marR="91450" marL="91450">
                    <a:solidFill>
                      <a:srgbClr val="FBE8D7"/>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アジャイル実践コース</a:t>
                      </a:r>
                      <a:endParaRPr sz="1400" u="none" cap="none" strike="noStrike"/>
                    </a:p>
                  </a:txBody>
                  <a:tcPr marT="45725" marB="45725" marR="91450" marL="91450">
                    <a:solidFill>
                      <a:srgbClr val="FBE8D7"/>
                    </a:solidFill>
                  </a:tcPr>
                </a:tc>
              </a:tr>
              <a:tr h="493200">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要件定義</a:t>
                      </a:r>
                      <a:endParaRPr sz="1800" u="none" cap="none" strike="noStrike">
                        <a:latin typeface="Meiryo"/>
                        <a:ea typeface="Meiryo"/>
                        <a:cs typeface="Meiryo"/>
                        <a:sym typeface="Meiry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あり</a:t>
                      </a:r>
                      <a:endParaRPr sz="1800" u="none" cap="none" strike="noStrike">
                        <a:latin typeface="Meiryo"/>
                        <a:ea typeface="Meiryo"/>
                        <a:cs typeface="Meiryo"/>
                        <a:sym typeface="Meiry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なし</a:t>
                      </a:r>
                      <a:endParaRPr sz="1800" u="none" cap="none" strike="noStrike">
                        <a:latin typeface="Meiryo"/>
                        <a:ea typeface="Meiryo"/>
                        <a:cs typeface="Meiryo"/>
                        <a:sym typeface="Meiryo"/>
                      </a:endParaRPr>
                    </a:p>
                  </a:txBody>
                  <a:tcPr marT="45725" marB="45725" marR="91450" marL="91450"/>
                </a:tc>
              </a:tr>
              <a:tr h="493200">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難易度</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中</a:t>
                      </a:r>
                      <a:endParaRPr sz="1800" u="none" cap="none" strike="noStrike">
                        <a:latin typeface="Meiryo"/>
                        <a:ea typeface="Meiryo"/>
                        <a:cs typeface="Meiryo"/>
                        <a:sym typeface="Meiry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高</a:t>
                      </a:r>
                      <a:endParaRPr sz="1800" u="none" cap="none" strike="noStrike">
                        <a:latin typeface="Meiryo"/>
                        <a:ea typeface="Meiryo"/>
                        <a:cs typeface="Meiryo"/>
                        <a:sym typeface="Meiryo"/>
                      </a:endParaRPr>
                    </a:p>
                  </a:txBody>
                  <a:tcPr marT="45725" marB="45725" marR="91450" marL="91450"/>
                </a:tc>
              </a:tr>
              <a:tr h="493200">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ゴール</a:t>
                      </a:r>
                      <a:endParaRPr sz="1800" u="none" cap="none" strike="noStrike">
                        <a:latin typeface="Meiryo"/>
                        <a:ea typeface="Meiryo"/>
                        <a:cs typeface="Meiryo"/>
                        <a:sym typeface="Meiry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機能の完成</a:t>
                      </a:r>
                      <a:endParaRPr sz="1800" u="none" cap="none" strike="noStrike">
                        <a:latin typeface="Meiryo"/>
                        <a:ea typeface="Meiryo"/>
                        <a:cs typeface="Meiryo"/>
                        <a:sym typeface="Meiry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ja" sz="1800" u="none" cap="none" strike="noStrike">
                          <a:latin typeface="Meiryo"/>
                          <a:ea typeface="Meiryo"/>
                          <a:cs typeface="Meiryo"/>
                          <a:sym typeface="Meiryo"/>
                        </a:rPr>
                        <a:t>課題の解決</a:t>
                      </a:r>
                      <a:endParaRPr sz="1800" u="none" cap="none" strike="noStrike">
                        <a:latin typeface="Meiryo"/>
                        <a:ea typeface="Meiryo"/>
                        <a:cs typeface="Meiryo"/>
                        <a:sym typeface="Meiryo"/>
                      </a:endParaRPr>
                    </a:p>
                  </a:txBody>
                  <a:tcPr marT="45725" marB="45725" marR="91450" marL="91450"/>
                </a:tc>
              </a:tr>
            </a:tbl>
          </a:graphicData>
        </a:graphic>
      </p:graphicFrame>
      <p:sp>
        <p:nvSpPr>
          <p:cNvPr id="133" name="Google Shape;133;p9"/>
          <p:cNvSpPr txBox="1"/>
          <p:nvPr/>
        </p:nvSpPr>
        <p:spPr>
          <a:xfrm>
            <a:off x="646697" y="932447"/>
            <a:ext cx="817395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Arial"/>
                <a:ea typeface="Arial"/>
                <a:cs typeface="Arial"/>
                <a:sym typeface="Arial"/>
              </a:rPr>
              <a:t>下記はステップアップコースとアジャイル実践コースの違いです。</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チーム内で話し合い、どちらのコースで開発を進めるか選択してください。</a:t>
            </a:r>
            <a:endParaRPr b="0" i="0" sz="1800" u="none" cap="none" strike="noStrike">
              <a:solidFill>
                <a:srgbClr val="000000"/>
              </a:solidFill>
              <a:latin typeface="Meiryo"/>
              <a:ea typeface="Meiryo"/>
              <a:cs typeface="Meiryo"/>
              <a:sym typeface="Meiry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5"/>
          <p:cNvCxnSpPr/>
          <p:nvPr/>
        </p:nvCxnSpPr>
        <p:spPr>
          <a:xfrm flipH="1">
            <a:off x="4790156" y="1321388"/>
            <a:ext cx="3139500" cy="455100"/>
          </a:xfrm>
          <a:prstGeom prst="bentConnector3">
            <a:avLst>
              <a:gd fmla="val -150" name="adj1"/>
            </a:avLst>
          </a:prstGeom>
          <a:noFill/>
          <a:ln cap="flat" cmpd="sng" w="19050">
            <a:solidFill>
              <a:schemeClr val="dk1"/>
            </a:solidFill>
            <a:prstDash val="solid"/>
            <a:round/>
            <a:headEnd len="sm" w="sm" type="none"/>
            <a:tailEnd len="sm" w="sm" type="none"/>
          </a:ln>
        </p:spPr>
      </p:cxnSp>
      <p:sp>
        <p:nvSpPr>
          <p:cNvPr id="139" name="Google Shape;139;p5"/>
          <p:cNvSpPr txBox="1"/>
          <p:nvPr>
            <p:ph idx="12" type="sldNum"/>
          </p:nvPr>
        </p:nvSpPr>
        <p:spPr>
          <a:xfrm>
            <a:off x="82608" y="468906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140" name="Google Shape;140;p5"/>
          <p:cNvSpPr txBox="1"/>
          <p:nvPr/>
        </p:nvSpPr>
        <p:spPr>
          <a:xfrm>
            <a:off x="283364" y="729533"/>
            <a:ext cx="8577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皆さんには、個人間送金アプリの完成に向けて、当社から用意したステップアップ形式の課題に沿って、アプリケーションを実装・機能強化していただきます。</a:t>
            </a:r>
            <a:endParaRPr b="0" i="0" sz="1400" u="none" cap="none" strike="noStrike">
              <a:solidFill>
                <a:schemeClr val="dk1"/>
              </a:solidFill>
              <a:latin typeface="Meiryo"/>
              <a:ea typeface="Meiryo"/>
              <a:cs typeface="Meiryo"/>
              <a:sym typeface="Meiryo"/>
            </a:endParaRPr>
          </a:p>
        </p:txBody>
      </p:sp>
      <p:sp>
        <p:nvSpPr>
          <p:cNvPr id="141" name="Google Shape;141;p5"/>
          <p:cNvSpPr txBox="1"/>
          <p:nvPr/>
        </p:nvSpPr>
        <p:spPr>
          <a:xfrm>
            <a:off x="6293647" y="1373875"/>
            <a:ext cx="147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ステップ12 </a:t>
            </a:r>
            <a:endParaRPr b="0" i="0" sz="1400" u="none" cap="none" strike="noStrike">
              <a:solidFill>
                <a:schemeClr val="dk1"/>
              </a:solidFill>
              <a:latin typeface="Arial"/>
              <a:ea typeface="Arial"/>
              <a:cs typeface="Arial"/>
              <a:sym typeface="Arial"/>
            </a:endParaRPr>
          </a:p>
        </p:txBody>
      </p:sp>
      <p:sp>
        <p:nvSpPr>
          <p:cNvPr id="142" name="Google Shape;142;p5"/>
          <p:cNvSpPr/>
          <p:nvPr/>
        </p:nvSpPr>
        <p:spPr>
          <a:xfrm rot="-1894807">
            <a:off x="5336848" y="1511768"/>
            <a:ext cx="822623" cy="332127"/>
          </a:xfrm>
          <a:prstGeom prst="curvedDownArrow">
            <a:avLst>
              <a:gd fmla="val 25000" name="adj1"/>
              <a:gd fmla="val 50000" name="adj2"/>
              <a:gd fmla="val 25000" name="adj3"/>
            </a:avLst>
          </a:prstGeom>
          <a:solidFill>
            <a:srgbClr val="FBFED9"/>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43" name="Google Shape;143;p5"/>
          <p:cNvSpPr/>
          <p:nvPr/>
        </p:nvSpPr>
        <p:spPr>
          <a:xfrm>
            <a:off x="4788012" y="1802819"/>
            <a:ext cx="1749060" cy="499176"/>
          </a:xfrm>
          <a:prstGeom prst="cloud">
            <a:avLst/>
          </a:prstGeom>
          <a:solidFill>
            <a:schemeClr val="lt1"/>
          </a:solidFill>
          <a:ln cap="flat" cmpd="sng" w="9525">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grpSp>
        <p:nvGrpSpPr>
          <p:cNvPr id="144" name="Google Shape;144;p5"/>
          <p:cNvGrpSpPr/>
          <p:nvPr/>
        </p:nvGrpSpPr>
        <p:grpSpPr>
          <a:xfrm>
            <a:off x="82593" y="1607157"/>
            <a:ext cx="8570859" cy="3043595"/>
            <a:chOff x="80043" y="1601532"/>
            <a:chExt cx="8570859" cy="3043595"/>
          </a:xfrm>
        </p:grpSpPr>
        <p:pic>
          <p:nvPicPr>
            <p:cNvPr descr="アイコン&#10;&#10;自動的に生成された説明" id="145" name="Google Shape;145;p5"/>
            <p:cNvPicPr preferRelativeResize="0"/>
            <p:nvPr/>
          </p:nvPicPr>
          <p:blipFill rotWithShape="1">
            <a:blip r:embed="rId3">
              <a:alphaModFix/>
            </a:blip>
            <a:srcRect b="0" l="0" r="0" t="0"/>
            <a:stretch/>
          </p:blipFill>
          <p:spPr>
            <a:xfrm flipH="1" rot="-470064">
              <a:off x="263810" y="3877455"/>
              <a:ext cx="695692" cy="695692"/>
            </a:xfrm>
            <a:prstGeom prst="rect">
              <a:avLst/>
            </a:prstGeom>
            <a:noFill/>
            <a:ln>
              <a:noFill/>
            </a:ln>
          </p:spPr>
        </p:pic>
        <p:grpSp>
          <p:nvGrpSpPr>
            <p:cNvPr id="146" name="Google Shape;146;p5"/>
            <p:cNvGrpSpPr/>
            <p:nvPr/>
          </p:nvGrpSpPr>
          <p:grpSpPr>
            <a:xfrm>
              <a:off x="80043" y="1601532"/>
              <a:ext cx="8570859" cy="3043595"/>
              <a:chOff x="80043" y="1601532"/>
              <a:chExt cx="8570859" cy="3043595"/>
            </a:xfrm>
          </p:grpSpPr>
          <p:grpSp>
            <p:nvGrpSpPr>
              <p:cNvPr id="147" name="Google Shape;147;p5"/>
              <p:cNvGrpSpPr/>
              <p:nvPr/>
            </p:nvGrpSpPr>
            <p:grpSpPr>
              <a:xfrm>
                <a:off x="80043" y="1601532"/>
                <a:ext cx="8570859" cy="3043595"/>
                <a:chOff x="-252569" y="1571930"/>
                <a:chExt cx="8570859" cy="3043595"/>
              </a:xfrm>
            </p:grpSpPr>
            <p:grpSp>
              <p:nvGrpSpPr>
                <p:cNvPr id="148" name="Google Shape;148;p5"/>
                <p:cNvGrpSpPr/>
                <p:nvPr/>
              </p:nvGrpSpPr>
              <p:grpSpPr>
                <a:xfrm>
                  <a:off x="283291" y="2343194"/>
                  <a:ext cx="8034999" cy="2272331"/>
                  <a:chOff x="356884" y="2343191"/>
                  <a:chExt cx="8034999" cy="2272331"/>
                </a:xfrm>
              </p:grpSpPr>
              <p:grpSp>
                <p:nvGrpSpPr>
                  <p:cNvPr id="149" name="Google Shape;149;p5"/>
                  <p:cNvGrpSpPr/>
                  <p:nvPr/>
                </p:nvGrpSpPr>
                <p:grpSpPr>
                  <a:xfrm>
                    <a:off x="356884" y="2343191"/>
                    <a:ext cx="6158584" cy="2272331"/>
                    <a:chOff x="522402" y="1488974"/>
                    <a:chExt cx="7118105" cy="2756346"/>
                  </a:xfrm>
                </p:grpSpPr>
                <p:grpSp>
                  <p:nvGrpSpPr>
                    <p:cNvPr id="150" name="Google Shape;150;p5"/>
                    <p:cNvGrpSpPr/>
                    <p:nvPr/>
                  </p:nvGrpSpPr>
                  <p:grpSpPr>
                    <a:xfrm>
                      <a:off x="522402" y="2040293"/>
                      <a:ext cx="5886022" cy="2205027"/>
                      <a:chOff x="522366" y="1245477"/>
                      <a:chExt cx="7694145" cy="3000036"/>
                    </a:xfrm>
                  </p:grpSpPr>
                  <p:cxnSp>
                    <p:nvCxnSpPr>
                      <p:cNvPr id="151" name="Google Shape;151;p5"/>
                      <p:cNvCxnSpPr/>
                      <p:nvPr/>
                    </p:nvCxnSpPr>
                    <p:spPr>
                      <a:xfrm flipH="1">
                        <a:off x="522366" y="3494313"/>
                        <a:ext cx="4743600" cy="751200"/>
                      </a:xfrm>
                      <a:prstGeom prst="bentConnector3">
                        <a:avLst>
                          <a:gd fmla="val -19785" name="adj1"/>
                        </a:avLst>
                      </a:prstGeom>
                      <a:noFill/>
                      <a:ln cap="flat" cmpd="sng" w="19050">
                        <a:solidFill>
                          <a:schemeClr val="dk1"/>
                        </a:solidFill>
                        <a:prstDash val="solid"/>
                        <a:round/>
                        <a:headEnd len="sm" w="sm" type="none"/>
                        <a:tailEnd len="sm" w="sm" type="none"/>
                      </a:ln>
                    </p:spPr>
                  </p:cxnSp>
                  <p:cxnSp>
                    <p:nvCxnSpPr>
                      <p:cNvPr id="152" name="Google Shape;152;p5"/>
                      <p:cNvCxnSpPr/>
                      <p:nvPr/>
                    </p:nvCxnSpPr>
                    <p:spPr>
                      <a:xfrm flipH="1">
                        <a:off x="1662644" y="2743201"/>
                        <a:ext cx="4743600" cy="751200"/>
                      </a:xfrm>
                      <a:prstGeom prst="bentConnector3">
                        <a:avLst>
                          <a:gd fmla="val -47070" name="adj1"/>
                        </a:avLst>
                      </a:prstGeom>
                      <a:noFill/>
                      <a:ln cap="flat" cmpd="sng" w="19050">
                        <a:solidFill>
                          <a:schemeClr val="dk1"/>
                        </a:solidFill>
                        <a:prstDash val="solid"/>
                        <a:round/>
                        <a:headEnd len="sm" w="sm" type="none"/>
                        <a:tailEnd len="sm" w="sm" type="none"/>
                      </a:ln>
                    </p:spPr>
                  </p:cxnSp>
                  <p:cxnSp>
                    <p:nvCxnSpPr>
                      <p:cNvPr id="153" name="Google Shape;153;p5"/>
                      <p:cNvCxnSpPr/>
                      <p:nvPr/>
                    </p:nvCxnSpPr>
                    <p:spPr>
                      <a:xfrm flipH="1">
                        <a:off x="2802923" y="1992090"/>
                        <a:ext cx="4743600" cy="751200"/>
                      </a:xfrm>
                      <a:prstGeom prst="bentConnector3">
                        <a:avLst>
                          <a:gd fmla="val -78605" name="adj1"/>
                        </a:avLst>
                      </a:prstGeom>
                      <a:noFill/>
                      <a:ln cap="flat" cmpd="sng" w="19050">
                        <a:solidFill>
                          <a:schemeClr val="dk1"/>
                        </a:solidFill>
                        <a:prstDash val="solid"/>
                        <a:round/>
                        <a:headEnd len="sm" w="sm" type="none"/>
                        <a:tailEnd len="sm" w="sm" type="none"/>
                      </a:ln>
                    </p:spPr>
                  </p:cxnSp>
                  <p:cxnSp>
                    <p:nvCxnSpPr>
                      <p:cNvPr id="154" name="Google Shape;154;p5"/>
                      <p:cNvCxnSpPr/>
                      <p:nvPr/>
                    </p:nvCxnSpPr>
                    <p:spPr>
                      <a:xfrm flipH="1">
                        <a:off x="3472911" y="1245477"/>
                        <a:ext cx="4743600" cy="751200"/>
                      </a:xfrm>
                      <a:prstGeom prst="bentConnector3">
                        <a:avLst>
                          <a:gd fmla="val -108735" name="adj1"/>
                        </a:avLst>
                      </a:prstGeom>
                      <a:noFill/>
                      <a:ln cap="flat" cmpd="sng" w="19050">
                        <a:solidFill>
                          <a:schemeClr val="dk1"/>
                        </a:solidFill>
                        <a:prstDash val="solid"/>
                        <a:round/>
                        <a:headEnd len="sm" w="sm" type="none"/>
                        <a:tailEnd len="sm" w="sm" type="none"/>
                      </a:ln>
                    </p:spPr>
                  </p:cxnSp>
                </p:grpSp>
                <p:cxnSp>
                  <p:nvCxnSpPr>
                    <p:cNvPr id="155" name="Google Shape;155;p5"/>
                    <p:cNvCxnSpPr/>
                    <p:nvPr/>
                  </p:nvCxnSpPr>
                  <p:spPr>
                    <a:xfrm flipH="1">
                      <a:off x="4011707" y="1488974"/>
                      <a:ext cx="3628800" cy="552000"/>
                    </a:xfrm>
                    <a:prstGeom prst="bentConnector3">
                      <a:avLst>
                        <a:gd fmla="val -77450" name="adj1"/>
                      </a:avLst>
                    </a:prstGeom>
                    <a:noFill/>
                    <a:ln cap="flat" cmpd="sng" w="19050">
                      <a:solidFill>
                        <a:schemeClr val="dk1"/>
                      </a:solidFill>
                      <a:prstDash val="solid"/>
                      <a:round/>
                      <a:headEnd len="sm" w="sm" type="none"/>
                      <a:tailEnd len="sm" w="sm" type="none"/>
                    </a:ln>
                  </p:spPr>
                </p:cxnSp>
              </p:grpSp>
              <p:sp>
                <p:nvSpPr>
                  <p:cNvPr id="156" name="Google Shape;156;p5"/>
                  <p:cNvSpPr txBox="1"/>
                  <p:nvPr/>
                </p:nvSpPr>
                <p:spPr>
                  <a:xfrm>
                    <a:off x="930106" y="4234036"/>
                    <a:ext cx="4227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ステップ1 </a:t>
                    </a:r>
                    <a:endParaRPr b="0" i="0" sz="1400" u="none" cap="none" strike="noStrike">
                      <a:solidFill>
                        <a:srgbClr val="000000"/>
                      </a:solidFill>
                      <a:latin typeface="Arial"/>
                      <a:ea typeface="Arial"/>
                      <a:cs typeface="Arial"/>
                      <a:sym typeface="Arial"/>
                    </a:endParaRPr>
                  </a:p>
                </p:txBody>
              </p:sp>
              <p:sp>
                <p:nvSpPr>
                  <p:cNvPr id="157" name="Google Shape;157;p5"/>
                  <p:cNvSpPr txBox="1"/>
                  <p:nvPr/>
                </p:nvSpPr>
                <p:spPr>
                  <a:xfrm>
                    <a:off x="1926662" y="3778903"/>
                    <a:ext cx="4227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ステップ2 </a:t>
                    </a:r>
                    <a:endParaRPr b="0" i="0" sz="1400" u="none" cap="none" strike="noStrike">
                      <a:solidFill>
                        <a:srgbClr val="000000"/>
                      </a:solidFill>
                      <a:latin typeface="Arial"/>
                      <a:ea typeface="Arial"/>
                      <a:cs typeface="Arial"/>
                      <a:sym typeface="Arial"/>
                    </a:endParaRPr>
                  </a:p>
                </p:txBody>
              </p:sp>
              <p:sp>
                <p:nvSpPr>
                  <p:cNvPr id="158" name="Google Shape;158;p5"/>
                  <p:cNvSpPr txBox="1"/>
                  <p:nvPr/>
                </p:nvSpPr>
                <p:spPr>
                  <a:xfrm>
                    <a:off x="2681344" y="3328060"/>
                    <a:ext cx="4227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ステップ3 </a:t>
                    </a:r>
                    <a:endParaRPr b="0" i="0" sz="1400" u="none" cap="none" strike="noStrike">
                      <a:solidFill>
                        <a:srgbClr val="000000"/>
                      </a:solidFill>
                      <a:latin typeface="Arial"/>
                      <a:ea typeface="Arial"/>
                      <a:cs typeface="Arial"/>
                      <a:sym typeface="Arial"/>
                    </a:endParaRPr>
                  </a:p>
                </p:txBody>
              </p:sp>
              <p:sp>
                <p:nvSpPr>
                  <p:cNvPr id="159" name="Google Shape;159;p5"/>
                  <p:cNvSpPr txBox="1"/>
                  <p:nvPr/>
                </p:nvSpPr>
                <p:spPr>
                  <a:xfrm>
                    <a:off x="3436029" y="2866545"/>
                    <a:ext cx="1613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ステップ4 </a:t>
                    </a:r>
                    <a:endParaRPr b="0" i="0" sz="1400" u="none" cap="none" strike="noStrike">
                      <a:solidFill>
                        <a:srgbClr val="000000"/>
                      </a:solidFill>
                      <a:latin typeface="Arial"/>
                      <a:ea typeface="Arial"/>
                      <a:cs typeface="Arial"/>
                      <a:sym typeface="Arial"/>
                    </a:endParaRPr>
                  </a:p>
                </p:txBody>
              </p:sp>
              <p:sp>
                <p:nvSpPr>
                  <p:cNvPr id="160" name="Google Shape;160;p5"/>
                  <p:cNvSpPr txBox="1"/>
                  <p:nvPr/>
                </p:nvSpPr>
                <p:spPr>
                  <a:xfrm>
                    <a:off x="4164283" y="2414725"/>
                    <a:ext cx="4227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ステップ5 </a:t>
                    </a:r>
                    <a:endParaRPr b="0" i="0" sz="1400" u="none" cap="none" strike="noStrike">
                      <a:solidFill>
                        <a:srgbClr val="000000"/>
                      </a:solidFill>
                      <a:latin typeface="Arial"/>
                      <a:ea typeface="Arial"/>
                      <a:cs typeface="Arial"/>
                      <a:sym typeface="Arial"/>
                    </a:endParaRPr>
                  </a:p>
                </p:txBody>
              </p:sp>
            </p:grpSp>
            <p:sp>
              <p:nvSpPr>
                <p:cNvPr id="161" name="Google Shape;161;p5"/>
                <p:cNvSpPr/>
                <p:nvPr/>
              </p:nvSpPr>
              <p:spPr>
                <a:xfrm rot="-1894807">
                  <a:off x="545379" y="3991711"/>
                  <a:ext cx="822623" cy="332127"/>
                </a:xfrm>
                <a:prstGeom prst="curvedDownArrow">
                  <a:avLst>
                    <a:gd fmla="val 25000" name="adj1"/>
                    <a:gd fmla="val 50000" name="adj2"/>
                    <a:gd fmla="val 25000" name="adj3"/>
                  </a:avLst>
                </a:prstGeom>
                <a:solidFill>
                  <a:srgbClr val="FBFED9"/>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62" name="Google Shape;162;p5"/>
                <p:cNvSpPr/>
                <p:nvPr/>
              </p:nvSpPr>
              <p:spPr>
                <a:xfrm rot="-1894517">
                  <a:off x="1179765" y="3218117"/>
                  <a:ext cx="1677558" cy="430297"/>
                </a:xfrm>
                <a:prstGeom prst="curvedDownArrow">
                  <a:avLst>
                    <a:gd fmla="val 25000" name="adj1"/>
                    <a:gd fmla="val 50000" name="adj2"/>
                    <a:gd fmla="val 25000" name="adj3"/>
                  </a:avLst>
                </a:prstGeom>
                <a:solidFill>
                  <a:srgbClr val="0C5ADB"/>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63" name="Google Shape;163;p5"/>
                <p:cNvSpPr/>
                <p:nvPr/>
              </p:nvSpPr>
              <p:spPr>
                <a:xfrm rot="-1894807">
                  <a:off x="2799302" y="2645869"/>
                  <a:ext cx="822623" cy="332127"/>
                </a:xfrm>
                <a:prstGeom prst="curvedDownArrow">
                  <a:avLst>
                    <a:gd fmla="val 25000" name="adj1"/>
                    <a:gd fmla="val 50000" name="adj2"/>
                    <a:gd fmla="val 25000" name="adj3"/>
                  </a:avLst>
                </a:prstGeom>
                <a:solidFill>
                  <a:srgbClr val="FBFED9"/>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64" name="Google Shape;164;p5"/>
                <p:cNvSpPr/>
                <p:nvPr/>
              </p:nvSpPr>
              <p:spPr>
                <a:xfrm rot="-1894807">
                  <a:off x="3547423" y="2176589"/>
                  <a:ext cx="822623" cy="332127"/>
                </a:xfrm>
                <a:prstGeom prst="curvedDownArrow">
                  <a:avLst>
                    <a:gd fmla="val 25000" name="adj1"/>
                    <a:gd fmla="val 50000" name="adj2"/>
                    <a:gd fmla="val 25000" name="adj3"/>
                  </a:avLst>
                </a:prstGeom>
                <a:solidFill>
                  <a:srgbClr val="FBFED9"/>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65" name="Google Shape;165;p5"/>
                <p:cNvSpPr/>
                <p:nvPr/>
              </p:nvSpPr>
              <p:spPr>
                <a:xfrm flipH="1" rot="-1967587">
                  <a:off x="2530220" y="2437212"/>
                  <a:ext cx="1052423" cy="375466"/>
                </a:xfrm>
                <a:prstGeom prst="curvedDownArrow">
                  <a:avLst>
                    <a:gd fmla="val 25000" name="adj1"/>
                    <a:gd fmla="val 50000" name="adj2"/>
                    <a:gd fmla="val 25000" name="adj3"/>
                  </a:avLst>
                </a:prstGeom>
                <a:solidFill>
                  <a:srgbClr val="EF8600"/>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66" name="Google Shape;166;p5"/>
                <p:cNvSpPr/>
                <p:nvPr/>
              </p:nvSpPr>
              <p:spPr>
                <a:xfrm>
                  <a:off x="-250262" y="2473423"/>
                  <a:ext cx="2272500" cy="646500"/>
                </a:xfrm>
                <a:prstGeom prst="wedgeRoundRectCallout">
                  <a:avLst>
                    <a:gd fmla="val 37773" name="adj1"/>
                    <a:gd fmla="val 84896" name="adj2"/>
                    <a:gd fmla="val 16667" name="adj3"/>
                  </a:avLst>
                </a:prstGeom>
                <a:solidFill>
                  <a:srgbClr val="D8E6FC"/>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一気に複数ステップを</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進めても問題ございません。</a:t>
                  </a:r>
                  <a:endParaRPr b="0" i="0" sz="1200" u="none" cap="none" strike="noStrike">
                    <a:solidFill>
                      <a:schemeClr val="dk1"/>
                    </a:solidFill>
                    <a:latin typeface="Meiryo"/>
                    <a:ea typeface="Meiryo"/>
                    <a:cs typeface="Meiryo"/>
                    <a:sym typeface="Meiryo"/>
                  </a:endParaRPr>
                </a:p>
              </p:txBody>
            </p:sp>
            <p:sp>
              <p:nvSpPr>
                <p:cNvPr id="167" name="Google Shape;167;p5"/>
                <p:cNvSpPr/>
                <p:nvPr/>
              </p:nvSpPr>
              <p:spPr>
                <a:xfrm>
                  <a:off x="-252569" y="1571930"/>
                  <a:ext cx="3850500" cy="603900"/>
                </a:xfrm>
                <a:prstGeom prst="wedgeRoundRectCallout">
                  <a:avLst>
                    <a:gd fmla="val 34723" name="adj1"/>
                    <a:gd fmla="val 81143" name="adj2"/>
                    <a:gd fmla="val 16667" name="adj3"/>
                  </a:avLst>
                </a:prstGeom>
                <a:solidFill>
                  <a:srgbClr val="FEEDD8"/>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a:t>
                  </a:r>
                  <a:endParaRPr b="0" i="0" sz="1200" u="none" cap="none" strike="noStrike">
                    <a:solidFill>
                      <a:schemeClr val="dk1"/>
                    </a:solidFill>
                    <a:latin typeface="Meiryo"/>
                    <a:ea typeface="Meiryo"/>
                    <a:cs typeface="Meiryo"/>
                    <a:sym typeface="Meiryo"/>
                  </a:endParaRPr>
                </a:p>
              </p:txBody>
            </p:sp>
          </p:grpSp>
          <p:cxnSp>
            <p:nvCxnSpPr>
              <p:cNvPr id="168" name="Google Shape;168;p5"/>
              <p:cNvCxnSpPr/>
              <p:nvPr/>
            </p:nvCxnSpPr>
            <p:spPr>
              <a:xfrm>
                <a:off x="646416" y="4645094"/>
                <a:ext cx="7485300" cy="0"/>
              </a:xfrm>
              <a:prstGeom prst="straightConnector1">
                <a:avLst/>
              </a:prstGeom>
              <a:noFill/>
              <a:ln cap="flat" cmpd="sng" w="19050">
                <a:solidFill>
                  <a:schemeClr val="dk1"/>
                </a:solidFill>
                <a:prstDash val="solid"/>
                <a:round/>
                <a:headEnd len="sm" w="sm" type="none"/>
                <a:tailEnd len="sm" w="sm" type="none"/>
              </a:ln>
            </p:spPr>
          </p:cxnSp>
        </p:grpSp>
      </p:grpSp>
      <p:sp>
        <p:nvSpPr>
          <p:cNvPr id="169" name="Google Shape;169;p5"/>
          <p:cNvSpPr/>
          <p:nvPr/>
        </p:nvSpPr>
        <p:spPr>
          <a:xfrm>
            <a:off x="8200028" y="1225837"/>
            <a:ext cx="606600" cy="3389700"/>
          </a:xfrm>
          <a:prstGeom prst="upDownArrow">
            <a:avLst>
              <a:gd fmla="val 50000" name="adj1"/>
              <a:gd fmla="val 50000" name="adj2"/>
            </a:avLst>
          </a:prstGeom>
          <a:gradFill>
            <a:gsLst>
              <a:gs pos="0">
                <a:srgbClr val="FF0000">
                  <a:alpha val="48627"/>
                </a:srgbClr>
              </a:gs>
              <a:gs pos="50000">
                <a:srgbClr val="A8C7FA"/>
              </a:gs>
              <a:gs pos="51000">
                <a:srgbClr val="A8C7FA"/>
              </a:gs>
              <a:gs pos="100000">
                <a:srgbClr val="0070C0">
                  <a:alpha val="47843"/>
                </a:srgbClr>
              </a:gs>
            </a:gsLst>
            <a:lin ang="5400012"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sp>
        <p:nvSpPr>
          <p:cNvPr id="170" name="Google Shape;170;p5"/>
          <p:cNvSpPr txBox="1"/>
          <p:nvPr/>
        </p:nvSpPr>
        <p:spPr>
          <a:xfrm>
            <a:off x="8308605" y="1321001"/>
            <a:ext cx="389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難</a:t>
            </a:r>
            <a:endParaRPr b="0" i="0" sz="1800" u="none" cap="none" strike="noStrike">
              <a:solidFill>
                <a:schemeClr val="dk1"/>
              </a:solidFill>
              <a:latin typeface="Meiryo"/>
              <a:ea typeface="Meiryo"/>
              <a:cs typeface="Meiryo"/>
              <a:sym typeface="Meiryo"/>
            </a:endParaRPr>
          </a:p>
        </p:txBody>
      </p:sp>
      <p:sp>
        <p:nvSpPr>
          <p:cNvPr id="171" name="Google Shape;171;p5"/>
          <p:cNvSpPr txBox="1"/>
          <p:nvPr/>
        </p:nvSpPr>
        <p:spPr>
          <a:xfrm>
            <a:off x="8308605" y="4212186"/>
            <a:ext cx="389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易</a:t>
            </a:r>
            <a:endParaRPr b="0" i="0" sz="1800" u="none" cap="none" strike="noStrike">
              <a:solidFill>
                <a:schemeClr val="dk1"/>
              </a:solidFill>
              <a:latin typeface="Meiryo"/>
              <a:ea typeface="Meiryo"/>
              <a:cs typeface="Meiryo"/>
              <a:sym typeface="Meiryo"/>
            </a:endParaRPr>
          </a:p>
        </p:txBody>
      </p:sp>
      <p:sp>
        <p:nvSpPr>
          <p:cNvPr id="172" name="Google Shape;172;p5"/>
          <p:cNvSpPr/>
          <p:nvPr/>
        </p:nvSpPr>
        <p:spPr>
          <a:xfrm rot="-1894807">
            <a:off x="6020500" y="1107886"/>
            <a:ext cx="822623" cy="332127"/>
          </a:xfrm>
          <a:prstGeom prst="curvedDownArrow">
            <a:avLst>
              <a:gd fmla="val 25000" name="adj1"/>
              <a:gd fmla="val 50000" name="adj2"/>
              <a:gd fmla="val 25000" name="adj3"/>
            </a:avLst>
          </a:prstGeom>
          <a:solidFill>
            <a:srgbClr val="FBFED9"/>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173" name="Google Shape;173;p5"/>
          <p:cNvSpPr txBox="1"/>
          <p:nvPr/>
        </p:nvSpPr>
        <p:spPr>
          <a:xfrm>
            <a:off x="430800" y="279804"/>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開発の流れ</a:t>
            </a:r>
            <a:endParaRPr b="0" i="0" sz="1400" u="none" cap="none" strike="noStrike">
              <a:solidFill>
                <a:schemeClr val="dk1"/>
              </a:solidFill>
              <a:latin typeface="Arial"/>
              <a:ea typeface="Arial"/>
              <a:cs typeface="Arial"/>
              <a:sym typeface="Arial"/>
            </a:endParaRPr>
          </a:p>
        </p:txBody>
      </p:sp>
      <p:sp>
        <p:nvSpPr>
          <p:cNvPr id="174" name="Google Shape;174;p5"/>
          <p:cNvSpPr txBox="1"/>
          <p:nvPr/>
        </p:nvSpPr>
        <p:spPr>
          <a:xfrm>
            <a:off x="0" y="1607142"/>
            <a:ext cx="46656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UI重視で画面だけ作り進めても問題ございません。</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（機能の実装についてはステップ5が終わった段階で、</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遡って追加実装しても問題ございません）</a:t>
            </a:r>
            <a:endParaRPr b="0" i="0" sz="1200" u="none" cap="none" strike="noStrike">
              <a:solidFill>
                <a:schemeClr val="dk1"/>
              </a:solidFill>
              <a:latin typeface="Meiryo"/>
              <a:ea typeface="Meiryo"/>
              <a:cs typeface="Meiryo"/>
              <a:sym typeface="Meiry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idx="12" type="sldNum"/>
          </p:nvPr>
        </p:nvSpPr>
        <p:spPr>
          <a:xfrm>
            <a:off x="82608" y="468906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grpSp>
        <p:nvGrpSpPr>
          <p:cNvPr id="180" name="Google Shape;180;p6"/>
          <p:cNvGrpSpPr/>
          <p:nvPr/>
        </p:nvGrpSpPr>
        <p:grpSpPr>
          <a:xfrm>
            <a:off x="82610" y="957018"/>
            <a:ext cx="4425350" cy="3521709"/>
            <a:chOff x="82608" y="1010773"/>
            <a:chExt cx="4610700" cy="3604984"/>
          </a:xfrm>
        </p:grpSpPr>
        <p:sp>
          <p:nvSpPr>
            <p:cNvPr id="181" name="Google Shape;181;p6"/>
            <p:cNvSpPr/>
            <p:nvPr/>
          </p:nvSpPr>
          <p:spPr>
            <a:xfrm>
              <a:off x="82608" y="1175657"/>
              <a:ext cx="4610700" cy="34401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182" name="Google Shape;182;p6"/>
            <p:cNvSpPr txBox="1"/>
            <p:nvPr/>
          </p:nvSpPr>
          <p:spPr>
            <a:xfrm>
              <a:off x="1055690" y="1010773"/>
              <a:ext cx="2584500" cy="3780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各課題のページの見方</a:t>
              </a:r>
              <a:endParaRPr b="0" i="0" sz="1800" u="none" cap="none" strike="noStrike">
                <a:solidFill>
                  <a:schemeClr val="dk1"/>
                </a:solidFill>
                <a:latin typeface="Meiryo"/>
                <a:ea typeface="Meiryo"/>
                <a:cs typeface="Meiryo"/>
                <a:sym typeface="Meiryo"/>
              </a:endParaRPr>
            </a:p>
          </p:txBody>
        </p:sp>
        <p:cxnSp>
          <p:nvCxnSpPr>
            <p:cNvPr id="183" name="Google Shape;183;p6"/>
            <p:cNvCxnSpPr/>
            <p:nvPr/>
          </p:nvCxnSpPr>
          <p:spPr>
            <a:xfrm>
              <a:off x="1106472" y="1962463"/>
              <a:ext cx="227700" cy="426000"/>
            </a:xfrm>
            <a:prstGeom prst="straightConnector1">
              <a:avLst/>
            </a:prstGeom>
            <a:noFill/>
            <a:ln cap="flat" cmpd="sng" w="28575">
              <a:solidFill>
                <a:srgbClr val="3B7FF2"/>
              </a:solidFill>
              <a:prstDash val="solid"/>
              <a:round/>
              <a:headEnd len="sm" w="sm" type="none"/>
              <a:tailEnd len="med" w="med" type="triangle"/>
            </a:ln>
          </p:spPr>
        </p:cxnSp>
        <p:cxnSp>
          <p:nvCxnSpPr>
            <p:cNvPr id="184" name="Google Shape;184;p6"/>
            <p:cNvCxnSpPr/>
            <p:nvPr/>
          </p:nvCxnSpPr>
          <p:spPr>
            <a:xfrm flipH="1">
              <a:off x="3358968" y="1973563"/>
              <a:ext cx="281100" cy="431100"/>
            </a:xfrm>
            <a:prstGeom prst="straightConnector1">
              <a:avLst/>
            </a:prstGeom>
            <a:noFill/>
            <a:ln cap="flat" cmpd="sng" w="28575">
              <a:solidFill>
                <a:srgbClr val="3B7FF2"/>
              </a:solidFill>
              <a:prstDash val="solid"/>
              <a:round/>
              <a:headEnd len="sm" w="sm" type="none"/>
              <a:tailEnd len="med" w="med" type="triangle"/>
            </a:ln>
          </p:spPr>
        </p:cxnSp>
        <p:sp>
          <p:nvSpPr>
            <p:cNvPr id="185" name="Google Shape;185;p6"/>
            <p:cNvSpPr txBox="1"/>
            <p:nvPr/>
          </p:nvSpPr>
          <p:spPr>
            <a:xfrm>
              <a:off x="2548943" y="1468145"/>
              <a:ext cx="2065200" cy="53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画面のイメージ</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（あくまでも参考）</a:t>
              </a:r>
              <a:endParaRPr b="0" i="0" sz="1400" u="none" cap="none" strike="noStrike">
                <a:solidFill>
                  <a:srgbClr val="000000"/>
                </a:solidFill>
                <a:latin typeface="Arial"/>
                <a:ea typeface="Arial"/>
                <a:cs typeface="Arial"/>
                <a:sym typeface="Arial"/>
              </a:endParaRPr>
            </a:p>
          </p:txBody>
        </p:sp>
        <p:sp>
          <p:nvSpPr>
            <p:cNvPr id="186" name="Google Shape;186;p6"/>
            <p:cNvSpPr txBox="1"/>
            <p:nvPr/>
          </p:nvSpPr>
          <p:spPr>
            <a:xfrm>
              <a:off x="230337" y="1593951"/>
              <a:ext cx="2153100" cy="31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実装を行う機能の説明</a:t>
              </a:r>
              <a:endParaRPr b="0" i="0" sz="1400" u="none" cap="none" strike="noStrike">
                <a:solidFill>
                  <a:srgbClr val="000000"/>
                </a:solidFill>
                <a:latin typeface="Arial"/>
                <a:ea typeface="Arial"/>
                <a:cs typeface="Arial"/>
                <a:sym typeface="Arial"/>
              </a:endParaRPr>
            </a:p>
          </p:txBody>
        </p:sp>
      </p:grpSp>
      <p:sp>
        <p:nvSpPr>
          <p:cNvPr id="187" name="Google Shape;187;p6"/>
          <p:cNvSpPr txBox="1"/>
          <p:nvPr/>
        </p:nvSpPr>
        <p:spPr>
          <a:xfrm>
            <a:off x="443850" y="253978"/>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開発の進め方</a:t>
            </a:r>
            <a:endParaRPr b="0" i="0" sz="1400" u="none" cap="none" strike="noStrike">
              <a:solidFill>
                <a:schemeClr val="dk1"/>
              </a:solidFill>
              <a:latin typeface="Arial"/>
              <a:ea typeface="Arial"/>
              <a:cs typeface="Arial"/>
              <a:sym typeface="Arial"/>
            </a:endParaRPr>
          </a:p>
        </p:txBody>
      </p:sp>
      <p:grpSp>
        <p:nvGrpSpPr>
          <p:cNvPr id="188" name="Google Shape;188;p6"/>
          <p:cNvGrpSpPr/>
          <p:nvPr/>
        </p:nvGrpSpPr>
        <p:grpSpPr>
          <a:xfrm>
            <a:off x="4586475" y="997115"/>
            <a:ext cx="4664034" cy="3483213"/>
            <a:chOff x="4706713" y="938286"/>
            <a:chExt cx="4806300" cy="3593164"/>
          </a:xfrm>
        </p:grpSpPr>
        <p:sp>
          <p:nvSpPr>
            <p:cNvPr id="189" name="Google Shape;189;p6"/>
            <p:cNvSpPr/>
            <p:nvPr/>
          </p:nvSpPr>
          <p:spPr>
            <a:xfrm>
              <a:off x="4769833" y="1064950"/>
              <a:ext cx="4560000" cy="34665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190" name="Google Shape;190;p6"/>
            <p:cNvSpPr txBox="1"/>
            <p:nvPr/>
          </p:nvSpPr>
          <p:spPr>
            <a:xfrm>
              <a:off x="4976701" y="938286"/>
              <a:ext cx="4125600" cy="317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ステップ12まで到達しなくとも問題ありません</a:t>
              </a:r>
              <a:endParaRPr b="0" i="0" sz="1400" u="none" cap="none" strike="noStrike">
                <a:solidFill>
                  <a:schemeClr val="dk1"/>
                </a:solidFill>
                <a:latin typeface="Meiryo"/>
                <a:ea typeface="Meiryo"/>
                <a:cs typeface="Meiryo"/>
                <a:sym typeface="Meiryo"/>
              </a:endParaRPr>
            </a:p>
          </p:txBody>
        </p:sp>
        <p:sp>
          <p:nvSpPr>
            <p:cNvPr id="191" name="Google Shape;191;p6"/>
            <p:cNvSpPr txBox="1"/>
            <p:nvPr/>
          </p:nvSpPr>
          <p:spPr>
            <a:xfrm>
              <a:off x="4706713" y="1310173"/>
              <a:ext cx="4806300" cy="104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rgbClr val="FF0000"/>
                  </a:solidFill>
                  <a:latin typeface="Meiryo"/>
                  <a:ea typeface="Meiryo"/>
                  <a:cs typeface="Meiryo"/>
                  <a:sym typeface="Meiryo"/>
                </a:rPr>
                <a:t> 金融系アプリの開発の仕事を体験してもらうことが目的</a:t>
              </a:r>
              <a:r>
                <a:rPr b="0" i="0" lang="ja" sz="1200" u="none" cap="none" strike="noStrike">
                  <a:solidFill>
                    <a:schemeClr val="dk1"/>
                  </a:solidFill>
                  <a:latin typeface="Meiryo"/>
                  <a:ea typeface="Meiryo"/>
                  <a:cs typeface="Meiryo"/>
                  <a:sym typeface="Meiryo"/>
                </a:rPr>
                <a:t>です。</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評価もしておりませんので、どこまで行けそうかを気にせずに</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「経験はないけどこの際だから○○の経験を積みたい」など</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自分たちが楽しめるかどうかを判断軸に開発を進めてください。</a:t>
              </a:r>
              <a:endParaRPr b="0" i="0" sz="1400" u="none" cap="none" strike="noStrike">
                <a:solidFill>
                  <a:srgbClr val="000000"/>
                </a:solidFill>
                <a:latin typeface="Arial"/>
                <a:ea typeface="Arial"/>
                <a:cs typeface="Arial"/>
                <a:sym typeface="Arial"/>
              </a:endParaRPr>
            </a:p>
          </p:txBody>
        </p:sp>
      </p:grpSp>
      <p:pic>
        <p:nvPicPr>
          <p:cNvPr id="192" name="Google Shape;192;p6"/>
          <p:cNvPicPr preferRelativeResize="0"/>
          <p:nvPr/>
        </p:nvPicPr>
        <p:blipFill rotWithShape="1">
          <a:blip r:embed="rId3">
            <a:alphaModFix/>
          </a:blip>
          <a:srcRect b="0" l="0" r="0" t="0"/>
          <a:stretch/>
        </p:blipFill>
        <p:spPr>
          <a:xfrm>
            <a:off x="265638" y="2443025"/>
            <a:ext cx="4059275" cy="1903750"/>
          </a:xfrm>
          <a:prstGeom prst="rect">
            <a:avLst/>
          </a:prstGeom>
          <a:noFill/>
          <a:ln>
            <a:noFill/>
          </a:ln>
        </p:spPr>
      </p:pic>
      <p:pic>
        <p:nvPicPr>
          <p:cNvPr id="193" name="Google Shape;193;p6"/>
          <p:cNvPicPr preferRelativeResize="0"/>
          <p:nvPr/>
        </p:nvPicPr>
        <p:blipFill rotWithShape="1">
          <a:blip r:embed="rId4">
            <a:alphaModFix/>
          </a:blip>
          <a:srcRect b="0" l="0" r="0" t="0"/>
          <a:stretch/>
        </p:blipFill>
        <p:spPr>
          <a:xfrm>
            <a:off x="5214407" y="2377721"/>
            <a:ext cx="3414187" cy="1968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grpSp>
        <p:nvGrpSpPr>
          <p:cNvPr id="198" name="Google Shape;198;p7"/>
          <p:cNvGrpSpPr/>
          <p:nvPr/>
        </p:nvGrpSpPr>
        <p:grpSpPr>
          <a:xfrm>
            <a:off x="433201" y="877825"/>
            <a:ext cx="6918482" cy="3528071"/>
            <a:chOff x="-1861679" y="1189075"/>
            <a:chExt cx="6918482" cy="3528071"/>
          </a:xfrm>
        </p:grpSpPr>
        <p:sp>
          <p:nvSpPr>
            <p:cNvPr id="199" name="Google Shape;199;p7"/>
            <p:cNvSpPr txBox="1"/>
            <p:nvPr/>
          </p:nvSpPr>
          <p:spPr>
            <a:xfrm>
              <a:off x="-1861679" y="1189075"/>
              <a:ext cx="5768700"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機能ごとに調査・実装を分担しながら進めてください。</a:t>
              </a:r>
              <a:endParaRPr b="0" i="0" sz="1400" u="none" cap="none" strike="noStrike">
                <a:solidFill>
                  <a:srgbClr val="000000"/>
                </a:solidFill>
                <a:latin typeface="Arial"/>
                <a:ea typeface="Arial"/>
                <a:cs typeface="Arial"/>
                <a:sym typeface="Arial"/>
              </a:endParaRPr>
            </a:p>
          </p:txBody>
        </p:sp>
        <p:grpSp>
          <p:nvGrpSpPr>
            <p:cNvPr id="200" name="Google Shape;200;p7"/>
            <p:cNvGrpSpPr/>
            <p:nvPr/>
          </p:nvGrpSpPr>
          <p:grpSpPr>
            <a:xfrm>
              <a:off x="-1005936" y="1766313"/>
              <a:ext cx="6062739" cy="2950833"/>
              <a:chOff x="-1020924" y="1804598"/>
              <a:chExt cx="6062739" cy="2950833"/>
            </a:xfrm>
          </p:grpSpPr>
          <p:sp>
            <p:nvSpPr>
              <p:cNvPr id="201" name="Google Shape;201;p7"/>
              <p:cNvSpPr txBox="1"/>
              <p:nvPr/>
            </p:nvSpPr>
            <p:spPr>
              <a:xfrm>
                <a:off x="1571789" y="2812442"/>
                <a:ext cx="1185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ソースコード</a:t>
                </a:r>
                <a:endParaRPr b="0" i="0" sz="1100" u="none" cap="none" strike="noStrike">
                  <a:solidFill>
                    <a:schemeClr val="dk1"/>
                  </a:solidFill>
                  <a:latin typeface="Meiryo"/>
                  <a:ea typeface="Meiryo"/>
                  <a:cs typeface="Meiryo"/>
                  <a:sym typeface="Meiryo"/>
                </a:endParaRPr>
              </a:p>
            </p:txBody>
          </p:sp>
          <p:grpSp>
            <p:nvGrpSpPr>
              <p:cNvPr id="202" name="Google Shape;202;p7"/>
              <p:cNvGrpSpPr/>
              <p:nvPr/>
            </p:nvGrpSpPr>
            <p:grpSpPr>
              <a:xfrm>
                <a:off x="-1020924" y="1804598"/>
                <a:ext cx="6062739" cy="2950833"/>
                <a:chOff x="-1020924" y="1804598"/>
                <a:chExt cx="6062739" cy="2950833"/>
              </a:xfrm>
            </p:grpSpPr>
            <p:grpSp>
              <p:nvGrpSpPr>
                <p:cNvPr id="203" name="Google Shape;203;p7"/>
                <p:cNvGrpSpPr/>
                <p:nvPr/>
              </p:nvGrpSpPr>
              <p:grpSpPr>
                <a:xfrm>
                  <a:off x="-1020924" y="1804598"/>
                  <a:ext cx="5952524" cy="2950833"/>
                  <a:chOff x="3508484" y="-120224"/>
                  <a:chExt cx="6286328" cy="3349413"/>
                </a:xfrm>
              </p:grpSpPr>
              <p:grpSp>
                <p:nvGrpSpPr>
                  <p:cNvPr id="204" name="Google Shape;204;p7"/>
                  <p:cNvGrpSpPr/>
                  <p:nvPr/>
                </p:nvGrpSpPr>
                <p:grpSpPr>
                  <a:xfrm>
                    <a:off x="3578393" y="-120224"/>
                    <a:ext cx="6216419" cy="3349413"/>
                    <a:chOff x="3609415" y="-241310"/>
                    <a:chExt cx="6216419" cy="3349413"/>
                  </a:xfrm>
                </p:grpSpPr>
                <p:grpSp>
                  <p:nvGrpSpPr>
                    <p:cNvPr id="205" name="Google Shape;205;p7"/>
                    <p:cNvGrpSpPr/>
                    <p:nvPr/>
                  </p:nvGrpSpPr>
                  <p:grpSpPr>
                    <a:xfrm>
                      <a:off x="4068427" y="-241310"/>
                      <a:ext cx="5305380" cy="2751418"/>
                      <a:chOff x="3689389" y="-97099"/>
                      <a:chExt cx="5305380" cy="2751418"/>
                    </a:xfrm>
                  </p:grpSpPr>
                  <p:pic>
                    <p:nvPicPr>
                      <p:cNvPr descr="アイコン&#10;&#10;自動的に生成された説明" id="206" name="Google Shape;206;p7"/>
                      <p:cNvPicPr preferRelativeResize="0"/>
                      <p:nvPr/>
                    </p:nvPicPr>
                    <p:blipFill rotWithShape="1">
                      <a:blip r:embed="rId3">
                        <a:alphaModFix/>
                      </a:blip>
                      <a:srcRect b="0" l="0" r="0" t="0"/>
                      <a:stretch/>
                    </p:blipFill>
                    <p:spPr>
                      <a:xfrm>
                        <a:off x="3689389" y="-97098"/>
                        <a:ext cx="905779" cy="905781"/>
                      </a:xfrm>
                      <a:prstGeom prst="rect">
                        <a:avLst/>
                      </a:prstGeom>
                      <a:noFill/>
                      <a:ln>
                        <a:noFill/>
                      </a:ln>
                    </p:spPr>
                  </p:pic>
                  <p:pic>
                    <p:nvPicPr>
                      <p:cNvPr descr="アイコン&#10;&#10;自動的に生成された説明" id="207" name="Google Shape;207;p7"/>
                      <p:cNvPicPr preferRelativeResize="0"/>
                      <p:nvPr/>
                    </p:nvPicPr>
                    <p:blipFill rotWithShape="1">
                      <a:blip r:embed="rId4">
                        <a:alphaModFix/>
                      </a:blip>
                      <a:srcRect b="0" l="0" r="0" t="0"/>
                      <a:stretch/>
                    </p:blipFill>
                    <p:spPr>
                      <a:xfrm>
                        <a:off x="3693397" y="1748539"/>
                        <a:ext cx="905781" cy="905780"/>
                      </a:xfrm>
                      <a:prstGeom prst="rect">
                        <a:avLst/>
                      </a:prstGeom>
                      <a:noFill/>
                      <a:ln>
                        <a:noFill/>
                      </a:ln>
                    </p:spPr>
                  </p:pic>
                  <p:pic>
                    <p:nvPicPr>
                      <p:cNvPr descr="アイコン&#10;&#10;自動的に生成された説明" id="208" name="Google Shape;208;p7"/>
                      <p:cNvPicPr preferRelativeResize="0"/>
                      <p:nvPr/>
                    </p:nvPicPr>
                    <p:blipFill rotWithShape="1">
                      <a:blip r:embed="rId5">
                        <a:alphaModFix/>
                      </a:blip>
                      <a:srcRect b="0" l="0" r="0" t="0"/>
                      <a:stretch/>
                    </p:blipFill>
                    <p:spPr>
                      <a:xfrm>
                        <a:off x="8088989" y="-97099"/>
                        <a:ext cx="905780" cy="905781"/>
                      </a:xfrm>
                      <a:prstGeom prst="rect">
                        <a:avLst/>
                      </a:prstGeom>
                      <a:noFill/>
                      <a:ln>
                        <a:noFill/>
                      </a:ln>
                    </p:spPr>
                  </p:pic>
                  <p:pic>
                    <p:nvPicPr>
                      <p:cNvPr descr="テキスト, アイコン&#10;&#10;自動的に生成された説明" id="209" name="Google Shape;209;p7"/>
                      <p:cNvPicPr preferRelativeResize="0"/>
                      <p:nvPr/>
                    </p:nvPicPr>
                    <p:blipFill rotWithShape="1">
                      <a:blip r:embed="rId6">
                        <a:alphaModFix/>
                      </a:blip>
                      <a:srcRect b="0" l="0" r="0" t="0"/>
                      <a:stretch/>
                    </p:blipFill>
                    <p:spPr>
                      <a:xfrm>
                        <a:off x="6062867" y="1341322"/>
                        <a:ext cx="692318" cy="692318"/>
                      </a:xfrm>
                      <a:prstGeom prst="rect">
                        <a:avLst/>
                      </a:prstGeom>
                      <a:noFill/>
                      <a:ln>
                        <a:noFill/>
                      </a:ln>
                    </p:spPr>
                  </p:pic>
                  <p:sp>
                    <p:nvSpPr>
                      <p:cNvPr id="210" name="Google Shape;210;p7"/>
                      <p:cNvSpPr/>
                      <p:nvPr/>
                    </p:nvSpPr>
                    <p:spPr>
                      <a:xfrm rot="-3353523">
                        <a:off x="5161387" y="237554"/>
                        <a:ext cx="422110" cy="1063392"/>
                      </a:xfrm>
                      <a:prstGeom prst="downArrow">
                        <a:avLst>
                          <a:gd fmla="val 50000" name="adj1"/>
                          <a:gd fmla="val 50132"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sp>
                    <p:nvSpPr>
                      <p:cNvPr id="211" name="Google Shape;211;p7"/>
                      <p:cNvSpPr/>
                      <p:nvPr/>
                    </p:nvSpPr>
                    <p:spPr>
                      <a:xfrm rot="-7487266">
                        <a:off x="5163233" y="1545769"/>
                        <a:ext cx="434327" cy="1077706"/>
                      </a:xfrm>
                      <a:prstGeom prst="downArrow">
                        <a:avLst>
                          <a:gd fmla="val 50000" name="adj1"/>
                          <a:gd fmla="val 50000" name="adj2"/>
                        </a:avLst>
                      </a:prstGeom>
                      <a:solidFill>
                        <a:srgbClr val="EF8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sp>
                    <p:nvSpPr>
                      <p:cNvPr id="212" name="Google Shape;212;p7"/>
                      <p:cNvSpPr/>
                      <p:nvPr/>
                    </p:nvSpPr>
                    <p:spPr>
                      <a:xfrm rot="3296274">
                        <a:off x="7200799" y="247997"/>
                        <a:ext cx="462170" cy="1023140"/>
                      </a:xfrm>
                      <a:prstGeom prst="downArrow">
                        <a:avLst>
                          <a:gd fmla="val 50000" name="adj1"/>
                          <a:gd fmla="val 50000" name="adj2"/>
                        </a:avLst>
                      </a:prstGeom>
                      <a:solidFill>
                        <a:srgbClr val="DAF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grpSp>
                <p:sp>
                  <p:nvSpPr>
                    <p:cNvPr id="213" name="Google Shape;213;p7"/>
                    <p:cNvSpPr txBox="1"/>
                    <p:nvPr/>
                  </p:nvSpPr>
                  <p:spPr>
                    <a:xfrm>
                      <a:off x="3609415" y="2619103"/>
                      <a:ext cx="1823700" cy="48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Meiryo"/>
                          <a:ea typeface="Meiryo"/>
                          <a:cs typeface="Meiryo"/>
                          <a:sym typeface="Meiryo"/>
                        </a:rPr>
                        <a:t>バックエンドAPIを</a:t>
                      </a:r>
                      <a:endParaRPr b="0" i="0" sz="1100" u="none" cap="none" strike="noStrike">
                        <a:solidFill>
                          <a:srgbClr val="000000"/>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Meiryo"/>
                          <a:ea typeface="Meiryo"/>
                          <a:cs typeface="Meiryo"/>
                          <a:sym typeface="Meiryo"/>
                        </a:rPr>
                        <a:t>呼び出す機能を作る人</a:t>
                      </a:r>
                      <a:endParaRPr b="0" i="0" sz="1400" u="none" cap="none" strike="noStrike">
                        <a:solidFill>
                          <a:srgbClr val="000000"/>
                        </a:solidFill>
                        <a:latin typeface="Arial"/>
                        <a:ea typeface="Arial"/>
                        <a:cs typeface="Arial"/>
                        <a:sym typeface="Arial"/>
                      </a:endParaRPr>
                    </a:p>
                  </p:txBody>
                </p:sp>
                <p:sp>
                  <p:nvSpPr>
                    <p:cNvPr id="214" name="Google Shape;214;p7"/>
                    <p:cNvSpPr txBox="1"/>
                    <p:nvPr/>
                  </p:nvSpPr>
                  <p:spPr>
                    <a:xfrm>
                      <a:off x="7811034" y="2564560"/>
                      <a:ext cx="2014800" cy="48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Meiryo"/>
                          <a:ea typeface="Meiryo"/>
                          <a:cs typeface="Meiryo"/>
                          <a:sym typeface="Meiryo"/>
                        </a:rPr>
                        <a:t>UIコンポーネントを探し</a:t>
                      </a:r>
                      <a:endParaRPr b="0" i="0" sz="1100" u="none" cap="none" strike="noStrike">
                        <a:solidFill>
                          <a:srgbClr val="000000"/>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Meiryo"/>
                          <a:ea typeface="Meiryo"/>
                          <a:cs typeface="Meiryo"/>
                          <a:sym typeface="Meiryo"/>
                        </a:rPr>
                        <a:t>画面Aを実装する人</a:t>
                      </a:r>
                      <a:endParaRPr b="0" i="0" sz="1400" u="none" cap="none" strike="noStrike">
                        <a:solidFill>
                          <a:srgbClr val="000000"/>
                        </a:solidFill>
                        <a:latin typeface="Arial"/>
                        <a:ea typeface="Arial"/>
                        <a:cs typeface="Arial"/>
                        <a:sym typeface="Arial"/>
                      </a:endParaRPr>
                    </a:p>
                  </p:txBody>
                </p:sp>
              </p:grpSp>
              <p:sp>
                <p:nvSpPr>
                  <p:cNvPr id="215" name="Google Shape;215;p7"/>
                  <p:cNvSpPr txBox="1"/>
                  <p:nvPr/>
                </p:nvSpPr>
                <p:spPr>
                  <a:xfrm>
                    <a:off x="3508484" y="830416"/>
                    <a:ext cx="2171700" cy="29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Meiryo"/>
                        <a:ea typeface="Meiryo"/>
                        <a:cs typeface="Meiryo"/>
                        <a:sym typeface="Meiryo"/>
                      </a:rPr>
                      <a:t>バックエンドのAPIを作る人</a:t>
                    </a:r>
                    <a:endParaRPr b="0" i="0" sz="1400" u="none" cap="none" strike="noStrike">
                      <a:solidFill>
                        <a:srgbClr val="000000"/>
                      </a:solidFill>
                      <a:latin typeface="Arial"/>
                      <a:ea typeface="Arial"/>
                      <a:cs typeface="Arial"/>
                      <a:sym typeface="Arial"/>
                    </a:endParaRPr>
                  </a:p>
                </p:txBody>
              </p:sp>
            </p:grpSp>
            <p:pic>
              <p:nvPicPr>
                <p:cNvPr descr="アイコン&#10;&#10;自動的に生成された説明" id="216" name="Google Shape;216;p7"/>
                <p:cNvPicPr preferRelativeResize="0"/>
                <p:nvPr/>
              </p:nvPicPr>
              <p:blipFill rotWithShape="1">
                <a:blip r:embed="rId7">
                  <a:alphaModFix/>
                </a:blip>
                <a:srcRect b="0" l="0" r="0" t="0"/>
                <a:stretch/>
              </p:blipFill>
              <p:spPr>
                <a:xfrm>
                  <a:off x="3646271" y="3430670"/>
                  <a:ext cx="857723" cy="798026"/>
                </a:xfrm>
                <a:prstGeom prst="rect">
                  <a:avLst/>
                </a:prstGeom>
                <a:noFill/>
                <a:ln>
                  <a:noFill/>
                </a:ln>
              </p:spPr>
            </p:pic>
            <p:sp>
              <p:nvSpPr>
                <p:cNvPr id="217" name="Google Shape;217;p7"/>
                <p:cNvSpPr txBox="1"/>
                <p:nvPr/>
              </p:nvSpPr>
              <p:spPr>
                <a:xfrm>
                  <a:off x="3133815" y="2704331"/>
                  <a:ext cx="19080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Meiryo"/>
                      <a:ea typeface="Meiryo"/>
                      <a:cs typeface="Meiryo"/>
                      <a:sym typeface="Meiryo"/>
                    </a:rPr>
                    <a:t>画面遷移機能を実装する人</a:t>
                  </a:r>
                  <a:endParaRPr b="0" i="0" sz="1400" u="none" cap="none" strike="noStrike">
                    <a:solidFill>
                      <a:srgbClr val="000000"/>
                    </a:solidFill>
                    <a:latin typeface="Arial"/>
                    <a:ea typeface="Arial"/>
                    <a:cs typeface="Arial"/>
                    <a:sym typeface="Arial"/>
                  </a:endParaRPr>
                </a:p>
              </p:txBody>
            </p:sp>
            <p:sp>
              <p:nvSpPr>
                <p:cNvPr id="218" name="Google Shape;218;p7"/>
                <p:cNvSpPr/>
                <p:nvPr/>
              </p:nvSpPr>
              <p:spPr>
                <a:xfrm rot="7740935">
                  <a:off x="2843337" y="3309162"/>
                  <a:ext cx="362174" cy="955989"/>
                </a:xfrm>
                <a:prstGeom prst="downArrow">
                  <a:avLst>
                    <a:gd fmla="val 50000" name="adj1"/>
                    <a:gd fmla="val 50000" name="adj2"/>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grpSp>
        </p:grpSp>
      </p:grpSp>
      <p:sp>
        <p:nvSpPr>
          <p:cNvPr id="219" name="Google Shape;219;p7"/>
          <p:cNvSpPr txBox="1"/>
          <p:nvPr/>
        </p:nvSpPr>
        <p:spPr>
          <a:xfrm>
            <a:off x="439727" y="252618"/>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開発における役割分担のイメージ</a:t>
            </a:r>
            <a:endParaRPr b="0" i="0" sz="1400" u="none" cap="none" strike="noStrike">
              <a:solidFill>
                <a:schemeClr val="dk1"/>
              </a:solidFill>
              <a:latin typeface="Arial"/>
              <a:ea typeface="Arial"/>
              <a:cs typeface="Arial"/>
              <a:sym typeface="Arial"/>
            </a:endParaRPr>
          </a:p>
        </p:txBody>
      </p:sp>
      <p:sp>
        <p:nvSpPr>
          <p:cNvPr id="220" name="Google Shape;220;p7"/>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fld id="{00000000-1234-1234-1234-123412341234}" type="slidenum">
              <a:rPr lang="ja">
                <a:latin typeface="Arial"/>
                <a:ea typeface="Arial"/>
                <a:cs typeface="Arial"/>
                <a:sym typeface="Arial"/>
              </a:rPr>
              <a:t>‹#›</a:t>
            </a:fld>
            <a:endParaRPr>
              <a:latin typeface="Arial"/>
              <a:ea typeface="Arial"/>
              <a:cs typeface="Arial"/>
              <a:sym typeface="Arial"/>
            </a:endParaRPr>
          </a:p>
          <a:p>
            <a:pPr indent="0" lvl="0" marL="0" rtl="0" algn="r">
              <a:lnSpc>
                <a:spcPct val="100000"/>
              </a:lnSpc>
              <a:spcBef>
                <a:spcPts val="0"/>
              </a:spcBef>
              <a:spcAft>
                <a:spcPts val="0"/>
              </a:spcAft>
              <a:buSzPts val="1000"/>
              <a:buNone/>
            </a:pPr>
            <a:r>
              <a:t/>
            </a:r>
            <a:endParaRPr>
              <a:latin typeface="Arial"/>
              <a:ea typeface="Arial"/>
              <a:cs typeface="Arial"/>
              <a:sym typeface="Arial"/>
            </a:endParaRPr>
          </a:p>
          <a:p>
            <a:pPr indent="0" lvl="0" marL="0" rtl="0" algn="r">
              <a:lnSpc>
                <a:spcPct val="100000"/>
              </a:lnSpc>
              <a:spcBef>
                <a:spcPts val="0"/>
              </a:spcBef>
              <a:spcAft>
                <a:spcPts val="0"/>
              </a:spcAft>
              <a:buSzPts val="1000"/>
              <a:buNone/>
            </a:pPr>
            <a:r>
              <a:t/>
            </a:r>
            <a:endParaRPr sz="9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
          <p:cNvSpPr/>
          <p:nvPr/>
        </p:nvSpPr>
        <p:spPr>
          <a:xfrm>
            <a:off x="139514" y="2571413"/>
            <a:ext cx="8856900" cy="1315200"/>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6" name="Google Shape;226;p3"/>
          <p:cNvSpPr/>
          <p:nvPr/>
        </p:nvSpPr>
        <p:spPr>
          <a:xfrm>
            <a:off x="139514" y="814579"/>
            <a:ext cx="8856900" cy="1315200"/>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7" name="Google Shape;227;p3"/>
          <p:cNvSpPr txBox="1"/>
          <p:nvPr/>
        </p:nvSpPr>
        <p:spPr>
          <a:xfrm>
            <a:off x="2875" y="962725"/>
            <a:ext cx="9207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000000"/>
                </a:solidFill>
                <a:latin typeface="Meiryo"/>
                <a:ea typeface="Meiryo"/>
                <a:cs typeface="Meiryo"/>
                <a:sym typeface="Meiryo"/>
              </a:rPr>
              <a:t>　Reactで実装した模範解答アプリのソースコードを以下に格納していますが、</a:t>
            </a:r>
            <a:endParaRPr b="0" i="0" sz="16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000000"/>
                </a:solidFill>
                <a:latin typeface="Meiryo"/>
                <a:ea typeface="Meiryo"/>
                <a:cs typeface="Meiryo"/>
                <a:sym typeface="Meiryo"/>
              </a:rPr>
              <a:t>　基本は試行錯誤して、どうしても先に進めなくなった場合などに確認するようにしてください。</a:t>
            </a:r>
            <a:endParaRPr b="0" i="0" sz="2000" u="none" cap="none" strike="noStrike">
              <a:solidFill>
                <a:srgbClr val="000000"/>
              </a:solidFill>
              <a:latin typeface="Meiryo"/>
              <a:ea typeface="Meiryo"/>
              <a:cs typeface="Meiryo"/>
              <a:sym typeface="Meiryo"/>
            </a:endParaRPr>
          </a:p>
        </p:txBody>
      </p:sp>
      <p:sp>
        <p:nvSpPr>
          <p:cNvPr id="228" name="Google Shape;228;p3"/>
          <p:cNvSpPr txBox="1"/>
          <p:nvPr>
            <p:ph idx="12" type="sldNum"/>
          </p:nvPr>
        </p:nvSpPr>
        <p:spPr>
          <a:xfrm>
            <a:off x="82608" y="468906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229" name="Google Shape;229;p3"/>
          <p:cNvSpPr txBox="1"/>
          <p:nvPr/>
        </p:nvSpPr>
        <p:spPr>
          <a:xfrm>
            <a:off x="239004" y="2815183"/>
            <a:ext cx="8976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000000"/>
                </a:solidFill>
                <a:latin typeface="Meiryo"/>
                <a:ea typeface="Meiryo"/>
                <a:cs typeface="Meiryo"/>
                <a:sym typeface="Meiryo"/>
              </a:rPr>
              <a:t>アプリ構成図やソースコードの読み方など、模範解答アプリの説明書を以下に格納しています。</a:t>
            </a:r>
            <a:endParaRPr b="0" i="0" sz="1600" u="none" cap="none" strike="noStrike">
              <a:solidFill>
                <a:srgbClr val="000000"/>
              </a:solidFill>
              <a:latin typeface="Meiryo"/>
              <a:ea typeface="Meiryo"/>
              <a:cs typeface="Meiryo"/>
              <a:sym typeface="Meiryo"/>
            </a:endParaRPr>
          </a:p>
        </p:txBody>
      </p:sp>
      <p:sp>
        <p:nvSpPr>
          <p:cNvPr id="230" name="Google Shape;230;p3"/>
          <p:cNvSpPr txBox="1"/>
          <p:nvPr/>
        </p:nvSpPr>
        <p:spPr>
          <a:xfrm>
            <a:off x="296724" y="1547716"/>
            <a:ext cx="84183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ja" sz="1100" u="sng" cap="none" strike="noStrike">
                <a:solidFill>
                  <a:schemeClr val="hlink"/>
                </a:solidFill>
                <a:latin typeface="Meiryo"/>
                <a:ea typeface="Meiryo"/>
                <a:cs typeface="Meiryo"/>
                <a:sym typeface="Meiryo"/>
                <a:hlinkClick r:id="rId3"/>
              </a:rPr>
              <a:t>共有資料 </a:t>
            </a:r>
            <a:endParaRPr b="0" i="0" sz="1100" u="sng" cap="none" strike="noStrike">
              <a:solidFill>
                <a:schemeClr val="hlink"/>
              </a:solidFill>
              <a:latin typeface="Meiryo"/>
              <a:ea typeface="Meiryo"/>
              <a:cs typeface="Meiryo"/>
              <a:sym typeface="Meiryo"/>
              <a:hlinkClick r:id="rId4"/>
            </a:endParaRPr>
          </a:p>
        </p:txBody>
      </p:sp>
      <p:sp>
        <p:nvSpPr>
          <p:cNvPr id="231" name="Google Shape;231;p3"/>
          <p:cNvSpPr txBox="1"/>
          <p:nvPr/>
        </p:nvSpPr>
        <p:spPr>
          <a:xfrm>
            <a:off x="288775" y="4176725"/>
            <a:ext cx="8244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000000"/>
                </a:solidFill>
                <a:latin typeface="Meiryo"/>
                <a:ea typeface="Meiryo"/>
                <a:cs typeface="Meiryo"/>
                <a:sym typeface="Meiryo"/>
              </a:rPr>
              <a:t>資料について、ご質問やご確認されたい事項がある場合はメンターにご相談ください。</a:t>
            </a:r>
            <a:endParaRPr b="0" i="0" sz="1600" u="none" cap="none" strike="noStrike">
              <a:solidFill>
                <a:srgbClr val="000000"/>
              </a:solidFill>
              <a:latin typeface="Meiryo"/>
              <a:ea typeface="Meiryo"/>
              <a:cs typeface="Meiryo"/>
              <a:sym typeface="Meiryo"/>
            </a:endParaRPr>
          </a:p>
        </p:txBody>
      </p:sp>
      <p:sp>
        <p:nvSpPr>
          <p:cNvPr id="232" name="Google Shape;232;p3"/>
          <p:cNvSpPr txBox="1"/>
          <p:nvPr/>
        </p:nvSpPr>
        <p:spPr>
          <a:xfrm>
            <a:off x="460800" y="278092"/>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模範解答アプリ</a:t>
            </a:r>
            <a:endParaRPr b="0" i="0" sz="1400" u="none" cap="none" strike="noStrike">
              <a:solidFill>
                <a:schemeClr val="dk1"/>
              </a:solidFill>
              <a:latin typeface="Arial"/>
              <a:ea typeface="Arial"/>
              <a:cs typeface="Arial"/>
              <a:sym typeface="Arial"/>
            </a:endParaRPr>
          </a:p>
        </p:txBody>
      </p:sp>
      <p:sp>
        <p:nvSpPr>
          <p:cNvPr id="233" name="Google Shape;233;p3"/>
          <p:cNvSpPr txBox="1"/>
          <p:nvPr/>
        </p:nvSpPr>
        <p:spPr>
          <a:xfrm>
            <a:off x="240170" y="3324656"/>
            <a:ext cx="8747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50"/>
              <a:buFont typeface="Arial"/>
              <a:buNone/>
            </a:pPr>
            <a:r>
              <a:rPr b="0" i="0" lang="ja" sz="1100" u="sng" cap="none" strike="noStrike">
                <a:solidFill>
                  <a:schemeClr val="hlink"/>
                </a:solidFill>
                <a:latin typeface="Meiryo"/>
                <a:ea typeface="Meiryo"/>
                <a:cs typeface="Meiryo"/>
                <a:sym typeface="Meiryo"/>
                <a:hlinkClick r:id="rId5"/>
              </a:rPr>
              <a:t>共有資料 </a:t>
            </a:r>
            <a:endParaRPr b="0" i="0" sz="1800" u="sng" cap="none" strike="noStrike">
              <a:solidFill>
                <a:schemeClr val="hlink"/>
              </a:solidFill>
              <a:latin typeface="Meiryo"/>
              <a:ea typeface="Meiryo"/>
              <a:cs typeface="Meiryo"/>
              <a:sym typeface="Meiryo"/>
              <a:hlinkClick r:id="rId6"/>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aphicFrame>
        <p:nvGraphicFramePr>
          <p:cNvPr id="238" name="Google Shape;238;p8"/>
          <p:cNvGraphicFramePr/>
          <p:nvPr/>
        </p:nvGraphicFramePr>
        <p:xfrm>
          <a:off x="4506837" y="1010226"/>
          <a:ext cx="3000000" cy="3000000"/>
        </p:xfrm>
        <a:graphic>
          <a:graphicData uri="http://schemas.openxmlformats.org/drawingml/2006/table">
            <a:tbl>
              <a:tblPr>
                <a:noFill/>
                <a:tableStyleId>{E7F3EBE6-6BAB-4126-A069-9DDFE45B0A15}</a:tableStyleId>
              </a:tblPr>
              <a:tblGrid>
                <a:gridCol w="1594150"/>
                <a:gridCol w="2960400"/>
              </a:tblGrid>
              <a:tr h="320650">
                <a:tc>
                  <a:txBody>
                    <a:bodyPr/>
                    <a:lstStyle/>
                    <a:p>
                      <a:pPr indent="0" lvl="0" marL="0" marR="0" rtl="0" algn="l">
                        <a:lnSpc>
                          <a:spcPct val="100000"/>
                        </a:lnSpc>
                        <a:spcBef>
                          <a:spcPts val="0"/>
                        </a:spcBef>
                        <a:spcAft>
                          <a:spcPts val="0"/>
                        </a:spcAft>
                        <a:buClr>
                          <a:srgbClr val="000000"/>
                        </a:buClr>
                        <a:buSzPts val="1000"/>
                        <a:buFont typeface="Arial"/>
                        <a:buNone/>
                      </a:pPr>
                      <a:r>
                        <a:rPr lang="ja" sz="1000" u="none" cap="none" strike="noStrike">
                          <a:latin typeface="Meiryo"/>
                          <a:ea typeface="Meiryo"/>
                          <a:cs typeface="Meiryo"/>
                          <a:sym typeface="Meiryo"/>
                        </a:rPr>
                        <a:t>10</a:t>
                      </a:r>
                      <a:r>
                        <a:rPr b="0" i="0" lang="ja" sz="1000" u="none" cap="none" strike="noStrike">
                          <a:latin typeface="Meiryo"/>
                          <a:ea typeface="Meiryo"/>
                          <a:cs typeface="Meiryo"/>
                          <a:sym typeface="Meiryo"/>
                        </a:rPr>
                        <a:t>:00　  （５分）</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EEDD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ja" sz="1000" u="none" cap="none" strike="noStrike">
                          <a:latin typeface="Meiryo"/>
                          <a:ea typeface="Meiryo"/>
                          <a:cs typeface="Meiryo"/>
                          <a:sym typeface="Meiryo"/>
                        </a:rPr>
                        <a:t>4</a:t>
                      </a:r>
                      <a:r>
                        <a:rPr b="0" i="0" lang="ja" sz="1000" u="none" cap="none" strike="noStrike">
                          <a:latin typeface="Meiryo"/>
                          <a:ea typeface="Meiryo"/>
                          <a:cs typeface="Meiryo"/>
                          <a:sym typeface="Meiryo"/>
                        </a:rPr>
                        <a:t>日目イントロダクション</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EEDD8"/>
                    </a:solidFill>
                  </a:tcPr>
                </a:tc>
              </a:tr>
              <a:tr h="623425">
                <a:tc>
                  <a:txBody>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latin typeface="Meiryo"/>
                        <a:ea typeface="Meiryo"/>
                        <a:cs typeface="Meiryo"/>
                        <a:sym typeface="Meiryo"/>
                      </a:endParaRPr>
                    </a:p>
                    <a:p>
                      <a:pPr indent="0" lvl="0" marL="0" marR="0" rtl="0" algn="l">
                        <a:lnSpc>
                          <a:spcPct val="100000"/>
                        </a:lnSpc>
                        <a:spcBef>
                          <a:spcPts val="0"/>
                        </a:spcBef>
                        <a:spcAft>
                          <a:spcPts val="0"/>
                        </a:spcAft>
                        <a:buClr>
                          <a:srgbClr val="000000"/>
                        </a:buClr>
                        <a:buSzPts val="1000"/>
                        <a:buFont typeface="Arial"/>
                        <a:buNone/>
                      </a:pPr>
                      <a:r>
                        <a:rPr lang="ja" sz="1000" u="none" cap="none" strike="noStrike">
                          <a:latin typeface="Meiryo"/>
                          <a:ea typeface="Meiryo"/>
                          <a:cs typeface="Meiryo"/>
                          <a:sym typeface="Meiryo"/>
                        </a:rPr>
                        <a:t>10</a:t>
                      </a:r>
                      <a:r>
                        <a:rPr b="0" i="0" lang="ja" sz="1000" u="none" cap="none" strike="noStrike">
                          <a:latin typeface="Meiryo"/>
                          <a:ea typeface="Meiryo"/>
                          <a:cs typeface="Meiryo"/>
                          <a:sym typeface="Meiryo"/>
                        </a:rPr>
                        <a:t>:05　  （約2時間）</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8E6FC"/>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latin typeface="Meiryo"/>
                        <a:ea typeface="Meiryo"/>
                        <a:cs typeface="Meiryo"/>
                        <a:sym typeface="Meiryo"/>
                      </a:endParaRPr>
                    </a:p>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開発</a:t>
                      </a:r>
                      <a:r>
                        <a:rPr lang="ja" sz="1000" u="none" cap="none" strike="noStrike">
                          <a:latin typeface="Meiryo"/>
                          <a:ea typeface="Meiryo"/>
                          <a:cs typeface="Meiryo"/>
                          <a:sym typeface="Meiryo"/>
                        </a:rPr>
                        <a:t>・最終発表準備</a:t>
                      </a:r>
                      <a:endParaRPr sz="1400" u="none" cap="none" strike="noStrike"/>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8E6FC"/>
                    </a:solidFill>
                  </a:tcPr>
                </a:tc>
              </a:tr>
              <a:tr h="320650">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12:</a:t>
                      </a:r>
                      <a:r>
                        <a:rPr lang="ja" sz="1000" u="none" cap="none" strike="noStrike">
                          <a:latin typeface="Meiryo"/>
                          <a:ea typeface="Meiryo"/>
                          <a:cs typeface="Meiryo"/>
                          <a:sym typeface="Meiryo"/>
                        </a:rPr>
                        <a:t>10</a:t>
                      </a:r>
                      <a:r>
                        <a:rPr b="0" i="0" lang="ja" sz="1000" u="none" cap="none" strike="noStrike">
                          <a:latin typeface="Meiryo"/>
                          <a:ea typeface="Meiryo"/>
                          <a:cs typeface="Meiryo"/>
                          <a:sym typeface="Meiryo"/>
                        </a:rPr>
                        <a:t>　（1時間）</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お昼休憩</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DDDDD"/>
                    </a:solidFill>
                  </a:tcPr>
                </a:tc>
              </a:tr>
              <a:tr h="648800">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13:</a:t>
                      </a:r>
                      <a:r>
                        <a:rPr lang="ja" sz="1000" u="none" cap="none" strike="noStrike">
                          <a:latin typeface="Meiryo"/>
                          <a:ea typeface="Meiryo"/>
                          <a:cs typeface="Meiryo"/>
                          <a:sym typeface="Meiryo"/>
                        </a:rPr>
                        <a:t>1</a:t>
                      </a:r>
                      <a:r>
                        <a:rPr b="0" i="0" lang="ja" sz="1000" u="none" cap="none" strike="noStrike">
                          <a:latin typeface="Meiryo"/>
                          <a:ea typeface="Meiryo"/>
                          <a:cs typeface="Meiryo"/>
                          <a:sym typeface="Meiryo"/>
                        </a:rPr>
                        <a:t>0</a:t>
                      </a:r>
                      <a:r>
                        <a:rPr b="0" i="0" lang="ja" sz="1000" u="none" cap="none" strike="noStrike">
                          <a:solidFill>
                            <a:schemeClr val="dk1"/>
                          </a:solidFill>
                          <a:latin typeface="Meiryo"/>
                          <a:ea typeface="Meiryo"/>
                          <a:cs typeface="Meiryo"/>
                          <a:sym typeface="Meiryo"/>
                        </a:rPr>
                        <a:t>　（</a:t>
                      </a:r>
                      <a:r>
                        <a:rPr lang="ja" sz="1000" u="none" cap="none" strike="noStrike">
                          <a:solidFill>
                            <a:schemeClr val="dk1"/>
                          </a:solidFill>
                          <a:latin typeface="Meiryo"/>
                          <a:ea typeface="Meiryo"/>
                          <a:cs typeface="Meiryo"/>
                          <a:sym typeface="Meiryo"/>
                        </a:rPr>
                        <a:t>3</a:t>
                      </a:r>
                      <a:r>
                        <a:rPr b="0" i="0" lang="ja" sz="1000" u="none" cap="none" strike="noStrike">
                          <a:solidFill>
                            <a:schemeClr val="dk1"/>
                          </a:solidFill>
                          <a:latin typeface="Meiryo"/>
                          <a:ea typeface="Meiryo"/>
                          <a:cs typeface="Meiryo"/>
                          <a:sym typeface="Meiryo"/>
                        </a:rPr>
                        <a:t>0分）</a:t>
                      </a:r>
                      <a:endParaRPr b="0" i="0" sz="1000" u="none" cap="none" strike="noStrike">
                        <a:solidFill>
                          <a:schemeClr val="dk1"/>
                        </a:solidFill>
                        <a:latin typeface="Meiryo"/>
                        <a:ea typeface="Meiryo"/>
                        <a:cs typeface="Meiryo"/>
                        <a:sym typeface="Meiryo"/>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8E6F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開発</a:t>
                      </a:r>
                      <a:r>
                        <a:rPr lang="ja" sz="1000" u="none" cap="none" strike="noStrike">
                          <a:latin typeface="Meiryo"/>
                          <a:ea typeface="Meiryo"/>
                          <a:cs typeface="Meiryo"/>
                          <a:sym typeface="Meiryo"/>
                        </a:rPr>
                        <a:t>・</a:t>
                      </a:r>
                      <a:r>
                        <a:rPr lang="ja" sz="1000" u="none" cap="none" strike="noStrike">
                          <a:solidFill>
                            <a:schemeClr val="dk1"/>
                          </a:solidFill>
                          <a:latin typeface="Meiryo"/>
                          <a:ea typeface="Meiryo"/>
                          <a:cs typeface="Meiryo"/>
                          <a:sym typeface="Meiryo"/>
                        </a:rPr>
                        <a:t>最終発表準備</a:t>
                      </a:r>
                      <a:endParaRPr b="0" i="0" sz="1000" u="none" cap="none" strike="noStrike">
                        <a:latin typeface="Meiryo"/>
                        <a:ea typeface="Meiryo"/>
                        <a:cs typeface="Meiryo"/>
                        <a:sym typeface="Meiryo"/>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8E6FC"/>
                    </a:solidFill>
                  </a:tcPr>
                </a:tc>
              </a:tr>
              <a:tr h="320650">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solidFill>
                            <a:schemeClr val="dk1"/>
                          </a:solidFill>
                          <a:latin typeface="Meiryo"/>
                          <a:ea typeface="Meiryo"/>
                          <a:cs typeface="Meiryo"/>
                          <a:sym typeface="Meiryo"/>
                        </a:rPr>
                        <a:t>1</a:t>
                      </a:r>
                      <a:r>
                        <a:rPr lang="ja" sz="1000" u="none" cap="none" strike="noStrike">
                          <a:solidFill>
                            <a:schemeClr val="dk1"/>
                          </a:solidFill>
                          <a:latin typeface="Meiryo"/>
                          <a:ea typeface="Meiryo"/>
                          <a:cs typeface="Meiryo"/>
                          <a:sym typeface="Meiryo"/>
                        </a:rPr>
                        <a:t>3</a:t>
                      </a:r>
                      <a:r>
                        <a:rPr b="0" i="0" lang="ja" sz="1000" u="none" cap="none" strike="noStrike">
                          <a:solidFill>
                            <a:schemeClr val="dk1"/>
                          </a:solidFill>
                          <a:latin typeface="Meiryo"/>
                          <a:ea typeface="Meiryo"/>
                          <a:cs typeface="Meiryo"/>
                          <a:sym typeface="Meiryo"/>
                        </a:rPr>
                        <a:t>:</a:t>
                      </a:r>
                      <a:r>
                        <a:rPr lang="ja" sz="1000" u="none" cap="none" strike="noStrike">
                          <a:solidFill>
                            <a:schemeClr val="dk1"/>
                          </a:solidFill>
                          <a:latin typeface="Meiryo"/>
                          <a:ea typeface="Meiryo"/>
                          <a:cs typeface="Meiryo"/>
                          <a:sym typeface="Meiryo"/>
                        </a:rPr>
                        <a:t>4</a:t>
                      </a:r>
                      <a:r>
                        <a:rPr b="0" i="0" lang="ja" sz="1000" u="none" cap="none" strike="noStrike">
                          <a:solidFill>
                            <a:schemeClr val="dk1"/>
                          </a:solidFill>
                          <a:latin typeface="Meiryo"/>
                          <a:ea typeface="Meiryo"/>
                          <a:cs typeface="Meiryo"/>
                          <a:sym typeface="Meiryo"/>
                        </a:rPr>
                        <a:t>0　（1時間10分）</a:t>
                      </a:r>
                      <a:endParaRPr b="0" i="0" sz="1000" u="none" cap="none" strike="noStrike">
                        <a:solidFill>
                          <a:schemeClr val="dk1"/>
                        </a:solidFill>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EEDD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発表（1チームの発表は5分）</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EEDD8"/>
                    </a:solidFill>
                  </a:tcPr>
                </a:tc>
              </a:tr>
              <a:tr h="320650">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1</a:t>
                      </a:r>
                      <a:r>
                        <a:rPr lang="ja" sz="1000">
                          <a:latin typeface="Meiryo"/>
                          <a:ea typeface="Meiryo"/>
                          <a:cs typeface="Meiryo"/>
                          <a:sym typeface="Meiryo"/>
                        </a:rPr>
                        <a:t>4</a:t>
                      </a:r>
                      <a:r>
                        <a:rPr b="0" i="0" lang="ja" sz="1000" u="none" cap="none" strike="noStrike">
                          <a:latin typeface="Meiryo"/>
                          <a:ea typeface="Meiryo"/>
                          <a:cs typeface="Meiryo"/>
                          <a:sym typeface="Meiryo"/>
                        </a:rPr>
                        <a:t>:</a:t>
                      </a:r>
                      <a:r>
                        <a:rPr lang="ja" sz="1000">
                          <a:latin typeface="Meiryo"/>
                          <a:ea typeface="Meiryo"/>
                          <a:cs typeface="Meiryo"/>
                          <a:sym typeface="Meiryo"/>
                        </a:rPr>
                        <a:t>5</a:t>
                      </a:r>
                      <a:r>
                        <a:rPr lang="ja" sz="1000" u="none" cap="none" strike="noStrike">
                          <a:latin typeface="Meiryo"/>
                          <a:ea typeface="Meiryo"/>
                          <a:cs typeface="Meiryo"/>
                          <a:sym typeface="Meiryo"/>
                        </a:rPr>
                        <a:t>0</a:t>
                      </a:r>
                      <a:r>
                        <a:rPr b="0" i="0" lang="ja" sz="1000" u="none" cap="none" strike="noStrike">
                          <a:latin typeface="Meiryo"/>
                          <a:ea typeface="Meiryo"/>
                          <a:cs typeface="Meiryo"/>
                          <a:sym typeface="Meiryo"/>
                        </a:rPr>
                        <a:t>　（</a:t>
                      </a:r>
                      <a:r>
                        <a:rPr lang="ja" sz="1000" u="none" cap="none" strike="noStrike">
                          <a:latin typeface="Meiryo"/>
                          <a:ea typeface="Meiryo"/>
                          <a:cs typeface="Meiryo"/>
                          <a:sym typeface="Meiryo"/>
                        </a:rPr>
                        <a:t>1時間</a:t>
                      </a:r>
                      <a:r>
                        <a:rPr lang="ja" sz="1000">
                          <a:latin typeface="Meiryo"/>
                          <a:ea typeface="Meiryo"/>
                          <a:cs typeface="Meiryo"/>
                          <a:sym typeface="Meiryo"/>
                        </a:rPr>
                        <a:t>45分</a:t>
                      </a:r>
                      <a:r>
                        <a:rPr b="0" i="0" lang="ja" sz="1000" u="none" cap="none" strike="noStrike">
                          <a:latin typeface="Meiryo"/>
                          <a:ea typeface="Meiryo"/>
                          <a:cs typeface="Meiryo"/>
                          <a:sym typeface="Meiryo"/>
                        </a:rPr>
                        <a:t>）</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8E6F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ja" sz="1000">
                          <a:latin typeface="Meiryo"/>
                          <a:ea typeface="Meiryo"/>
                          <a:cs typeface="Meiryo"/>
                          <a:sym typeface="Meiryo"/>
                        </a:rPr>
                        <a:t>オフィスツアー、</a:t>
                      </a:r>
                      <a:r>
                        <a:rPr lang="ja" sz="1000" u="none" cap="none" strike="noStrike">
                          <a:latin typeface="Meiryo"/>
                          <a:ea typeface="Meiryo"/>
                          <a:cs typeface="Meiryo"/>
                          <a:sym typeface="Meiryo"/>
                        </a:rPr>
                        <a:t>座談会等</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8E6FC"/>
                    </a:solidFill>
                  </a:tcPr>
                </a:tc>
              </a:tr>
              <a:tr h="320650">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latin typeface="Meiryo"/>
                          <a:ea typeface="Meiryo"/>
                          <a:cs typeface="Meiryo"/>
                          <a:sym typeface="Meiryo"/>
                        </a:rPr>
                        <a:t>1</a:t>
                      </a:r>
                      <a:r>
                        <a:rPr lang="ja" sz="1000" u="none" cap="none" strike="noStrike">
                          <a:latin typeface="Meiryo"/>
                          <a:ea typeface="Meiryo"/>
                          <a:cs typeface="Meiryo"/>
                          <a:sym typeface="Meiryo"/>
                        </a:rPr>
                        <a:t>6</a:t>
                      </a:r>
                      <a:r>
                        <a:rPr b="0" i="0" lang="ja" sz="1000" u="none" cap="none" strike="noStrike">
                          <a:latin typeface="Meiryo"/>
                          <a:ea typeface="Meiryo"/>
                          <a:cs typeface="Meiryo"/>
                          <a:sym typeface="Meiryo"/>
                        </a:rPr>
                        <a:t>:</a:t>
                      </a:r>
                      <a:r>
                        <a:rPr lang="ja" sz="1000">
                          <a:latin typeface="Meiryo"/>
                          <a:ea typeface="Meiryo"/>
                          <a:cs typeface="Meiryo"/>
                          <a:sym typeface="Meiryo"/>
                        </a:rPr>
                        <a:t>35（10分）</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EEDD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ja" sz="1000">
                          <a:latin typeface="Meiryo"/>
                          <a:ea typeface="Meiryo"/>
                          <a:cs typeface="Meiryo"/>
                          <a:sym typeface="Meiryo"/>
                        </a:rPr>
                        <a:t>クロージング</a:t>
                      </a:r>
                      <a:endParaRPr b="0" i="0" sz="1000" u="none" cap="none" strike="noStrike">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EEDD8"/>
                    </a:solidFill>
                  </a:tcPr>
                </a:tc>
              </a:tr>
              <a:tr h="320650">
                <a:tc>
                  <a:txBody>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solidFill>
                            <a:schemeClr val="dk1"/>
                          </a:solidFill>
                          <a:latin typeface="Meiryo"/>
                          <a:ea typeface="Meiryo"/>
                          <a:cs typeface="Meiryo"/>
                          <a:sym typeface="Meiryo"/>
                        </a:rPr>
                        <a:t>16:45　</a:t>
                      </a:r>
                      <a:endParaRPr b="0" i="0" sz="1000" u="none" cap="none" strike="noStrike">
                        <a:solidFill>
                          <a:schemeClr val="dk1"/>
                        </a:solidFill>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ja" sz="1000" u="none" cap="none" strike="noStrike">
                          <a:latin typeface="Meiryo"/>
                          <a:ea typeface="Meiryo"/>
                          <a:cs typeface="Meiryo"/>
                          <a:sym typeface="Meiryo"/>
                        </a:rPr>
                        <a:t>解散</a:t>
                      </a:r>
                      <a:endParaRPr b="0" i="0" sz="1000" u="none" cap="none" strike="noStrike">
                        <a:solidFill>
                          <a:srgbClr val="D8E6FC"/>
                        </a:solidFill>
                        <a:latin typeface="Meiryo"/>
                        <a:ea typeface="Meiryo"/>
                        <a:cs typeface="Meiryo"/>
                        <a:sym typeface="Meiryo"/>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
        <p:nvSpPr>
          <p:cNvPr id="239" name="Google Shape;239;p8"/>
          <p:cNvSpPr txBox="1"/>
          <p:nvPr/>
        </p:nvSpPr>
        <p:spPr>
          <a:xfrm>
            <a:off x="4752249" y="668393"/>
            <a:ext cx="2578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Meiryo"/>
                <a:ea typeface="Meiryo"/>
                <a:cs typeface="Meiryo"/>
                <a:sym typeface="Meiryo"/>
              </a:rPr>
              <a:t>（参考）タイムスケジュール</a:t>
            </a:r>
            <a:endParaRPr b="0" i="0" sz="1400" u="none" cap="none" strike="noStrike">
              <a:solidFill>
                <a:srgbClr val="000000"/>
              </a:solidFill>
              <a:latin typeface="Arial"/>
              <a:ea typeface="Arial"/>
              <a:cs typeface="Arial"/>
              <a:sym typeface="Arial"/>
            </a:endParaRPr>
          </a:p>
        </p:txBody>
      </p:sp>
      <p:sp>
        <p:nvSpPr>
          <p:cNvPr id="240" name="Google Shape;240;p8"/>
          <p:cNvSpPr txBox="1"/>
          <p:nvPr/>
        </p:nvSpPr>
        <p:spPr>
          <a:xfrm>
            <a:off x="82608" y="1010226"/>
            <a:ext cx="4489500" cy="255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最終発表では、</a:t>
            </a:r>
            <a:endParaRPr b="0" i="0" sz="18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　①チーム名の由来</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　②システム構成</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　③アプリデモ（画面共有）</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　④工夫した点</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　⑤苦労した点</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を 1グループ </a:t>
            </a:r>
            <a:r>
              <a:rPr b="0" i="0" lang="ja" sz="1800" u="none" cap="none" strike="noStrike">
                <a:solidFill>
                  <a:schemeClr val="dk1"/>
                </a:solidFill>
                <a:latin typeface="Meiryo"/>
                <a:ea typeface="Meiryo"/>
                <a:cs typeface="Meiryo"/>
                <a:sym typeface="Meiryo"/>
              </a:rPr>
              <a:t>発表</a:t>
            </a:r>
            <a:r>
              <a:rPr b="0" i="0" lang="ja" sz="1800" u="none" cap="none" strike="noStrike">
                <a:solidFill>
                  <a:srgbClr val="C00000"/>
                </a:solidFill>
                <a:latin typeface="Meiryo"/>
                <a:ea typeface="Meiryo"/>
                <a:cs typeface="Meiryo"/>
                <a:sym typeface="Meiryo"/>
              </a:rPr>
              <a:t>5分</a:t>
            </a:r>
            <a:r>
              <a:rPr b="0" i="0" lang="ja" sz="1800" u="none" cap="none" strike="noStrike">
                <a:solidFill>
                  <a:schemeClr val="dk1"/>
                </a:solidFill>
                <a:latin typeface="Meiryo"/>
                <a:ea typeface="Meiryo"/>
                <a:cs typeface="Meiryo"/>
                <a:sym typeface="Meiryo"/>
              </a:rPr>
              <a:t> 質疑応答</a:t>
            </a:r>
            <a:r>
              <a:rPr b="0" i="0" lang="ja" sz="1800" u="none" cap="none" strike="noStrike">
                <a:solidFill>
                  <a:srgbClr val="C00000"/>
                </a:solidFill>
                <a:latin typeface="Meiryo"/>
                <a:ea typeface="Meiryo"/>
                <a:cs typeface="Meiryo"/>
                <a:sym typeface="Meiryo"/>
              </a:rPr>
              <a:t>3分 </a:t>
            </a:r>
            <a:r>
              <a:rPr b="0" i="0" lang="ja" sz="1800" u="none" cap="none" strike="noStrike">
                <a:solidFill>
                  <a:srgbClr val="000000"/>
                </a:solidFill>
                <a:latin typeface="Meiryo"/>
                <a:ea typeface="Meiryo"/>
                <a:cs typeface="Meiryo"/>
                <a:sym typeface="Meiryo"/>
              </a:rPr>
              <a:t>で</a:t>
            </a:r>
            <a:endParaRPr b="0" i="0" sz="18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000000"/>
                </a:solidFill>
                <a:latin typeface="Meiryo"/>
                <a:ea typeface="Meiryo"/>
                <a:cs typeface="Meiryo"/>
                <a:sym typeface="Meiryo"/>
              </a:rPr>
              <a:t>発表していただきます（Miroを使用）。</a:t>
            </a:r>
            <a:endParaRPr b="0" i="0" sz="1800" u="none" cap="none" strike="noStrike">
              <a:solidFill>
                <a:srgbClr val="000000"/>
              </a:solidFill>
              <a:latin typeface="Meiryo"/>
              <a:ea typeface="Meiryo"/>
              <a:cs typeface="Meiryo"/>
              <a:sym typeface="Meiryo"/>
            </a:endParaRPr>
          </a:p>
        </p:txBody>
      </p:sp>
      <p:sp>
        <p:nvSpPr>
          <p:cNvPr id="241" name="Google Shape;241;p8"/>
          <p:cNvSpPr txBox="1"/>
          <p:nvPr/>
        </p:nvSpPr>
        <p:spPr>
          <a:xfrm>
            <a:off x="82001" y="3918875"/>
            <a:ext cx="4489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000000"/>
                </a:solidFill>
                <a:latin typeface="Meiryo"/>
                <a:ea typeface="Meiryo"/>
                <a:cs typeface="Meiryo"/>
                <a:sym typeface="Meiryo"/>
              </a:rPr>
              <a:t>※項目①②④⑤はMiroにメモをしながら、</a:t>
            </a:r>
            <a:endParaRPr b="0" i="0" sz="16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rgbClr val="000000"/>
                </a:solidFill>
                <a:latin typeface="Meiryo"/>
                <a:ea typeface="Meiryo"/>
                <a:cs typeface="Meiryo"/>
                <a:sym typeface="Meiryo"/>
              </a:rPr>
              <a:t>開発を進めてください。</a:t>
            </a:r>
            <a:endParaRPr b="0" i="0" sz="1600" u="none" cap="none" strike="noStrike">
              <a:solidFill>
                <a:srgbClr val="000000"/>
              </a:solidFill>
              <a:latin typeface="Meiryo"/>
              <a:ea typeface="Meiryo"/>
              <a:cs typeface="Meiryo"/>
              <a:sym typeface="Meiryo"/>
            </a:endParaRPr>
          </a:p>
        </p:txBody>
      </p:sp>
      <p:sp>
        <p:nvSpPr>
          <p:cNvPr id="242" name="Google Shape;242;p8"/>
          <p:cNvSpPr txBox="1"/>
          <p:nvPr/>
        </p:nvSpPr>
        <p:spPr>
          <a:xfrm>
            <a:off x="463452" y="27581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最終発表について</a:t>
            </a:r>
            <a:endParaRPr b="0" i="0" sz="1400" u="none" cap="none" strike="noStrike">
              <a:solidFill>
                <a:schemeClr val="dk1"/>
              </a:solidFill>
              <a:latin typeface="Arial"/>
              <a:ea typeface="Arial"/>
              <a:cs typeface="Arial"/>
              <a:sym typeface="Arial"/>
            </a:endParaRPr>
          </a:p>
        </p:txBody>
      </p:sp>
      <p:sp>
        <p:nvSpPr>
          <p:cNvPr id="243" name="Google Shape;243;p8"/>
          <p:cNvSpPr/>
          <p:nvPr/>
        </p:nvSpPr>
        <p:spPr>
          <a:xfrm>
            <a:off x="7078125" y="2157575"/>
            <a:ext cx="1875300" cy="260400"/>
          </a:xfrm>
          <a:prstGeom prst="wedgeRoundRectCallout">
            <a:avLst>
              <a:gd fmla="val -33747" name="adj1"/>
              <a:gd fmla="val 95238" name="adj2"/>
              <a:gd fmla="val 16667" name="adj3"/>
            </a:avLst>
          </a:prstGeom>
          <a:solidFill>
            <a:srgbClr val="FBFED9"/>
          </a:solidFill>
          <a:ln cap="flat" cmpd="sng" w="9525">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ja" sz="800" u="none" cap="none" strike="noStrike">
                <a:solidFill>
                  <a:schemeClr val="dk1"/>
                </a:solidFill>
                <a:latin typeface="Arial"/>
                <a:ea typeface="Arial"/>
                <a:cs typeface="Arial"/>
                <a:sym typeface="Arial"/>
              </a:rPr>
              <a:t>この時間で発表用の資料も作成する</a:t>
            </a:r>
            <a:endParaRPr b="0" i="0" sz="1400" u="none" cap="none" strike="noStrike">
              <a:solidFill>
                <a:srgbClr val="000000"/>
              </a:solidFill>
              <a:latin typeface="Arial"/>
              <a:ea typeface="Arial"/>
              <a:cs typeface="Arial"/>
              <a:sym typeface="Arial"/>
            </a:endParaRPr>
          </a:p>
        </p:txBody>
      </p:sp>
      <p:sp>
        <p:nvSpPr>
          <p:cNvPr id="244" name="Google Shape;244;p8"/>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fld id="{00000000-1234-1234-1234-123412341234}" type="slidenum">
              <a:rPr lang="ja" sz="900">
                <a:latin typeface="Arial"/>
                <a:ea typeface="Arial"/>
                <a:cs typeface="Arial"/>
                <a:sym typeface="Arial"/>
              </a:rPr>
              <a:t>‹#›</a:t>
            </a:fld>
            <a:endParaRPr sz="900">
              <a:latin typeface="Arial"/>
              <a:ea typeface="Arial"/>
              <a:cs typeface="Arial"/>
              <a:sym typeface="Arial"/>
            </a:endParaRPr>
          </a:p>
          <a:p>
            <a:pPr indent="0" lvl="0" marL="0" rtl="0" algn="r">
              <a:lnSpc>
                <a:spcPct val="100000"/>
              </a:lnSpc>
              <a:spcBef>
                <a:spcPts val="0"/>
              </a:spcBef>
              <a:spcAft>
                <a:spcPts val="0"/>
              </a:spcAft>
              <a:buSzPts val="1000"/>
              <a:buNone/>
            </a:pPr>
            <a:r>
              <a:t/>
            </a:r>
            <a:endParaRPr sz="9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txBox="1"/>
          <p:nvPr/>
        </p:nvSpPr>
        <p:spPr>
          <a:xfrm>
            <a:off x="0" y="1155572"/>
            <a:ext cx="9144000" cy="6165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2800"/>
              <a:buFont typeface="Arial"/>
              <a:buNone/>
            </a:pPr>
            <a:r>
              <a:rPr b="0" i="0" lang="ja" sz="2800" u="none" cap="none" strike="noStrike">
                <a:solidFill>
                  <a:schemeClr val="dk1"/>
                </a:solidFill>
                <a:latin typeface="Meiryo"/>
                <a:ea typeface="Meiryo"/>
                <a:cs typeface="Meiryo"/>
                <a:sym typeface="Meiryo"/>
              </a:rPr>
              <a:t>実開発</a:t>
            </a:r>
            <a:endParaRPr b="0" i="0" sz="1400" u="none" cap="none" strike="noStrike">
              <a:solidFill>
                <a:srgbClr val="000000"/>
              </a:solidFill>
              <a:latin typeface="Arial"/>
              <a:ea typeface="Arial"/>
              <a:cs typeface="Arial"/>
              <a:sym typeface="Arial"/>
            </a:endParaRPr>
          </a:p>
        </p:txBody>
      </p:sp>
      <p:sp>
        <p:nvSpPr>
          <p:cNvPr id="250" name="Google Shape;250;p12"/>
          <p:cNvSpPr txBox="1"/>
          <p:nvPr/>
        </p:nvSpPr>
        <p:spPr>
          <a:xfrm>
            <a:off x="1" y="847322"/>
            <a:ext cx="9144000" cy="384900"/>
          </a:xfrm>
          <a:prstGeom prst="rect">
            <a:avLst/>
          </a:prstGeom>
          <a:noFill/>
          <a:ln>
            <a:noFill/>
          </a:ln>
        </p:spPr>
        <p:txBody>
          <a:bodyPr anchorCtr="0" anchor="t" bIns="91425" lIns="90000" spcFirstLastPara="1" rIns="91425" wrap="square" tIns="91425">
            <a:noAutofit/>
          </a:bodyPr>
          <a:lstStyle/>
          <a:p>
            <a:pPr indent="0" lvl="0" marL="0" marR="0" rtl="0" algn="ctr">
              <a:lnSpc>
                <a:spcPct val="115000"/>
              </a:lnSpc>
              <a:spcBef>
                <a:spcPts val="0"/>
              </a:spcBef>
              <a:spcAft>
                <a:spcPts val="1200"/>
              </a:spcAft>
              <a:buClr>
                <a:schemeClr val="dk1"/>
              </a:buClr>
              <a:buSzPts val="1800"/>
              <a:buFont typeface="Arial"/>
              <a:buNone/>
            </a:pPr>
            <a:r>
              <a:rPr b="0" i="0" lang="ja" sz="1800" u="none" cap="none" strike="noStrike">
                <a:solidFill>
                  <a:schemeClr val="dk1"/>
                </a:solidFill>
                <a:latin typeface="Meiryo"/>
                <a:ea typeface="Meiryo"/>
                <a:cs typeface="Meiryo"/>
                <a:sym typeface="Meiryo"/>
              </a:rPr>
              <a:t>Development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4"/>
          <p:cNvSpPr txBox="1"/>
          <p:nvPr/>
        </p:nvSpPr>
        <p:spPr>
          <a:xfrm>
            <a:off x="376084" y="798740"/>
            <a:ext cx="86844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256" name="Google Shape;256;p14"/>
          <p:cNvSpPr txBox="1"/>
          <p:nvPr/>
        </p:nvSpPr>
        <p:spPr>
          <a:xfrm>
            <a:off x="174332" y="782196"/>
            <a:ext cx="86304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アプリ開発にあたっては、以下のレギュレーションを遵守したうえで進めるようお願いします。</a:t>
            </a:r>
            <a:endParaRPr b="0" i="0" sz="1500" u="none" cap="none" strike="noStrike">
              <a:solidFill>
                <a:schemeClr val="dk1"/>
              </a:solidFill>
              <a:latin typeface="Meiryo"/>
              <a:ea typeface="Meiryo"/>
              <a:cs typeface="Meiryo"/>
              <a:sym typeface="Meiryo"/>
            </a:endParaRPr>
          </a:p>
        </p:txBody>
      </p:sp>
      <p:sp>
        <p:nvSpPr>
          <p:cNvPr id="257" name="Google Shape;257;p14"/>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258" name="Google Shape;258;p14"/>
          <p:cNvSpPr/>
          <p:nvPr/>
        </p:nvSpPr>
        <p:spPr>
          <a:xfrm>
            <a:off x="174332" y="1387982"/>
            <a:ext cx="8721600" cy="11838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259" name="Google Shape;259;p14"/>
          <p:cNvSpPr txBox="1"/>
          <p:nvPr/>
        </p:nvSpPr>
        <p:spPr>
          <a:xfrm>
            <a:off x="343250" y="1216500"/>
            <a:ext cx="84063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 提供する画像以外を使用したい場合、提供元の利用規約を遵守してください</a:t>
            </a:r>
            <a:endParaRPr b="0" i="0" sz="1050" u="none" cap="none" strike="noStrike">
              <a:solidFill>
                <a:schemeClr val="dk1"/>
              </a:solidFill>
              <a:latin typeface="Meiryo"/>
              <a:ea typeface="Meiryo"/>
              <a:cs typeface="Meiryo"/>
              <a:sym typeface="Meiryo"/>
            </a:endParaRPr>
          </a:p>
        </p:txBody>
      </p:sp>
      <p:sp>
        <p:nvSpPr>
          <p:cNvPr id="260" name="Google Shape;260;p14"/>
          <p:cNvSpPr txBox="1"/>
          <p:nvPr/>
        </p:nvSpPr>
        <p:spPr>
          <a:xfrm>
            <a:off x="174332" y="1570682"/>
            <a:ext cx="85437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運営側より提供を行いますアイコン・画像（</a:t>
            </a:r>
            <a:r>
              <a:rPr b="0" i="0" lang="ja" sz="1400" u="sng" cap="none" strike="noStrike">
                <a:solidFill>
                  <a:schemeClr val="hlink"/>
                </a:solidFill>
                <a:latin typeface="Meiryo"/>
                <a:ea typeface="Meiryo"/>
                <a:cs typeface="Meiryo"/>
                <a:sym typeface="Meiryo"/>
                <a:hlinkClick r:id="rId3"/>
              </a:rPr>
              <a:t>URL</a:t>
            </a:r>
            <a:r>
              <a:rPr b="0" i="0" lang="ja" sz="1400" u="none" cap="none" strike="noStrike">
                <a:solidFill>
                  <a:schemeClr val="dk1"/>
                </a:solidFill>
                <a:latin typeface="Meiryo"/>
                <a:ea typeface="Meiryo"/>
                <a:cs typeface="Meiryo"/>
                <a:sym typeface="Meiryo"/>
              </a:rPr>
              <a:t>）は、ローカル環境内では自由に使用していただいて</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問題ございません（再配布は不可）。</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また、自作アイコン・画像の使用も問題ございません。</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その他画像の使用については、提供元の利用規約を確認し、使用可否や使用条件を確認してください。</a:t>
            </a:r>
            <a:endParaRPr b="0" i="0" sz="1400" u="none" cap="none" strike="noStrike">
              <a:solidFill>
                <a:schemeClr val="dk1"/>
              </a:solidFill>
              <a:latin typeface="Meiryo"/>
              <a:ea typeface="Meiryo"/>
              <a:cs typeface="Meiryo"/>
              <a:sym typeface="Meiryo"/>
            </a:endParaRPr>
          </a:p>
        </p:txBody>
      </p:sp>
      <p:sp>
        <p:nvSpPr>
          <p:cNvPr id="261" name="Google Shape;261;p14"/>
          <p:cNvSpPr txBox="1"/>
          <p:nvPr/>
        </p:nvSpPr>
        <p:spPr>
          <a:xfrm>
            <a:off x="471677" y="262964"/>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レギュレーション（1/2）</a:t>
            </a:r>
            <a:endParaRPr b="0" i="0" sz="1400" u="none" cap="none" strike="noStrike">
              <a:solidFill>
                <a:schemeClr val="dk1"/>
              </a:solidFill>
              <a:latin typeface="Arial"/>
              <a:ea typeface="Arial"/>
              <a:cs typeface="Arial"/>
              <a:sym typeface="Arial"/>
            </a:endParaRPr>
          </a:p>
        </p:txBody>
      </p:sp>
      <p:sp>
        <p:nvSpPr>
          <p:cNvPr id="262" name="Google Shape;262;p14"/>
          <p:cNvSpPr/>
          <p:nvPr/>
        </p:nvSpPr>
        <p:spPr>
          <a:xfrm>
            <a:off x="174325" y="3047625"/>
            <a:ext cx="8721600" cy="963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263" name="Google Shape;263;p14"/>
          <p:cNvSpPr txBox="1"/>
          <p:nvPr/>
        </p:nvSpPr>
        <p:spPr>
          <a:xfrm>
            <a:off x="291639" y="3176240"/>
            <a:ext cx="8103300" cy="81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ソースコードをどのように管理するかはお任せします。</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C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ただし、GitHubなど外部サービスを利用する場合、</a:t>
            </a:r>
            <a:r>
              <a:rPr b="0" i="0" lang="ja" sz="1400" u="none" cap="none" strike="noStrike">
                <a:solidFill>
                  <a:srgbClr val="FF0000"/>
                </a:solidFill>
                <a:latin typeface="Meiryo"/>
                <a:ea typeface="Meiryo"/>
                <a:cs typeface="Meiryo"/>
                <a:sym typeface="Meiryo"/>
              </a:rPr>
              <a:t>当社との関わりが分かるような情報を含むことがないよう</a:t>
            </a:r>
            <a:r>
              <a:rPr b="0" i="0" lang="ja" sz="1400" u="none" cap="none" strike="noStrike">
                <a:solidFill>
                  <a:schemeClr val="dk1"/>
                </a:solidFill>
                <a:latin typeface="Meiryo"/>
                <a:ea typeface="Meiryo"/>
                <a:cs typeface="Meiryo"/>
                <a:sym typeface="Meiryo"/>
              </a:rPr>
              <a:t>にお願いします（リポジトリ名を「MUIT_Intern」などにしない等）。</a:t>
            </a:r>
            <a:endParaRPr b="0" i="0" sz="1400" u="none" cap="none" strike="noStrike">
              <a:solidFill>
                <a:srgbClr val="000000"/>
              </a:solidFill>
              <a:latin typeface="Meiryo"/>
              <a:ea typeface="Meiryo"/>
              <a:cs typeface="Meiryo"/>
              <a:sym typeface="Meiryo"/>
            </a:endParaRPr>
          </a:p>
        </p:txBody>
      </p:sp>
      <p:sp>
        <p:nvSpPr>
          <p:cNvPr id="264" name="Google Shape;264;p14"/>
          <p:cNvSpPr txBox="1"/>
          <p:nvPr/>
        </p:nvSpPr>
        <p:spPr>
          <a:xfrm>
            <a:off x="376075" y="2854450"/>
            <a:ext cx="70368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 ソースコード管理の方法はチームで話し合って決めてください</a:t>
            </a:r>
            <a:endParaRPr b="0" i="0" sz="1050" u="none" cap="none" strike="noStrike">
              <a:solidFill>
                <a:schemeClr val="dk1"/>
              </a:solidFill>
              <a:latin typeface="Meiryo"/>
              <a:ea typeface="Meiryo"/>
              <a:cs typeface="Meiryo"/>
              <a:sym typeface="Meiry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e56551be6e_0_22"/>
          <p:cNvSpPr txBox="1"/>
          <p:nvPr/>
        </p:nvSpPr>
        <p:spPr>
          <a:xfrm>
            <a:off x="376084" y="798740"/>
            <a:ext cx="86844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270" name="Google Shape;270;g2e56551be6e_0_22"/>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271" name="Google Shape;271;g2e56551be6e_0_22"/>
          <p:cNvSpPr/>
          <p:nvPr/>
        </p:nvSpPr>
        <p:spPr>
          <a:xfrm>
            <a:off x="174332" y="1083182"/>
            <a:ext cx="8721600" cy="11838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272" name="Google Shape;272;g2e56551be6e_0_22"/>
          <p:cNvSpPr txBox="1"/>
          <p:nvPr/>
        </p:nvSpPr>
        <p:spPr>
          <a:xfrm>
            <a:off x="375251" y="934410"/>
            <a:ext cx="82041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ja" sz="1800" u="none" cap="none" strike="noStrike">
                <a:solidFill>
                  <a:schemeClr val="dk1"/>
                </a:solidFill>
                <a:latin typeface="Meiryo"/>
                <a:ea typeface="Meiryo"/>
                <a:cs typeface="Meiryo"/>
                <a:sym typeface="Meiryo"/>
              </a:rPr>
              <a:t>(3)</a:t>
            </a:r>
            <a:r>
              <a:rPr b="0" i="0" lang="ja" sz="1800" u="none" cap="none" strike="noStrike">
                <a:solidFill>
                  <a:srgbClr val="FF0000"/>
                </a:solidFill>
                <a:latin typeface="Meiryo"/>
                <a:ea typeface="Meiryo"/>
                <a:cs typeface="Meiryo"/>
                <a:sym typeface="Meiryo"/>
              </a:rPr>
              <a:t>ネイティブアプリではなく、ブラウザアプリでも可です</a:t>
            </a:r>
            <a:endParaRPr b="0" i="0" sz="1050" u="none" cap="none" strike="noStrike">
              <a:solidFill>
                <a:schemeClr val="dk1"/>
              </a:solidFill>
              <a:latin typeface="Meiryo"/>
              <a:ea typeface="Meiryo"/>
              <a:cs typeface="Meiryo"/>
              <a:sym typeface="Meiryo"/>
            </a:endParaRPr>
          </a:p>
        </p:txBody>
      </p:sp>
      <p:sp>
        <p:nvSpPr>
          <p:cNvPr id="273" name="Google Shape;273;g2e56551be6e_0_22"/>
          <p:cNvSpPr txBox="1"/>
          <p:nvPr/>
        </p:nvSpPr>
        <p:spPr>
          <a:xfrm>
            <a:off x="174332" y="1265882"/>
            <a:ext cx="85437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ja" sz="1400" u="none" cap="none" strike="noStrike">
                <a:solidFill>
                  <a:schemeClr val="dk1"/>
                </a:solidFill>
                <a:latin typeface="Meiryo"/>
                <a:ea typeface="Meiryo"/>
                <a:cs typeface="Meiryo"/>
                <a:sym typeface="Meiryo"/>
              </a:rPr>
              <a:t>以下の操作でWeb画面をスマホ画面のように表示することができます。</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chemeClr val="dk1"/>
              </a:buClr>
              <a:buSzPts val="1400"/>
              <a:buFont typeface="Arial"/>
              <a:buNone/>
            </a:pPr>
            <a:r>
              <a:rPr b="0" i="0" lang="ja" sz="1400" u="none" cap="none" strike="noStrike">
                <a:solidFill>
                  <a:schemeClr val="dk1"/>
                </a:solidFill>
                <a:latin typeface="Meiryo"/>
                <a:ea typeface="Meiryo"/>
                <a:cs typeface="Meiryo"/>
                <a:sym typeface="Meiryo"/>
              </a:rPr>
              <a:t>Chromeウィンドウ右上の「3点リーダ」⇨ 「その他のツール」⇨ 「デベロッパーツール」⇨</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chemeClr val="dk1"/>
              </a:buClr>
              <a:buSzPts val="800"/>
              <a:buFont typeface="Arial"/>
              <a:buNone/>
            </a:pPr>
            <a:r>
              <a:t/>
            </a:r>
            <a:endParaRPr b="0" i="0" sz="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chemeClr val="dk1"/>
              </a:buClr>
              <a:buSzPts val="1400"/>
              <a:buFont typeface="Arial"/>
              <a:buNone/>
            </a:pPr>
            <a:r>
              <a:rPr b="0" i="0" lang="ja" sz="1400" u="none" cap="none" strike="noStrike">
                <a:solidFill>
                  <a:schemeClr val="dk1"/>
                </a:solidFill>
                <a:latin typeface="Meiryo"/>
                <a:ea typeface="Meiryo"/>
                <a:cs typeface="Meiryo"/>
                <a:sym typeface="Meiryo"/>
              </a:rPr>
              <a:t>右上のここのマークをクリック（青色になればOK）</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p:txBody>
      </p:sp>
      <p:sp>
        <p:nvSpPr>
          <p:cNvPr id="274" name="Google Shape;274;g2e56551be6e_0_22"/>
          <p:cNvSpPr txBox="1"/>
          <p:nvPr/>
        </p:nvSpPr>
        <p:spPr>
          <a:xfrm>
            <a:off x="465150" y="271839"/>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レギュレーション（2/2）</a:t>
            </a:r>
            <a:endParaRPr b="0" i="0" sz="1400" u="none" cap="none" strike="noStrike">
              <a:solidFill>
                <a:schemeClr val="dk1"/>
              </a:solidFill>
              <a:latin typeface="Arial"/>
              <a:ea typeface="Arial"/>
              <a:cs typeface="Arial"/>
              <a:sym typeface="Arial"/>
            </a:endParaRPr>
          </a:p>
        </p:txBody>
      </p:sp>
      <p:sp>
        <p:nvSpPr>
          <p:cNvPr id="275" name="Google Shape;275;g2e56551be6e_0_22"/>
          <p:cNvSpPr/>
          <p:nvPr/>
        </p:nvSpPr>
        <p:spPr>
          <a:xfrm>
            <a:off x="174325" y="2819025"/>
            <a:ext cx="8721600" cy="963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276" name="Google Shape;276;g2e56551be6e_0_22"/>
          <p:cNvSpPr txBox="1"/>
          <p:nvPr/>
        </p:nvSpPr>
        <p:spPr>
          <a:xfrm>
            <a:off x="291639" y="3023840"/>
            <a:ext cx="8103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ja" sz="1400" u="none" cap="none" strike="noStrike">
                <a:solidFill>
                  <a:schemeClr val="dk1"/>
                </a:solidFill>
                <a:latin typeface="Meiryo"/>
                <a:ea typeface="Meiryo"/>
                <a:cs typeface="Meiryo"/>
                <a:sym typeface="Meiryo"/>
              </a:rPr>
              <a:t>開発にあたって、CSSフレームワーク（tailwind）や、Redux-Toolkit (React使用の場合)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chemeClr val="dk1"/>
              </a:buClr>
              <a:buSzPts val="1400"/>
              <a:buFont typeface="Arial"/>
              <a:buNone/>
            </a:pPr>
            <a:r>
              <a:rPr b="0" i="0" lang="ja" sz="1400" u="none" cap="none" strike="noStrike">
                <a:solidFill>
                  <a:schemeClr val="dk1"/>
                </a:solidFill>
                <a:latin typeface="Meiryo"/>
                <a:ea typeface="Meiryo"/>
                <a:cs typeface="Meiryo"/>
                <a:sym typeface="Meiryo"/>
              </a:rPr>
              <a:t>ChatGPTなど、便利なライブラリやサービスなどは利用いただいて問題ございません。</a:t>
            </a:r>
            <a:endParaRPr b="0" i="0" sz="1400" u="none" cap="none" strike="noStrike">
              <a:solidFill>
                <a:schemeClr val="dk1"/>
              </a:solidFill>
              <a:latin typeface="Meiryo"/>
              <a:ea typeface="Meiryo"/>
              <a:cs typeface="Meiryo"/>
              <a:sym typeface="Meiryo"/>
            </a:endParaRPr>
          </a:p>
        </p:txBody>
      </p:sp>
      <p:sp>
        <p:nvSpPr>
          <p:cNvPr id="277" name="Google Shape;277;g2e56551be6e_0_22"/>
          <p:cNvSpPr txBox="1"/>
          <p:nvPr/>
        </p:nvSpPr>
        <p:spPr>
          <a:xfrm>
            <a:off x="375225" y="2639375"/>
            <a:ext cx="84075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(4) 開発をより便利・簡単にするサービスは利用いただいて問題ございません</a:t>
            </a:r>
            <a:endParaRPr b="0" i="0" sz="1800" u="none" cap="none" strike="noStrike">
              <a:solidFill>
                <a:schemeClr val="dk1"/>
              </a:solidFill>
              <a:latin typeface="Meiryo"/>
              <a:ea typeface="Meiryo"/>
              <a:cs typeface="Meiryo"/>
              <a:sym typeface="Meiryo"/>
            </a:endParaRPr>
          </a:p>
        </p:txBody>
      </p:sp>
      <p:pic>
        <p:nvPicPr>
          <p:cNvPr id="278" name="Google Shape;278;g2e56551be6e_0_22"/>
          <p:cNvPicPr preferRelativeResize="0"/>
          <p:nvPr/>
        </p:nvPicPr>
        <p:blipFill rotWithShape="1">
          <a:blip r:embed="rId3">
            <a:alphaModFix/>
          </a:blip>
          <a:srcRect b="0" l="0" r="0" t="0"/>
          <a:stretch/>
        </p:blipFill>
        <p:spPr>
          <a:xfrm>
            <a:off x="4512862" y="1840740"/>
            <a:ext cx="4269861" cy="365040"/>
          </a:xfrm>
          <a:prstGeom prst="rect">
            <a:avLst/>
          </a:prstGeom>
          <a:noFill/>
          <a:ln>
            <a:noFill/>
          </a:ln>
        </p:spPr>
      </p:pic>
      <p:cxnSp>
        <p:nvCxnSpPr>
          <p:cNvPr id="279" name="Google Shape;279;g2e56551be6e_0_22"/>
          <p:cNvCxnSpPr/>
          <p:nvPr/>
        </p:nvCxnSpPr>
        <p:spPr>
          <a:xfrm rot="10800000">
            <a:off x="779500" y="2113575"/>
            <a:ext cx="387900" cy="0"/>
          </a:xfrm>
          <a:prstGeom prst="straightConnector1">
            <a:avLst/>
          </a:prstGeom>
          <a:noFill/>
          <a:ln cap="flat" cmpd="sng" w="12700">
            <a:solidFill>
              <a:srgbClr val="FF0000"/>
            </a:solidFill>
            <a:prstDash val="solid"/>
            <a:round/>
            <a:headEnd len="sm" w="sm" type="none"/>
            <a:tailEnd len="sm" w="sm" type="none"/>
          </a:ln>
        </p:spPr>
      </p:cxnSp>
      <p:cxnSp>
        <p:nvCxnSpPr>
          <p:cNvPr id="280" name="Google Shape;280;g2e56551be6e_0_22"/>
          <p:cNvCxnSpPr>
            <a:endCxn id="281" idx="2"/>
          </p:cNvCxnSpPr>
          <p:nvPr/>
        </p:nvCxnSpPr>
        <p:spPr>
          <a:xfrm>
            <a:off x="960575" y="2115096"/>
            <a:ext cx="4092300" cy="55200"/>
          </a:xfrm>
          <a:prstGeom prst="bentConnector4">
            <a:avLst>
              <a:gd fmla="val 633" name="adj1"/>
              <a:gd fmla="val 531386" name="adj2"/>
            </a:avLst>
          </a:prstGeom>
          <a:noFill/>
          <a:ln cap="flat" cmpd="sng" w="12700">
            <a:solidFill>
              <a:srgbClr val="FF0000"/>
            </a:solidFill>
            <a:prstDash val="solid"/>
            <a:round/>
            <a:headEnd len="sm" w="sm" type="none"/>
            <a:tailEnd len="med" w="med" type="triangle"/>
          </a:ln>
        </p:spPr>
      </p:cxnSp>
      <p:sp>
        <p:nvSpPr>
          <p:cNvPr id="281" name="Google Shape;281;g2e56551be6e_0_22"/>
          <p:cNvSpPr/>
          <p:nvPr/>
        </p:nvSpPr>
        <p:spPr>
          <a:xfrm>
            <a:off x="4880525" y="1917396"/>
            <a:ext cx="344700" cy="252900"/>
          </a:xfrm>
          <a:prstGeom prst="rect">
            <a:avLst/>
          </a:prstGeom>
          <a:no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6"/>
          <p:cNvSpPr/>
          <p:nvPr/>
        </p:nvSpPr>
        <p:spPr>
          <a:xfrm>
            <a:off x="124250" y="923150"/>
            <a:ext cx="45963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rPr b="0" i="0" lang="ja" sz="1013" u="none" cap="none" strike="noStrike">
                <a:solidFill>
                  <a:schemeClr val="lt1"/>
                </a:solidFill>
                <a:latin typeface="Meiryo"/>
                <a:ea typeface="Meiryo"/>
                <a:cs typeface="Meiryo"/>
                <a:sym typeface="Meiryo"/>
              </a:rPr>
              <a:t>Zz</a:t>
            </a:r>
            <a:endParaRPr b="0" i="0" sz="1013" u="none" cap="none" strike="noStrike">
              <a:solidFill>
                <a:schemeClr val="lt1"/>
              </a:solidFill>
              <a:latin typeface="Meiryo"/>
              <a:ea typeface="Meiryo"/>
              <a:cs typeface="Meiryo"/>
              <a:sym typeface="Meiryo"/>
            </a:endParaRPr>
          </a:p>
        </p:txBody>
      </p:sp>
      <p:sp>
        <p:nvSpPr>
          <p:cNvPr id="287" name="Google Shape;287;p16"/>
          <p:cNvSpPr/>
          <p:nvPr/>
        </p:nvSpPr>
        <p:spPr>
          <a:xfrm>
            <a:off x="4878150" y="923225"/>
            <a:ext cx="40908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 チャットまたはテキスト メッセージ&#10;&#10;自動的に生成された説明" id="288" name="Google Shape;288;p16"/>
          <p:cNvPicPr preferRelativeResize="0"/>
          <p:nvPr/>
        </p:nvPicPr>
        <p:blipFill rotWithShape="1">
          <a:blip r:embed="rId3">
            <a:alphaModFix/>
          </a:blip>
          <a:srcRect b="0" l="0" r="0" t="0"/>
          <a:stretch/>
        </p:blipFill>
        <p:spPr>
          <a:xfrm>
            <a:off x="6137675" y="1852401"/>
            <a:ext cx="1260900" cy="2616048"/>
          </a:xfrm>
          <a:prstGeom prst="rect">
            <a:avLst/>
          </a:prstGeom>
          <a:noFill/>
          <a:ln>
            <a:noFill/>
          </a:ln>
        </p:spPr>
      </p:pic>
      <p:sp>
        <p:nvSpPr>
          <p:cNvPr id="289" name="Google Shape;289;p16"/>
          <p:cNvSpPr txBox="1"/>
          <p:nvPr/>
        </p:nvSpPr>
        <p:spPr>
          <a:xfrm>
            <a:off x="302110" y="471406"/>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290" name="Google Shape;290;p16"/>
          <p:cNvSpPr txBox="1"/>
          <p:nvPr/>
        </p:nvSpPr>
        <p:spPr>
          <a:xfrm>
            <a:off x="354664" y="1319590"/>
            <a:ext cx="3885300" cy="278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rgbClr val="E60000"/>
                </a:solidFill>
                <a:latin typeface="Meiryo"/>
                <a:ea typeface="Meiryo"/>
                <a:cs typeface="Meiryo"/>
                <a:sym typeface="Meiryo"/>
              </a:rPr>
              <a:t> </a:t>
            </a:r>
            <a:endParaRPr b="0" i="0" sz="1013" u="none" cap="none" strike="noStrike">
              <a:solidFill>
                <a:srgbClr val="E6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13"/>
              <a:buFont typeface="Arial"/>
              <a:buNone/>
            </a:pPr>
            <a:r>
              <a:rPr b="0" i="0" lang="ja" sz="1013" u="none" cap="none" strike="noStrike">
                <a:solidFill>
                  <a:srgbClr val="E60000"/>
                </a:solidFill>
                <a:latin typeface="Meiryo"/>
                <a:ea typeface="Meiryo"/>
                <a:cs typeface="Meiryo"/>
                <a:sym typeface="Meiryo"/>
              </a:rPr>
              <a:t>　</a:t>
            </a:r>
            <a:r>
              <a:rPr b="0" i="0" lang="ja" sz="1600" u="none" cap="none" strike="noStrike">
                <a:solidFill>
                  <a:schemeClr val="dk1"/>
                </a:solidFill>
                <a:latin typeface="Meiryo"/>
                <a:ea typeface="Meiryo"/>
                <a:cs typeface="Meiryo"/>
                <a:sym typeface="Meiryo"/>
              </a:rPr>
              <a:t>下記を表示する</a:t>
            </a:r>
            <a:r>
              <a:rPr b="0" i="0" lang="ja" sz="1600" u="none" cap="none" strike="noStrike">
                <a:solidFill>
                  <a:srgbClr val="FF0000"/>
                </a:solidFill>
                <a:latin typeface="Meiryo"/>
                <a:ea typeface="Meiryo"/>
                <a:cs typeface="Meiryo"/>
                <a:sym typeface="Meiryo"/>
              </a:rPr>
              <a:t>アプリのトップ画面</a:t>
            </a:r>
            <a:r>
              <a:rPr b="0" i="0" lang="ja" sz="1600" u="none" cap="none" strike="noStrike">
                <a:solidFill>
                  <a:schemeClr val="dk1"/>
                </a:solidFill>
                <a:latin typeface="Meiryo"/>
                <a:ea typeface="Meiryo"/>
                <a:cs typeface="Meiryo"/>
                <a:sym typeface="Meiryo"/>
              </a:rPr>
              <a:t>を</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実装してください。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①ユーザアイコン</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②口座番号</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③ユーザ名</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　　　④預金残高</a:t>
            </a:r>
            <a:endParaRPr b="0" i="0" sz="1600" u="none" cap="none" strike="noStrike">
              <a:solidFill>
                <a:schemeClr val="dk1"/>
              </a:solidFill>
              <a:latin typeface="Meiryo"/>
              <a:ea typeface="Meiryo"/>
              <a:cs typeface="Meiryo"/>
              <a:sym typeface="Meiryo"/>
            </a:endParaRPr>
          </a:p>
        </p:txBody>
      </p:sp>
      <p:sp>
        <p:nvSpPr>
          <p:cNvPr id="291" name="Google Shape;291;p16"/>
          <p:cNvSpPr/>
          <p:nvPr/>
        </p:nvSpPr>
        <p:spPr>
          <a:xfrm>
            <a:off x="6137676" y="1786262"/>
            <a:ext cx="1260900" cy="27147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rPr b="0" i="0" lang="ja" sz="1013" u="none" cap="none" strike="noStrike">
                <a:solidFill>
                  <a:schemeClr val="lt1"/>
                </a:solidFill>
                <a:latin typeface="Meiryo"/>
                <a:ea typeface="Meiryo"/>
                <a:cs typeface="Meiryo"/>
                <a:sym typeface="Meiryo"/>
              </a:rPr>
              <a:t>C</a:t>
            </a:r>
            <a:endParaRPr b="0" i="0" sz="1013" u="none" cap="none" strike="noStrike">
              <a:solidFill>
                <a:schemeClr val="lt1"/>
              </a:solidFill>
              <a:latin typeface="Meiryo"/>
              <a:ea typeface="Meiryo"/>
              <a:cs typeface="Meiryo"/>
              <a:sym typeface="Meiryo"/>
            </a:endParaRPr>
          </a:p>
        </p:txBody>
      </p:sp>
      <p:grpSp>
        <p:nvGrpSpPr>
          <p:cNvPr id="292" name="Google Shape;292;p16"/>
          <p:cNvGrpSpPr/>
          <p:nvPr/>
        </p:nvGrpSpPr>
        <p:grpSpPr>
          <a:xfrm>
            <a:off x="7551312" y="1786256"/>
            <a:ext cx="734850" cy="430200"/>
            <a:chOff x="9287189" y="1016473"/>
            <a:chExt cx="979800" cy="573600"/>
          </a:xfrm>
        </p:grpSpPr>
        <p:sp>
          <p:nvSpPr>
            <p:cNvPr id="293" name="Google Shape;293;p16"/>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294" name="Google Shape;294;p16"/>
            <p:cNvSpPr txBox="1"/>
            <p:nvPr/>
          </p:nvSpPr>
          <p:spPr>
            <a:xfrm>
              <a:off x="9442660" y="1162042"/>
              <a:ext cx="7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lt1"/>
                  </a:solidFill>
                  <a:latin typeface="Meiryo"/>
                  <a:ea typeface="Meiryo"/>
                  <a:cs typeface="Meiryo"/>
                  <a:sym typeface="Meiryo"/>
                </a:rPr>
                <a:t>NEW</a:t>
              </a:r>
              <a:endParaRPr b="0" i="0" sz="1200" u="none" cap="none" strike="noStrike">
                <a:solidFill>
                  <a:schemeClr val="lt1"/>
                </a:solidFill>
                <a:latin typeface="Meiryo"/>
                <a:ea typeface="Meiryo"/>
                <a:cs typeface="Meiryo"/>
                <a:sym typeface="Meiryo"/>
              </a:endParaRPr>
            </a:p>
          </p:txBody>
        </p:sp>
      </p:grpSp>
      <p:sp>
        <p:nvSpPr>
          <p:cNvPr id="295" name="Google Shape;295;p16"/>
          <p:cNvSpPr txBox="1"/>
          <p:nvPr/>
        </p:nvSpPr>
        <p:spPr>
          <a:xfrm>
            <a:off x="4816350" y="1188075"/>
            <a:ext cx="43278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
        <p:nvSpPr>
          <p:cNvPr id="296" name="Google Shape;296;p16"/>
          <p:cNvSpPr txBox="1"/>
          <p:nvPr/>
        </p:nvSpPr>
        <p:spPr>
          <a:xfrm>
            <a:off x="386253" y="78266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（1）ステップ1のゴール</a:t>
            </a:r>
            <a:endParaRPr b="0" i="0" sz="1050" u="none" cap="none" strike="noStrike">
              <a:solidFill>
                <a:schemeClr val="dk1"/>
              </a:solidFill>
              <a:latin typeface="Meiryo"/>
              <a:ea typeface="Meiryo"/>
              <a:cs typeface="Meiryo"/>
              <a:sym typeface="Meiryo"/>
            </a:endParaRPr>
          </a:p>
        </p:txBody>
      </p:sp>
      <p:sp>
        <p:nvSpPr>
          <p:cNvPr id="297" name="Google Shape;297;p16"/>
          <p:cNvSpPr txBox="1"/>
          <p:nvPr/>
        </p:nvSpPr>
        <p:spPr>
          <a:xfrm>
            <a:off x="5070377" y="78266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298" name="Google Shape;298;p16"/>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299" name="Google Shape;299;p16"/>
          <p:cNvSpPr txBox="1"/>
          <p:nvPr/>
        </p:nvSpPr>
        <p:spPr>
          <a:xfrm>
            <a:off x="418850" y="275786"/>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ステップ1 : ユーザ情報の表示を行う画面の実装</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7"/>
          <p:cNvSpPr txBox="1"/>
          <p:nvPr/>
        </p:nvSpPr>
        <p:spPr>
          <a:xfrm>
            <a:off x="83541" y="114300"/>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lt1"/>
              </a:solidFill>
              <a:latin typeface="Meiryo"/>
              <a:ea typeface="Meiryo"/>
              <a:cs typeface="Meiryo"/>
              <a:sym typeface="Meiryo"/>
            </a:endParaRPr>
          </a:p>
        </p:txBody>
      </p:sp>
      <p:graphicFrame>
        <p:nvGraphicFramePr>
          <p:cNvPr id="305" name="Google Shape;305;p17"/>
          <p:cNvGraphicFramePr/>
          <p:nvPr/>
        </p:nvGraphicFramePr>
        <p:xfrm>
          <a:off x="814993" y="1897302"/>
          <a:ext cx="3000000" cy="3000000"/>
        </p:xfrm>
        <a:graphic>
          <a:graphicData uri="http://schemas.openxmlformats.org/drawingml/2006/table">
            <a:tbl>
              <a:tblPr>
                <a:noFill/>
                <a:tableStyleId>{DCB4C225-7969-4F9A-B681-CAE03884277C}</a:tableStyleId>
              </a:tblPr>
              <a:tblGrid>
                <a:gridCol w="396925"/>
                <a:gridCol w="1175175"/>
                <a:gridCol w="5561750"/>
              </a:tblGrid>
              <a:tr h="197825">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nchor="ctr">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nchor="ctr">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nchor="ctr">
                    <a:solidFill>
                      <a:srgbClr val="E60000"/>
                    </a:solidFill>
                  </a:tcPr>
                </a:tc>
              </a:tr>
              <a:tr h="197825">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nchor="ctr">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4人（全員）</a:t>
                      </a:r>
                      <a:endParaRPr sz="1600" u="none" cap="none" strike="noStrike"/>
                    </a:p>
                  </a:txBody>
                  <a:tcPr marT="34300" marB="34300" marR="68575" marL="68575" anchor="ctr">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口座番号を表示する</a:t>
                      </a:r>
                      <a:endParaRPr sz="1600" u="none" cap="none" strike="noStrike"/>
                    </a:p>
                  </a:txBody>
                  <a:tcPr marT="34300" marB="34300" marR="68575" marL="68575" anchor="ctr">
                    <a:solidFill>
                      <a:srgbClr val="5A5A5A">
                        <a:alpha val="8235"/>
                      </a:srgbClr>
                    </a:solidFill>
                  </a:tcPr>
                </a:tc>
              </a:tr>
              <a:tr h="197825">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nchor="ctr">
                    <a:solidFill>
                      <a:srgbClr val="5A5A5A">
                        <a:alpha val="22745"/>
                      </a:srgbClr>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4人（全員）</a:t>
                      </a:r>
                      <a:endParaRPr sz="1600" u="none" cap="none" strike="noStrike"/>
                    </a:p>
                  </a:txBody>
                  <a:tcPr marT="34300" marB="34300" marR="68575" marL="68575" anchor="ctr">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氏名を表示する</a:t>
                      </a:r>
                      <a:endParaRPr b="0" i="0" sz="1400" u="none" cap="none" strike="noStrike">
                        <a:latin typeface="Meiryo"/>
                        <a:ea typeface="Meiryo"/>
                        <a:cs typeface="Meiryo"/>
                        <a:sym typeface="Meiryo"/>
                      </a:endParaRPr>
                    </a:p>
                  </a:txBody>
                  <a:tcPr marT="34300" marB="34300" marR="68575" marL="68575" anchor="ctr">
                    <a:solidFill>
                      <a:srgbClr val="5A5A5A">
                        <a:alpha val="22745"/>
                      </a:srgbClr>
                    </a:solidFill>
                  </a:tcPr>
                </a:tc>
              </a:tr>
              <a:tr h="197825">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3</a:t>
                      </a:r>
                      <a:endParaRPr b="0" i="0" sz="1400" u="none" cap="none" strike="noStrike">
                        <a:latin typeface="Meiryo"/>
                        <a:ea typeface="Meiryo"/>
                        <a:cs typeface="Meiryo"/>
                        <a:sym typeface="Meiryo"/>
                      </a:endParaRPr>
                    </a:p>
                  </a:txBody>
                  <a:tcPr marT="34300" marB="34300" marR="68575" marL="68575" anchor="ctr">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4人（全員）</a:t>
                      </a:r>
                      <a:endParaRPr sz="1600" u="none" cap="none" strike="noStrike"/>
                    </a:p>
                  </a:txBody>
                  <a:tcPr marT="34300" marB="34300" marR="68575" marL="68575" anchor="ctr">
                    <a:solidFill>
                      <a:srgbClr val="F2F2F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ユーザアイコンを表示する</a:t>
                      </a:r>
                      <a:endParaRPr sz="1600" u="none" cap="none" strike="noStrike"/>
                    </a:p>
                  </a:txBody>
                  <a:tcPr marT="34300" marB="34300" marR="68575" marL="68575" anchor="ctr">
                    <a:solidFill>
                      <a:srgbClr val="F2F2F2"/>
                    </a:solidFill>
                  </a:tcPr>
                </a:tc>
              </a:tr>
              <a:tr h="197825">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a:t>
                      </a:r>
                      <a:endParaRPr b="0" i="0" sz="1400" u="none" cap="none" strike="noStrike">
                        <a:latin typeface="Meiryo"/>
                        <a:ea typeface="Meiryo"/>
                        <a:cs typeface="Meiryo"/>
                        <a:sym typeface="Meiryo"/>
                      </a:endParaRPr>
                    </a:p>
                  </a:txBody>
                  <a:tcPr marT="34300" marB="34300" marR="68575" marL="68575" anchor="ctr">
                    <a:solidFill>
                      <a:srgbClr val="D8D8D8"/>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4人（全員）</a:t>
                      </a:r>
                      <a:endParaRPr sz="1600" u="none" cap="none" strike="noStrike"/>
                    </a:p>
                  </a:txBody>
                  <a:tcPr marT="34300" marB="34300" marR="68575" marL="68575" anchor="ctr">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残高を表示する</a:t>
                      </a:r>
                      <a:endParaRPr b="0" i="0" sz="1400" u="none" cap="none" strike="noStrike">
                        <a:latin typeface="Meiryo"/>
                        <a:ea typeface="Meiryo"/>
                        <a:cs typeface="Meiryo"/>
                        <a:sym typeface="Meiryo"/>
                      </a:endParaRPr>
                    </a:p>
                  </a:txBody>
                  <a:tcPr marT="34300" marB="34300" marR="68575" marL="68575" anchor="ctr">
                    <a:solidFill>
                      <a:srgbClr val="D8D8D8"/>
                    </a:solidFill>
                  </a:tcPr>
                </a:tc>
              </a:tr>
              <a:tr h="197825">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5</a:t>
                      </a:r>
                      <a:endParaRPr b="0" i="0" sz="1400" u="none" cap="none" strike="noStrike">
                        <a:latin typeface="Meiryo"/>
                        <a:ea typeface="Meiryo"/>
                        <a:cs typeface="Meiryo"/>
                        <a:sym typeface="Meiryo"/>
                      </a:endParaRPr>
                    </a:p>
                  </a:txBody>
                  <a:tcPr marT="34300" marB="34300" marR="68575" marL="68575" anchor="ctr">
                    <a:solidFill>
                      <a:srgbClr val="5A5A5A">
                        <a:alpha val="8235"/>
                      </a:srgbClr>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nchor="ctr">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タイムキーパー</a:t>
                      </a:r>
                      <a:endParaRPr sz="1600" u="none" cap="none" strike="noStrike"/>
                    </a:p>
                  </a:txBody>
                  <a:tcPr marT="34300" marB="34300" marR="68575" marL="68575" anchor="ctr">
                    <a:solidFill>
                      <a:srgbClr val="5A5A5A">
                        <a:alpha val="8235"/>
                      </a:srgbClr>
                    </a:solidFill>
                  </a:tcPr>
                </a:tc>
              </a:tr>
            </a:tbl>
          </a:graphicData>
        </a:graphic>
      </p:graphicFrame>
      <p:sp>
        <p:nvSpPr>
          <p:cNvPr id="306" name="Google Shape;306;p17"/>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
        <p:nvSpPr>
          <p:cNvPr id="307" name="Google Shape;307;p17"/>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308" name="Google Shape;308;p17"/>
          <p:cNvSpPr txBox="1"/>
          <p:nvPr/>
        </p:nvSpPr>
        <p:spPr>
          <a:xfrm>
            <a:off x="418850" y="283510"/>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ステップ1 : ユーザ情報の表示を行う画面の実装</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8"/>
          <p:cNvSpPr/>
          <p:nvPr/>
        </p:nvSpPr>
        <p:spPr>
          <a:xfrm>
            <a:off x="156650" y="981499"/>
            <a:ext cx="46341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 チャットまたはテキスト メッセージ&#10;&#10;自動的に生成された説明" id="314" name="Google Shape;314;p18"/>
          <p:cNvPicPr preferRelativeResize="0"/>
          <p:nvPr/>
        </p:nvPicPr>
        <p:blipFill rotWithShape="1">
          <a:blip r:embed="rId3">
            <a:alphaModFix/>
          </a:blip>
          <a:srcRect b="0" l="0" r="0" t="0"/>
          <a:stretch/>
        </p:blipFill>
        <p:spPr>
          <a:xfrm>
            <a:off x="5352126" y="1792746"/>
            <a:ext cx="1304909" cy="2734272"/>
          </a:xfrm>
          <a:prstGeom prst="rect">
            <a:avLst/>
          </a:prstGeom>
          <a:noFill/>
          <a:ln>
            <a:noFill/>
          </a:ln>
        </p:spPr>
      </p:pic>
      <p:sp>
        <p:nvSpPr>
          <p:cNvPr id="315" name="Google Shape;315;p18"/>
          <p:cNvSpPr txBox="1"/>
          <p:nvPr/>
        </p:nvSpPr>
        <p:spPr>
          <a:xfrm>
            <a:off x="207850" y="1637675"/>
            <a:ext cx="42543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[1]</a:t>
            </a:r>
            <a:r>
              <a:rPr b="0" i="0" lang="ja" sz="1400" u="none" cap="none" strike="noStrike">
                <a:solidFill>
                  <a:srgbClr val="FF0000"/>
                </a:solidFill>
                <a:latin typeface="Meiryo"/>
                <a:ea typeface="Meiryo"/>
                <a:cs typeface="Meiryo"/>
                <a:sym typeface="Meiryo"/>
              </a:rPr>
              <a:t>他の画面に遷移するためのボタン</a:t>
            </a:r>
            <a:r>
              <a:rPr b="0" i="0" lang="ja" sz="1400" u="none" cap="none" strike="noStrike">
                <a:solidFill>
                  <a:schemeClr val="dk1"/>
                </a:solidFill>
                <a:latin typeface="Meiryo"/>
                <a:ea typeface="Meiryo"/>
                <a:cs typeface="Meiryo"/>
                <a:sym typeface="Meiryo"/>
              </a:rPr>
              <a:t>を、</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ステップ1のトップ画面に実装してください。</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[2][1]で作成したボタンを押下した際に、</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a:t>
            </a:r>
            <a:r>
              <a:rPr b="0" i="0" lang="ja" sz="1400" u="none" cap="none" strike="noStrike">
                <a:solidFill>
                  <a:srgbClr val="FF0000"/>
                </a:solidFill>
                <a:latin typeface="Meiryo"/>
                <a:ea typeface="Meiryo"/>
                <a:cs typeface="Meiryo"/>
                <a:sym typeface="Meiryo"/>
              </a:rPr>
              <a:t>画面遷移する機能</a:t>
            </a:r>
            <a:r>
              <a:rPr b="0" i="0" lang="ja" sz="1400" u="none" cap="none" strike="noStrike">
                <a:solidFill>
                  <a:schemeClr val="dk1"/>
                </a:solidFill>
                <a:latin typeface="Meiryo"/>
                <a:ea typeface="Meiryo"/>
                <a:cs typeface="Meiryo"/>
                <a:sym typeface="Meiryo"/>
              </a:rPr>
              <a:t>を実装してください。</a:t>
            </a:r>
            <a:endParaRPr b="0" i="0" sz="1400" u="none" cap="none" strike="noStrike">
              <a:solidFill>
                <a:schemeClr val="dk1"/>
              </a:solidFill>
              <a:latin typeface="Meiryo"/>
              <a:ea typeface="Meiryo"/>
              <a:cs typeface="Meiryo"/>
              <a:sym typeface="Meiryo"/>
            </a:endParaRPr>
          </a:p>
        </p:txBody>
      </p:sp>
      <p:sp>
        <p:nvSpPr>
          <p:cNvPr id="316" name="Google Shape;316;p18"/>
          <p:cNvSpPr txBox="1"/>
          <p:nvPr/>
        </p:nvSpPr>
        <p:spPr>
          <a:xfrm>
            <a:off x="465139" y="3992489"/>
            <a:ext cx="62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ボタンを押下時の遷移先画面はステップ3で実装を行うため、</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ステップ2では何も表示されていない白い画面で構いません。</a:t>
            </a:r>
            <a:endParaRPr b="0" i="0" sz="1200" u="none" cap="none" strike="noStrike">
              <a:solidFill>
                <a:schemeClr val="dk1"/>
              </a:solidFill>
              <a:latin typeface="Meiryo"/>
              <a:ea typeface="Meiryo"/>
              <a:cs typeface="Meiryo"/>
              <a:sym typeface="Meiryo"/>
            </a:endParaRPr>
          </a:p>
        </p:txBody>
      </p:sp>
      <p:pic>
        <p:nvPicPr>
          <p:cNvPr id="317" name="Google Shape;317;p18"/>
          <p:cNvPicPr preferRelativeResize="0"/>
          <p:nvPr/>
        </p:nvPicPr>
        <p:blipFill rotWithShape="1">
          <a:blip r:embed="rId4">
            <a:alphaModFix/>
          </a:blip>
          <a:srcRect b="0" l="0" r="0" t="0"/>
          <a:stretch/>
        </p:blipFill>
        <p:spPr>
          <a:xfrm>
            <a:off x="207846" y="4030402"/>
            <a:ext cx="291553" cy="291553"/>
          </a:xfrm>
          <a:prstGeom prst="rect">
            <a:avLst/>
          </a:prstGeom>
          <a:noFill/>
          <a:ln>
            <a:noFill/>
          </a:ln>
        </p:spPr>
      </p:pic>
      <p:pic>
        <p:nvPicPr>
          <p:cNvPr descr="図形, 正方形&#10;&#10;自動的に生成された説明" id="318" name="Google Shape;318;p18"/>
          <p:cNvPicPr preferRelativeResize="0"/>
          <p:nvPr/>
        </p:nvPicPr>
        <p:blipFill rotWithShape="1">
          <a:blip r:embed="rId5">
            <a:alphaModFix/>
          </a:blip>
          <a:srcRect b="0" l="0" r="0" t="0"/>
          <a:stretch/>
        </p:blipFill>
        <p:spPr>
          <a:xfrm>
            <a:off x="7296082" y="1828128"/>
            <a:ext cx="1277883" cy="2677646"/>
          </a:xfrm>
          <a:prstGeom prst="rect">
            <a:avLst/>
          </a:prstGeom>
          <a:noFill/>
          <a:ln>
            <a:noFill/>
          </a:ln>
        </p:spPr>
      </p:pic>
      <p:sp>
        <p:nvSpPr>
          <p:cNvPr id="319" name="Google Shape;319;p18"/>
          <p:cNvSpPr/>
          <p:nvPr/>
        </p:nvSpPr>
        <p:spPr>
          <a:xfrm>
            <a:off x="6784568" y="3376978"/>
            <a:ext cx="391800" cy="233400"/>
          </a:xfrm>
          <a:prstGeom prst="rightArrow">
            <a:avLst>
              <a:gd fmla="val 50000" name="adj1"/>
              <a:gd fmla="val 88472" name="adj2"/>
            </a:avLst>
          </a:prstGeom>
          <a:solidFill>
            <a:srgbClr val="CEF3EF"/>
          </a:solidFill>
          <a:ln cap="flat" cmpd="sng" w="25400">
            <a:solidFill>
              <a:srgbClr val="B19B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Meiryo"/>
              <a:ea typeface="Meiryo"/>
              <a:cs typeface="Meiryo"/>
              <a:sym typeface="Meiryo"/>
            </a:endParaRPr>
          </a:p>
        </p:txBody>
      </p:sp>
      <p:pic>
        <p:nvPicPr>
          <p:cNvPr id="320" name="Google Shape;320;p18"/>
          <p:cNvPicPr preferRelativeResize="0"/>
          <p:nvPr/>
        </p:nvPicPr>
        <p:blipFill rotWithShape="1">
          <a:blip r:embed="rId6">
            <a:alphaModFix/>
          </a:blip>
          <a:srcRect b="0" l="0" r="0" t="0"/>
          <a:stretch/>
        </p:blipFill>
        <p:spPr>
          <a:xfrm rot="-1656431">
            <a:off x="6326573" y="3385518"/>
            <a:ext cx="669258" cy="669258"/>
          </a:xfrm>
          <a:prstGeom prst="rect">
            <a:avLst/>
          </a:prstGeom>
          <a:noFill/>
          <a:ln>
            <a:noFill/>
          </a:ln>
        </p:spPr>
      </p:pic>
      <p:sp>
        <p:nvSpPr>
          <p:cNvPr id="321" name="Google Shape;321;p18"/>
          <p:cNvSpPr/>
          <p:nvPr/>
        </p:nvSpPr>
        <p:spPr>
          <a:xfrm>
            <a:off x="5278508" y="3291160"/>
            <a:ext cx="1393200" cy="3396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322" name="Google Shape;322;p18"/>
          <p:cNvGrpSpPr/>
          <p:nvPr/>
        </p:nvGrpSpPr>
        <p:grpSpPr>
          <a:xfrm>
            <a:off x="6111744" y="2915908"/>
            <a:ext cx="734850" cy="430200"/>
            <a:chOff x="9287189" y="1016473"/>
            <a:chExt cx="979800" cy="573600"/>
          </a:xfrm>
        </p:grpSpPr>
        <p:sp>
          <p:nvSpPr>
            <p:cNvPr id="323" name="Google Shape;323;p18"/>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324" name="Google Shape;324;p18"/>
            <p:cNvSpPr txBox="1"/>
            <p:nvPr/>
          </p:nvSpPr>
          <p:spPr>
            <a:xfrm>
              <a:off x="9442660" y="1162042"/>
              <a:ext cx="7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lt1"/>
                  </a:solidFill>
                  <a:latin typeface="Meiryo"/>
                  <a:ea typeface="Meiryo"/>
                  <a:cs typeface="Meiryo"/>
                  <a:sym typeface="Meiryo"/>
                </a:rPr>
                <a:t>NEW</a:t>
              </a:r>
              <a:endParaRPr b="0" i="0" sz="1200" u="none" cap="none" strike="noStrike">
                <a:solidFill>
                  <a:schemeClr val="lt1"/>
                </a:solidFill>
                <a:latin typeface="Meiryo"/>
                <a:ea typeface="Meiryo"/>
                <a:cs typeface="Meiryo"/>
                <a:sym typeface="Meiryo"/>
              </a:endParaRPr>
            </a:p>
          </p:txBody>
        </p:sp>
      </p:grpSp>
      <p:sp>
        <p:nvSpPr>
          <p:cNvPr id="325" name="Google Shape;325;p18"/>
          <p:cNvSpPr/>
          <p:nvPr/>
        </p:nvSpPr>
        <p:spPr>
          <a:xfrm>
            <a:off x="7224042" y="1749809"/>
            <a:ext cx="1393200" cy="28200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326" name="Google Shape;326;p18"/>
          <p:cNvGrpSpPr/>
          <p:nvPr/>
        </p:nvGrpSpPr>
        <p:grpSpPr>
          <a:xfrm>
            <a:off x="8046261" y="1490690"/>
            <a:ext cx="734850" cy="430200"/>
            <a:chOff x="9287189" y="1016473"/>
            <a:chExt cx="979800" cy="573600"/>
          </a:xfrm>
        </p:grpSpPr>
        <p:sp>
          <p:nvSpPr>
            <p:cNvPr id="327" name="Google Shape;327;p18"/>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328" name="Google Shape;328;p18"/>
            <p:cNvSpPr txBox="1"/>
            <p:nvPr/>
          </p:nvSpPr>
          <p:spPr>
            <a:xfrm>
              <a:off x="9442660" y="1162042"/>
              <a:ext cx="7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lt1"/>
                  </a:solidFill>
                  <a:latin typeface="Meiryo"/>
                  <a:ea typeface="Meiryo"/>
                  <a:cs typeface="Meiryo"/>
                  <a:sym typeface="Meiryo"/>
                </a:rPr>
                <a:t>NEW</a:t>
              </a:r>
              <a:endParaRPr b="0" i="0" sz="1200" u="none" cap="none" strike="noStrike">
                <a:solidFill>
                  <a:schemeClr val="lt1"/>
                </a:solidFill>
                <a:latin typeface="Meiryo"/>
                <a:ea typeface="Meiryo"/>
                <a:cs typeface="Meiryo"/>
                <a:sym typeface="Meiryo"/>
              </a:endParaRPr>
            </a:p>
          </p:txBody>
        </p:sp>
      </p:grpSp>
      <p:sp>
        <p:nvSpPr>
          <p:cNvPr id="329" name="Google Shape;329;p18"/>
          <p:cNvSpPr/>
          <p:nvPr/>
        </p:nvSpPr>
        <p:spPr>
          <a:xfrm>
            <a:off x="4914679" y="967321"/>
            <a:ext cx="40542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330" name="Google Shape;330;p18"/>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331" name="Google Shape;331;p18"/>
          <p:cNvSpPr txBox="1"/>
          <p:nvPr/>
        </p:nvSpPr>
        <p:spPr>
          <a:xfrm>
            <a:off x="386253" y="8197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（1）ステップ2のゴール</a:t>
            </a:r>
            <a:endParaRPr b="0" i="0" sz="1050" u="none" cap="none" strike="noStrike">
              <a:solidFill>
                <a:schemeClr val="dk1"/>
              </a:solidFill>
              <a:latin typeface="Meiryo"/>
              <a:ea typeface="Meiryo"/>
              <a:cs typeface="Meiryo"/>
              <a:sym typeface="Meiryo"/>
            </a:endParaRPr>
          </a:p>
        </p:txBody>
      </p:sp>
      <p:sp>
        <p:nvSpPr>
          <p:cNvPr id="332" name="Google Shape;332;p18"/>
          <p:cNvSpPr txBox="1"/>
          <p:nvPr/>
        </p:nvSpPr>
        <p:spPr>
          <a:xfrm>
            <a:off x="5082977" y="81971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333" name="Google Shape;333;p18"/>
          <p:cNvSpPr txBox="1"/>
          <p:nvPr/>
        </p:nvSpPr>
        <p:spPr>
          <a:xfrm>
            <a:off x="465150" y="292435"/>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ステップ2 : 送金処理画面に遷移するボタンの実装</a:t>
            </a:r>
            <a:endParaRPr b="0" i="0" sz="1400" u="none" cap="none" strike="noStrike">
              <a:solidFill>
                <a:schemeClr val="dk1"/>
              </a:solidFill>
              <a:latin typeface="Arial"/>
              <a:ea typeface="Arial"/>
              <a:cs typeface="Arial"/>
              <a:sym typeface="Arial"/>
            </a:endParaRPr>
          </a:p>
        </p:txBody>
      </p:sp>
      <p:sp>
        <p:nvSpPr>
          <p:cNvPr id="334" name="Google Shape;334;p18"/>
          <p:cNvSpPr txBox="1"/>
          <p:nvPr/>
        </p:nvSpPr>
        <p:spPr>
          <a:xfrm>
            <a:off x="4816350" y="1188075"/>
            <a:ext cx="43275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9"/>
          <p:cNvSpPr txBox="1"/>
          <p:nvPr/>
        </p:nvSpPr>
        <p:spPr>
          <a:xfrm>
            <a:off x="83541" y="114300"/>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lt1"/>
              </a:solidFill>
              <a:latin typeface="Meiryo"/>
              <a:ea typeface="Meiryo"/>
              <a:cs typeface="Meiryo"/>
              <a:sym typeface="Meiryo"/>
            </a:endParaRPr>
          </a:p>
        </p:txBody>
      </p:sp>
      <p:graphicFrame>
        <p:nvGraphicFramePr>
          <p:cNvPr id="340" name="Google Shape;340;p19"/>
          <p:cNvGraphicFramePr/>
          <p:nvPr/>
        </p:nvGraphicFramePr>
        <p:xfrm>
          <a:off x="950527" y="2222526"/>
          <a:ext cx="3000000" cy="3000000"/>
        </p:xfrm>
        <a:graphic>
          <a:graphicData uri="http://schemas.openxmlformats.org/drawingml/2006/table">
            <a:tbl>
              <a:tblPr>
                <a:noFill/>
                <a:tableStyleId>{DCB4C225-7969-4F9A-B681-CAE03884277C}</a:tableStyleId>
              </a:tblPr>
              <a:tblGrid>
                <a:gridCol w="396925"/>
                <a:gridCol w="1175175"/>
                <a:gridCol w="5561750"/>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4人（全員）</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他の画面に遷移する</a:t>
                      </a:r>
                      <a:r>
                        <a:rPr lang="ja" sz="1400" u="none" cap="none" strike="noStrike">
                          <a:latin typeface="Meiryo"/>
                          <a:ea typeface="Meiryo"/>
                          <a:cs typeface="Meiryo"/>
                          <a:sym typeface="Meiryo"/>
                        </a:rPr>
                        <a:t>こと</a:t>
                      </a:r>
                      <a:r>
                        <a:rPr b="0" i="0" lang="ja" sz="1400" u="none" cap="none" strike="noStrike">
                          <a:latin typeface="Meiryo"/>
                          <a:ea typeface="Meiryo"/>
                          <a:cs typeface="Meiryo"/>
                          <a:sym typeface="Meiryo"/>
                        </a:rPr>
                        <a:t>が</a:t>
                      </a:r>
                      <a:r>
                        <a:rPr lang="ja" sz="1400" u="none" cap="none" strike="noStrike">
                          <a:latin typeface="Meiryo"/>
                          <a:ea typeface="Meiryo"/>
                          <a:cs typeface="Meiryo"/>
                          <a:sym typeface="Meiryo"/>
                        </a:rPr>
                        <a:t>でき</a:t>
                      </a:r>
                      <a:r>
                        <a:rPr b="0" i="0" lang="ja" sz="1400" u="none" cap="none" strike="noStrike">
                          <a:latin typeface="Meiryo"/>
                          <a:ea typeface="Meiryo"/>
                          <a:cs typeface="Meiryo"/>
                          <a:sym typeface="Meiryo"/>
                        </a:rPr>
                        <a:t>るボタンを実装する</a:t>
                      </a:r>
                      <a:endParaRPr sz="1600" u="none" cap="none" strike="noStrike"/>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タイムキーパー</a:t>
                      </a:r>
                      <a:endParaRPr sz="1600" u="none" cap="none" strike="noStrike"/>
                    </a:p>
                  </a:txBody>
                  <a:tcPr marT="34300" marB="34300" marR="68575" marL="68575">
                    <a:solidFill>
                      <a:srgbClr val="5A5A5A">
                        <a:alpha val="22745"/>
                      </a:srgbClr>
                    </a:solidFill>
                  </a:tcPr>
                </a:tc>
              </a:tr>
            </a:tbl>
          </a:graphicData>
        </a:graphic>
      </p:graphicFrame>
      <p:sp>
        <p:nvSpPr>
          <p:cNvPr id="341" name="Google Shape;341;p19"/>
          <p:cNvSpPr txBox="1"/>
          <p:nvPr/>
        </p:nvSpPr>
        <p:spPr>
          <a:xfrm>
            <a:off x="294391" y="413319"/>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342" name="Google Shape;342;p19"/>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343" name="Google Shape;343;p19"/>
          <p:cNvSpPr txBox="1"/>
          <p:nvPr/>
        </p:nvSpPr>
        <p:spPr>
          <a:xfrm>
            <a:off x="483016" y="275293"/>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ステップ2 : 送金処理画面に遷移するボタンの実装</a:t>
            </a:r>
            <a:endParaRPr b="0" i="0" sz="1400" u="none" cap="none" strike="noStrike">
              <a:solidFill>
                <a:schemeClr val="dk1"/>
              </a:solidFill>
              <a:latin typeface="Arial"/>
              <a:ea typeface="Arial"/>
              <a:cs typeface="Arial"/>
              <a:sym typeface="Arial"/>
            </a:endParaRPr>
          </a:p>
        </p:txBody>
      </p:sp>
      <p:sp>
        <p:nvSpPr>
          <p:cNvPr id="344" name="Google Shape;344;p19"/>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0"/>
          <p:cNvSpPr/>
          <p:nvPr/>
        </p:nvSpPr>
        <p:spPr>
          <a:xfrm>
            <a:off x="175130" y="967200"/>
            <a:ext cx="46155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 チャットまたはテキスト メッセージ&#10;&#10;自動的に生成された説明" id="350" name="Google Shape;350;p20"/>
          <p:cNvPicPr preferRelativeResize="0"/>
          <p:nvPr/>
        </p:nvPicPr>
        <p:blipFill rotWithShape="1">
          <a:blip r:embed="rId3">
            <a:alphaModFix/>
          </a:blip>
          <a:srcRect b="0" l="0" r="0" t="0"/>
          <a:stretch/>
        </p:blipFill>
        <p:spPr>
          <a:xfrm>
            <a:off x="6247154" y="1669211"/>
            <a:ext cx="1348658" cy="2831217"/>
          </a:xfrm>
          <a:prstGeom prst="rect">
            <a:avLst/>
          </a:prstGeom>
          <a:noFill/>
          <a:ln>
            <a:noFill/>
          </a:ln>
        </p:spPr>
      </p:pic>
      <p:sp>
        <p:nvSpPr>
          <p:cNvPr id="351" name="Google Shape;351;p20"/>
          <p:cNvSpPr/>
          <p:nvPr/>
        </p:nvSpPr>
        <p:spPr>
          <a:xfrm>
            <a:off x="6154260" y="1624179"/>
            <a:ext cx="1515600" cy="29085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352" name="Google Shape;352;p20"/>
          <p:cNvGrpSpPr/>
          <p:nvPr/>
        </p:nvGrpSpPr>
        <p:grpSpPr>
          <a:xfrm>
            <a:off x="7399975" y="1624072"/>
            <a:ext cx="734850" cy="430200"/>
            <a:chOff x="9287189" y="1016473"/>
            <a:chExt cx="979800" cy="573600"/>
          </a:xfrm>
        </p:grpSpPr>
        <p:sp>
          <p:nvSpPr>
            <p:cNvPr id="353" name="Google Shape;353;p20"/>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354" name="Google Shape;354;p20"/>
            <p:cNvSpPr txBox="1"/>
            <p:nvPr/>
          </p:nvSpPr>
          <p:spPr>
            <a:xfrm>
              <a:off x="9442660" y="1162042"/>
              <a:ext cx="7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lt1"/>
                  </a:solidFill>
                  <a:latin typeface="Meiryo"/>
                  <a:ea typeface="Meiryo"/>
                  <a:cs typeface="Meiryo"/>
                  <a:sym typeface="Meiryo"/>
                </a:rPr>
                <a:t>NEW</a:t>
              </a:r>
              <a:endParaRPr b="0" i="0" sz="1200" u="none" cap="none" strike="noStrike">
                <a:solidFill>
                  <a:schemeClr val="lt1"/>
                </a:solidFill>
                <a:latin typeface="Meiryo"/>
                <a:ea typeface="Meiryo"/>
                <a:cs typeface="Meiryo"/>
                <a:sym typeface="Meiryo"/>
              </a:endParaRPr>
            </a:p>
          </p:txBody>
        </p:sp>
      </p:grpSp>
      <p:sp>
        <p:nvSpPr>
          <p:cNvPr id="355" name="Google Shape;355;p20"/>
          <p:cNvSpPr txBox="1"/>
          <p:nvPr/>
        </p:nvSpPr>
        <p:spPr>
          <a:xfrm>
            <a:off x="354995" y="458737"/>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356" name="Google Shape;356;p20"/>
          <p:cNvSpPr txBox="1"/>
          <p:nvPr/>
        </p:nvSpPr>
        <p:spPr>
          <a:xfrm>
            <a:off x="51050" y="1413500"/>
            <a:ext cx="4739700" cy="220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a:t>
            </a:r>
            <a:r>
              <a:rPr b="0" i="0" lang="ja" sz="1400" u="none" cap="none" strike="noStrike">
                <a:solidFill>
                  <a:schemeClr val="dk1"/>
                </a:solidFill>
                <a:latin typeface="Meiryo"/>
                <a:ea typeface="Meiryo"/>
                <a:cs typeface="Meiryo"/>
                <a:sym typeface="Meiryo"/>
              </a:rPr>
              <a:t>ステップ2のボタン押下後の遷移先として、</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下記</a:t>
            </a:r>
            <a:r>
              <a:rPr b="0" i="0" lang="ja" sz="1400" u="none" cap="none" strike="noStrike">
                <a:solidFill>
                  <a:srgbClr val="FF0000"/>
                </a:solidFill>
                <a:latin typeface="Meiryo"/>
                <a:ea typeface="Meiryo"/>
                <a:cs typeface="Meiryo"/>
                <a:sym typeface="Meiryo"/>
              </a:rPr>
              <a:t>ユーザ情報を表示する画面</a:t>
            </a:r>
            <a:r>
              <a:rPr b="0" i="0" lang="ja" sz="1400" u="none" cap="none" strike="noStrike">
                <a:solidFill>
                  <a:schemeClr val="dk1"/>
                </a:solidFill>
                <a:latin typeface="Meiryo"/>
                <a:ea typeface="Meiryo"/>
                <a:cs typeface="Meiryo"/>
                <a:sym typeface="Meiryo"/>
              </a:rPr>
              <a:t>を実装してください。</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2400"/>
              <a:buFont typeface="Arial"/>
              <a:buNone/>
            </a:pPr>
            <a:r>
              <a:rPr b="0" i="0" lang="ja" sz="2400" u="none" cap="none" strike="noStrike">
                <a:solidFill>
                  <a:schemeClr val="dk1"/>
                </a:solidFill>
                <a:latin typeface="Meiryo"/>
                <a:ea typeface="Meiryo"/>
                <a:cs typeface="Meiryo"/>
                <a:sym typeface="Meiryo"/>
              </a:rPr>
              <a:t>　   </a:t>
            </a:r>
            <a:r>
              <a:rPr b="0" i="0" lang="ja" sz="1400" u="none" cap="none" strike="noStrike">
                <a:solidFill>
                  <a:schemeClr val="dk1"/>
                </a:solidFill>
                <a:latin typeface="Meiryo"/>
                <a:ea typeface="Meiryo"/>
                <a:cs typeface="Meiryo"/>
                <a:sym typeface="Meiryo"/>
              </a:rPr>
              <a:t>①アプリユーザの氏名一覧</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　　    ②アプリユーザのアイコン一覧（①と対応）</a:t>
            </a:r>
            <a:r>
              <a:rPr b="0" i="0" lang="ja" sz="3600" u="none" cap="none" strike="noStrike">
                <a:solidFill>
                  <a:schemeClr val="dk1"/>
                </a:solidFill>
                <a:latin typeface="Meiryo"/>
                <a:ea typeface="Meiryo"/>
                <a:cs typeface="Meiryo"/>
                <a:sym typeface="Meiryo"/>
              </a:rPr>
              <a:t>　</a:t>
            </a:r>
            <a:endParaRPr b="0" i="0" sz="3600" u="none" cap="none" strike="noStrike">
              <a:solidFill>
                <a:schemeClr val="dk1"/>
              </a:solidFill>
              <a:latin typeface="Meiryo"/>
              <a:ea typeface="Meiryo"/>
              <a:cs typeface="Meiryo"/>
              <a:sym typeface="Meiryo"/>
            </a:endParaRPr>
          </a:p>
        </p:txBody>
      </p:sp>
      <p:sp>
        <p:nvSpPr>
          <p:cNvPr id="357" name="Google Shape;357;p20"/>
          <p:cNvSpPr txBox="1"/>
          <p:nvPr/>
        </p:nvSpPr>
        <p:spPr>
          <a:xfrm>
            <a:off x="529813" y="3637777"/>
            <a:ext cx="43665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表示するユーザ情報は、送金宛先に選択出来る一覧を表示している</a:t>
            </a:r>
            <a:endParaRPr b="0" i="0" sz="10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ため、ここでは「自らの情報」は表示しないようにしてください</a:t>
            </a:r>
            <a:endParaRPr b="0" i="0" sz="10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（=送金宛先の候補に自らを表示しないでください）。</a:t>
            </a:r>
            <a:endParaRPr b="0" i="0" sz="1050" u="none" cap="none" strike="noStrike">
              <a:solidFill>
                <a:schemeClr val="dk1"/>
              </a:solidFill>
              <a:latin typeface="Meiryo"/>
              <a:ea typeface="Meiryo"/>
              <a:cs typeface="Meiryo"/>
              <a:sym typeface="Meiryo"/>
            </a:endParaRPr>
          </a:p>
        </p:txBody>
      </p:sp>
      <p:pic>
        <p:nvPicPr>
          <p:cNvPr id="358" name="Google Shape;358;p20"/>
          <p:cNvPicPr preferRelativeResize="0"/>
          <p:nvPr/>
        </p:nvPicPr>
        <p:blipFill rotWithShape="1">
          <a:blip r:embed="rId4">
            <a:alphaModFix/>
          </a:blip>
          <a:srcRect b="0" l="0" r="0" t="0"/>
          <a:stretch/>
        </p:blipFill>
        <p:spPr>
          <a:xfrm>
            <a:off x="228362" y="3711469"/>
            <a:ext cx="301450" cy="301450"/>
          </a:xfrm>
          <a:prstGeom prst="rect">
            <a:avLst/>
          </a:prstGeom>
          <a:noFill/>
          <a:ln>
            <a:noFill/>
          </a:ln>
        </p:spPr>
      </p:pic>
      <p:sp>
        <p:nvSpPr>
          <p:cNvPr id="359" name="Google Shape;359;p20"/>
          <p:cNvSpPr/>
          <p:nvPr/>
        </p:nvSpPr>
        <p:spPr>
          <a:xfrm>
            <a:off x="4875800" y="967200"/>
            <a:ext cx="40725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360" name="Google Shape;360;p20"/>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361" name="Google Shape;361;p20"/>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（1）ステップ3のゴール</a:t>
            </a:r>
            <a:endParaRPr b="0" i="0" sz="1050" u="none" cap="none" strike="noStrike">
              <a:solidFill>
                <a:schemeClr val="dk1"/>
              </a:solidFill>
              <a:latin typeface="Meiryo"/>
              <a:ea typeface="Meiryo"/>
              <a:cs typeface="Meiryo"/>
              <a:sym typeface="Meiryo"/>
            </a:endParaRPr>
          </a:p>
        </p:txBody>
      </p:sp>
      <p:sp>
        <p:nvSpPr>
          <p:cNvPr id="362" name="Google Shape;362;p20"/>
          <p:cNvSpPr txBox="1"/>
          <p:nvPr/>
        </p:nvSpPr>
        <p:spPr>
          <a:xfrm>
            <a:off x="5082977" y="81971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363" name="Google Shape;363;p20"/>
          <p:cNvSpPr txBox="1"/>
          <p:nvPr/>
        </p:nvSpPr>
        <p:spPr>
          <a:xfrm>
            <a:off x="471677" y="296503"/>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ステップ3 : 送金宛先画面の表示機能の実装</a:t>
            </a:r>
            <a:endParaRPr b="0" i="0" sz="1400" u="none" cap="none" strike="noStrike">
              <a:solidFill>
                <a:schemeClr val="dk1"/>
              </a:solidFill>
              <a:latin typeface="Arial"/>
              <a:ea typeface="Arial"/>
              <a:cs typeface="Arial"/>
              <a:sym typeface="Arial"/>
            </a:endParaRPr>
          </a:p>
        </p:txBody>
      </p:sp>
      <p:sp>
        <p:nvSpPr>
          <p:cNvPr id="364" name="Google Shape;364;p20"/>
          <p:cNvSpPr txBox="1"/>
          <p:nvPr/>
        </p:nvSpPr>
        <p:spPr>
          <a:xfrm>
            <a:off x="4816350" y="1188075"/>
            <a:ext cx="43665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graphicFrame>
        <p:nvGraphicFramePr>
          <p:cNvPr id="369" name="Google Shape;369;p21"/>
          <p:cNvGraphicFramePr/>
          <p:nvPr/>
        </p:nvGraphicFramePr>
        <p:xfrm>
          <a:off x="950527" y="2148810"/>
          <a:ext cx="3000000" cy="3000000"/>
        </p:xfrm>
        <a:graphic>
          <a:graphicData uri="http://schemas.openxmlformats.org/drawingml/2006/table">
            <a:tbl>
              <a:tblPr>
                <a:noFill/>
                <a:tableStyleId>{DCB4C225-7969-4F9A-B681-CAE03884277C}</a:tableStyleId>
              </a:tblPr>
              <a:tblGrid>
                <a:gridCol w="396925"/>
                <a:gridCol w="1175175"/>
                <a:gridCol w="5561750"/>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b="0" i="0" sz="1400" u="none" cap="none" strike="noStrike">
                        <a:latin typeface="Meiryo"/>
                        <a:ea typeface="Meiryo"/>
                        <a:cs typeface="Meiryo"/>
                        <a:sym typeface="Meiryo"/>
                      </a:endParaRPr>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4人（全員）</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アプリユーザの氏名・アイコン一覧を表示する機能を実装する</a:t>
                      </a:r>
                      <a:endParaRPr sz="1600" u="none" cap="none" strike="noStrike"/>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CCCCCC"/>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タイムキーパー</a:t>
                      </a:r>
                      <a:endParaRPr sz="1600" u="none" cap="none" strike="noStrike"/>
                    </a:p>
                  </a:txBody>
                  <a:tcPr marT="34300" marB="34300" marR="68575" marL="68575">
                    <a:solidFill>
                      <a:srgbClr val="CCCCCC"/>
                    </a:solidFill>
                  </a:tcPr>
                </a:tc>
              </a:tr>
            </a:tbl>
          </a:graphicData>
        </a:graphic>
      </p:graphicFrame>
      <p:sp>
        <p:nvSpPr>
          <p:cNvPr id="370" name="Google Shape;370;p21"/>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371" name="Google Shape;371;p21"/>
          <p:cNvSpPr txBox="1"/>
          <p:nvPr/>
        </p:nvSpPr>
        <p:spPr>
          <a:xfrm>
            <a:off x="479400" y="30658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ステップ3 : 送金宛先画面の表示機能の実装</a:t>
            </a:r>
            <a:endParaRPr b="0" i="0" sz="1400" u="none" cap="none" strike="noStrike">
              <a:solidFill>
                <a:schemeClr val="dk1"/>
              </a:solidFill>
              <a:latin typeface="Arial"/>
              <a:ea typeface="Arial"/>
              <a:cs typeface="Arial"/>
              <a:sym typeface="Arial"/>
            </a:endParaRPr>
          </a:p>
        </p:txBody>
      </p:sp>
      <p:sp>
        <p:nvSpPr>
          <p:cNvPr id="372" name="Google Shape;372;p21"/>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2"/>
          <p:cNvSpPr/>
          <p:nvPr/>
        </p:nvSpPr>
        <p:spPr>
          <a:xfrm>
            <a:off x="220125" y="967325"/>
            <a:ext cx="45708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10;&#10;自動的に生成された説明" id="378" name="Google Shape;378;p22"/>
          <p:cNvPicPr preferRelativeResize="0"/>
          <p:nvPr/>
        </p:nvPicPr>
        <p:blipFill rotWithShape="1">
          <a:blip r:embed="rId3">
            <a:alphaModFix/>
          </a:blip>
          <a:srcRect b="0" l="0" r="0" t="0"/>
          <a:stretch/>
        </p:blipFill>
        <p:spPr>
          <a:xfrm>
            <a:off x="7169236" y="1732854"/>
            <a:ext cx="1318583" cy="2762929"/>
          </a:xfrm>
          <a:prstGeom prst="rect">
            <a:avLst/>
          </a:prstGeom>
          <a:noFill/>
          <a:ln>
            <a:noFill/>
          </a:ln>
        </p:spPr>
      </p:pic>
      <p:sp>
        <p:nvSpPr>
          <p:cNvPr id="379" name="Google Shape;379;p22"/>
          <p:cNvSpPr/>
          <p:nvPr/>
        </p:nvSpPr>
        <p:spPr>
          <a:xfrm>
            <a:off x="7068975" y="1714250"/>
            <a:ext cx="1519200" cy="28398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380" name="Google Shape;380;p22"/>
          <p:cNvGrpSpPr/>
          <p:nvPr/>
        </p:nvGrpSpPr>
        <p:grpSpPr>
          <a:xfrm>
            <a:off x="8220692" y="1446912"/>
            <a:ext cx="734850" cy="430200"/>
            <a:chOff x="9287189" y="1016473"/>
            <a:chExt cx="979800" cy="573600"/>
          </a:xfrm>
        </p:grpSpPr>
        <p:sp>
          <p:nvSpPr>
            <p:cNvPr id="381" name="Google Shape;381;p22"/>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382" name="Google Shape;382;p22"/>
            <p:cNvSpPr txBox="1"/>
            <p:nvPr/>
          </p:nvSpPr>
          <p:spPr>
            <a:xfrm>
              <a:off x="9442660" y="1162042"/>
              <a:ext cx="7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lt1"/>
                  </a:solidFill>
                  <a:latin typeface="Meiryo"/>
                  <a:ea typeface="Meiryo"/>
                  <a:cs typeface="Meiryo"/>
                  <a:sym typeface="Meiryo"/>
                </a:rPr>
                <a:t>NEW</a:t>
              </a:r>
              <a:endParaRPr b="0" i="0" sz="1200" u="none" cap="none" strike="noStrike">
                <a:solidFill>
                  <a:schemeClr val="lt1"/>
                </a:solidFill>
                <a:latin typeface="Meiryo"/>
                <a:ea typeface="Meiryo"/>
                <a:cs typeface="Meiryo"/>
                <a:sym typeface="Meiryo"/>
              </a:endParaRPr>
            </a:p>
          </p:txBody>
        </p:sp>
      </p:grpSp>
      <p:sp>
        <p:nvSpPr>
          <p:cNvPr id="383" name="Google Shape;383;p22"/>
          <p:cNvSpPr txBox="1"/>
          <p:nvPr/>
        </p:nvSpPr>
        <p:spPr>
          <a:xfrm>
            <a:off x="386253" y="1281540"/>
            <a:ext cx="4269600" cy="229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[1]下記を表示する</a:t>
            </a:r>
            <a:r>
              <a:rPr b="0" i="0" lang="ja" sz="1100" u="none" cap="none" strike="noStrike">
                <a:solidFill>
                  <a:srgbClr val="FC0000"/>
                </a:solidFill>
                <a:latin typeface="Meiryo"/>
                <a:ea typeface="Meiryo"/>
                <a:cs typeface="Meiryo"/>
                <a:sym typeface="Meiryo"/>
              </a:rPr>
              <a:t>送金処理画面</a:t>
            </a:r>
            <a:r>
              <a:rPr b="0" i="0" lang="ja" sz="1100" u="none" cap="none" strike="noStrike">
                <a:solidFill>
                  <a:schemeClr val="dk1"/>
                </a:solidFill>
                <a:latin typeface="Meiryo"/>
                <a:ea typeface="Meiryo"/>
                <a:cs typeface="Meiryo"/>
                <a:sym typeface="Meiryo"/>
              </a:rPr>
              <a:t>を実装してください。</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①押下した送金宛先のアイコン・氏名（[2]参照）</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②送金可能な上限金額（=自身の預金金額）</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③送金金額用の入力ボックス</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④送金処理を行うためのボタン</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[2]下記のような</a:t>
            </a:r>
            <a:r>
              <a:rPr b="0" i="0" lang="ja" sz="1100" u="none" cap="none" strike="noStrike">
                <a:solidFill>
                  <a:srgbClr val="FF0000"/>
                </a:solidFill>
                <a:latin typeface="Meiryo"/>
                <a:ea typeface="Meiryo"/>
                <a:cs typeface="Meiryo"/>
                <a:sym typeface="Meiryo"/>
              </a:rPr>
              <a:t>送金宛先選択機能</a:t>
            </a:r>
            <a:r>
              <a:rPr b="0" i="0" lang="ja" sz="1100" u="none" cap="none" strike="noStrike">
                <a:solidFill>
                  <a:schemeClr val="dk1"/>
                </a:solidFill>
                <a:latin typeface="Meiryo"/>
                <a:ea typeface="Meiryo"/>
                <a:cs typeface="Meiryo"/>
                <a:sym typeface="Meiryo"/>
              </a:rPr>
              <a:t>を実装してください。</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ステップ3で表示した送金宛先一覧において</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任意の1人のアイコン・氏名を押下した場合、</a:t>
            </a:r>
            <a:endParaRPr b="0" i="0" sz="11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chemeClr val="dk1"/>
                </a:solidFill>
                <a:latin typeface="Meiryo"/>
                <a:ea typeface="Meiryo"/>
                <a:cs typeface="Meiryo"/>
                <a:sym typeface="Meiryo"/>
              </a:rPr>
              <a:t>      送金処理画面に遷移する</a:t>
            </a:r>
            <a:endParaRPr b="0" i="0" sz="1100" u="none" cap="none" strike="noStrike">
              <a:solidFill>
                <a:schemeClr val="dk1"/>
              </a:solidFill>
              <a:latin typeface="Meiryo"/>
              <a:ea typeface="Meiryo"/>
              <a:cs typeface="Meiryo"/>
              <a:sym typeface="Meiryo"/>
            </a:endParaRPr>
          </a:p>
        </p:txBody>
      </p:sp>
      <p:sp>
        <p:nvSpPr>
          <p:cNvPr id="384" name="Google Shape;384;p22"/>
          <p:cNvSpPr txBox="1"/>
          <p:nvPr/>
        </p:nvSpPr>
        <p:spPr>
          <a:xfrm>
            <a:off x="923303" y="3624082"/>
            <a:ext cx="34560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③の入力ボックスは下限は0とし、デフォルトは</a:t>
            </a:r>
            <a:endParaRPr b="0" i="0" sz="10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何も入力されていない状態としてください。</a:t>
            </a:r>
            <a:endParaRPr b="0" i="0" sz="900" u="none" cap="none" strike="noStrike">
              <a:solidFill>
                <a:schemeClr val="dk1"/>
              </a:solidFill>
              <a:latin typeface="Meiryo"/>
              <a:ea typeface="Meiryo"/>
              <a:cs typeface="Meiryo"/>
              <a:sym typeface="Meiryo"/>
            </a:endParaRPr>
          </a:p>
        </p:txBody>
      </p:sp>
      <p:sp>
        <p:nvSpPr>
          <p:cNvPr id="385" name="Google Shape;385;p22"/>
          <p:cNvSpPr txBox="1"/>
          <p:nvPr/>
        </p:nvSpPr>
        <p:spPr>
          <a:xfrm>
            <a:off x="920230" y="4158375"/>
            <a:ext cx="3651556"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④のボタンは③がデフォルト状態の時は、</a:t>
            </a:r>
            <a:endParaRPr b="0" i="0" sz="10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非活性化（ボタンを押下できない状態）してください。</a:t>
            </a:r>
            <a:endParaRPr b="0" i="0" sz="1050" u="none" cap="none" strike="noStrike">
              <a:solidFill>
                <a:schemeClr val="dk1"/>
              </a:solidFill>
              <a:latin typeface="Meiryo"/>
              <a:ea typeface="Meiryo"/>
              <a:cs typeface="Meiryo"/>
              <a:sym typeface="Meiryo"/>
            </a:endParaRPr>
          </a:p>
        </p:txBody>
      </p:sp>
      <p:sp>
        <p:nvSpPr>
          <p:cNvPr id="386" name="Google Shape;386;p22"/>
          <p:cNvSpPr/>
          <p:nvPr/>
        </p:nvSpPr>
        <p:spPr>
          <a:xfrm>
            <a:off x="6538408" y="3366527"/>
            <a:ext cx="612900" cy="257700"/>
          </a:xfrm>
          <a:prstGeom prst="rightArrow">
            <a:avLst>
              <a:gd fmla="val 50000" name="adj1"/>
              <a:gd fmla="val 88472" name="adj2"/>
            </a:avLst>
          </a:prstGeom>
          <a:solidFill>
            <a:srgbClr val="CEF3EF"/>
          </a:solidFill>
          <a:ln cap="flat" cmpd="sng" w="25400">
            <a:solidFill>
              <a:srgbClr val="B19B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 チャットまたはテキスト メッセージ&#10;&#10;自動的に生成された説明" id="387" name="Google Shape;387;p22"/>
          <p:cNvPicPr preferRelativeResize="0"/>
          <p:nvPr/>
        </p:nvPicPr>
        <p:blipFill rotWithShape="1">
          <a:blip r:embed="rId4">
            <a:alphaModFix/>
          </a:blip>
          <a:srcRect b="0" l="0" r="0" t="0"/>
          <a:stretch/>
        </p:blipFill>
        <p:spPr>
          <a:xfrm>
            <a:off x="5136371" y="1662011"/>
            <a:ext cx="1355243" cy="2839741"/>
          </a:xfrm>
          <a:prstGeom prst="rect">
            <a:avLst/>
          </a:prstGeom>
          <a:noFill/>
          <a:ln>
            <a:noFill/>
          </a:ln>
        </p:spPr>
      </p:pic>
      <p:pic>
        <p:nvPicPr>
          <p:cNvPr id="388" name="Google Shape;388;p22"/>
          <p:cNvPicPr preferRelativeResize="0"/>
          <p:nvPr/>
        </p:nvPicPr>
        <p:blipFill rotWithShape="1">
          <a:blip r:embed="rId5">
            <a:alphaModFix/>
          </a:blip>
          <a:srcRect b="0" l="0" r="0" t="0"/>
          <a:stretch/>
        </p:blipFill>
        <p:spPr>
          <a:xfrm rot="-1656425">
            <a:off x="6246562" y="3456415"/>
            <a:ext cx="738325" cy="738325"/>
          </a:xfrm>
          <a:prstGeom prst="rect">
            <a:avLst/>
          </a:prstGeom>
          <a:noFill/>
          <a:ln>
            <a:noFill/>
          </a:ln>
        </p:spPr>
      </p:pic>
      <p:pic>
        <p:nvPicPr>
          <p:cNvPr id="389" name="Google Shape;389;p22"/>
          <p:cNvPicPr preferRelativeResize="0"/>
          <p:nvPr/>
        </p:nvPicPr>
        <p:blipFill rotWithShape="1">
          <a:blip r:embed="rId6">
            <a:alphaModFix/>
          </a:blip>
          <a:srcRect b="0" l="0" r="0" t="0"/>
          <a:stretch/>
        </p:blipFill>
        <p:spPr>
          <a:xfrm>
            <a:off x="465139" y="3635514"/>
            <a:ext cx="301450" cy="301450"/>
          </a:xfrm>
          <a:prstGeom prst="rect">
            <a:avLst/>
          </a:prstGeom>
          <a:noFill/>
          <a:ln>
            <a:noFill/>
          </a:ln>
        </p:spPr>
      </p:pic>
      <p:pic>
        <p:nvPicPr>
          <p:cNvPr id="390" name="Google Shape;390;p22"/>
          <p:cNvPicPr preferRelativeResize="0"/>
          <p:nvPr/>
        </p:nvPicPr>
        <p:blipFill rotWithShape="1">
          <a:blip r:embed="rId6">
            <a:alphaModFix/>
          </a:blip>
          <a:srcRect b="0" l="0" r="0" t="0"/>
          <a:stretch/>
        </p:blipFill>
        <p:spPr>
          <a:xfrm>
            <a:off x="468906" y="4252656"/>
            <a:ext cx="301450" cy="301450"/>
          </a:xfrm>
          <a:prstGeom prst="rect">
            <a:avLst/>
          </a:prstGeom>
          <a:noFill/>
          <a:ln>
            <a:noFill/>
          </a:ln>
        </p:spPr>
      </p:pic>
      <p:sp>
        <p:nvSpPr>
          <p:cNvPr id="391" name="Google Shape;391;p22"/>
          <p:cNvSpPr/>
          <p:nvPr/>
        </p:nvSpPr>
        <p:spPr>
          <a:xfrm>
            <a:off x="4914674" y="967325"/>
            <a:ext cx="41526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392" name="Google Shape;392;p22"/>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393" name="Google Shape;393;p22"/>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（1）ステップ4のゴール</a:t>
            </a:r>
            <a:endParaRPr b="0" i="0" sz="1050" u="none" cap="none" strike="noStrike">
              <a:solidFill>
                <a:schemeClr val="dk1"/>
              </a:solidFill>
              <a:latin typeface="Meiryo"/>
              <a:ea typeface="Meiryo"/>
              <a:cs typeface="Meiryo"/>
              <a:sym typeface="Meiryo"/>
            </a:endParaRPr>
          </a:p>
        </p:txBody>
      </p:sp>
      <p:sp>
        <p:nvSpPr>
          <p:cNvPr id="394" name="Google Shape;394;p22"/>
          <p:cNvSpPr txBox="1"/>
          <p:nvPr/>
        </p:nvSpPr>
        <p:spPr>
          <a:xfrm>
            <a:off x="5082977" y="81971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395" name="Google Shape;395;p22"/>
          <p:cNvSpPr txBox="1"/>
          <p:nvPr/>
        </p:nvSpPr>
        <p:spPr>
          <a:xfrm>
            <a:off x="443427" y="291160"/>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ステップ4 : 宛先選択後に金額を入力する画面の実装</a:t>
            </a:r>
            <a:endParaRPr b="0" i="0" sz="1400" u="none" cap="none" strike="noStrike">
              <a:solidFill>
                <a:schemeClr val="dk1"/>
              </a:solidFill>
              <a:latin typeface="Arial"/>
              <a:ea typeface="Arial"/>
              <a:cs typeface="Arial"/>
              <a:sym typeface="Arial"/>
            </a:endParaRPr>
          </a:p>
        </p:txBody>
      </p:sp>
      <p:sp>
        <p:nvSpPr>
          <p:cNvPr id="396" name="Google Shape;396;p22"/>
          <p:cNvSpPr txBox="1"/>
          <p:nvPr/>
        </p:nvSpPr>
        <p:spPr>
          <a:xfrm>
            <a:off x="4816350" y="1188075"/>
            <a:ext cx="43275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graphicFrame>
        <p:nvGraphicFramePr>
          <p:cNvPr id="401" name="Google Shape;401;p23"/>
          <p:cNvGraphicFramePr/>
          <p:nvPr/>
        </p:nvGraphicFramePr>
        <p:xfrm>
          <a:off x="631357" y="2090685"/>
          <a:ext cx="3000000" cy="3000000"/>
        </p:xfrm>
        <a:graphic>
          <a:graphicData uri="http://schemas.openxmlformats.org/drawingml/2006/table">
            <a:tbl>
              <a:tblPr>
                <a:noFill/>
                <a:tableStyleId>{DCB4C225-7969-4F9A-B681-CAE03884277C}</a:tableStyleId>
              </a:tblPr>
              <a:tblGrid>
                <a:gridCol w="438500"/>
                <a:gridCol w="1298300"/>
                <a:gridCol w="6144475"/>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　</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送金宛先一覧で任意の1人を押下したら、画面遷移する機能を実装する</a:t>
                      </a:r>
                      <a:endParaRPr sz="1600" u="none" cap="none" strike="noStrike"/>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送金宛先一覧で押下した人のアイコン・氏名を表示する機能を実装する</a:t>
                      </a:r>
                      <a:endParaRPr sz="1600" u="none" cap="none" strike="noStrike"/>
                    </a:p>
                  </a:txBody>
                  <a:tcPr marT="34300" marB="34300" marR="68575" marL="68575">
                    <a:solidFill>
                      <a:srgbClr val="5A5A5A">
                        <a:alpha val="2274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3</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送金可能な上限金額を表示する機能を実装する</a:t>
                      </a:r>
                      <a:endParaRPr sz="1600" u="none" cap="none" strike="noStrike"/>
                    </a:p>
                  </a:txBody>
                  <a:tcPr marT="34300" marB="34300" marR="68575" marL="68575">
                    <a:solidFill>
                      <a:srgbClr val="F2F2F2"/>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a:t>
                      </a:r>
                      <a:endParaRPr b="0" i="0" sz="1400" u="none" cap="none" strike="noStrike">
                        <a:latin typeface="Meiryo"/>
                        <a:ea typeface="Meiryo"/>
                        <a:cs typeface="Meiryo"/>
                        <a:sym typeface="Meiryo"/>
                      </a:endParaRPr>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送金金額の入力ボックス、送金ボタンを実装する</a:t>
                      </a:r>
                      <a:endParaRPr sz="1600" u="none" cap="none" strike="noStrike"/>
                    </a:p>
                  </a:txBody>
                  <a:tcPr marT="34300" marB="34300" marR="68575" marL="68575">
                    <a:solidFill>
                      <a:srgbClr val="D8D8D8"/>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latin typeface="Meiryo"/>
                          <a:ea typeface="Meiryo"/>
                          <a:cs typeface="Meiryo"/>
                          <a:sym typeface="Meiryo"/>
                        </a:rPr>
                        <a:t>5</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b="0" i="0" sz="16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 sz="1400" u="none" cap="none" strike="noStrike">
                          <a:solidFill>
                            <a:schemeClr val="dk1"/>
                          </a:solidFill>
                          <a:latin typeface="Meiryo"/>
                          <a:ea typeface="Meiryo"/>
                          <a:cs typeface="Meiryo"/>
                          <a:sym typeface="Meiryo"/>
                        </a:rPr>
                        <a:t>タイムキーパー</a:t>
                      </a:r>
                      <a:endParaRPr sz="1400" u="none" cap="none" strike="noStrike">
                        <a:latin typeface="Meiryo"/>
                        <a:ea typeface="Meiryo"/>
                        <a:cs typeface="Meiryo"/>
                        <a:sym typeface="Meiryo"/>
                      </a:endParaRPr>
                    </a:p>
                  </a:txBody>
                  <a:tcPr marT="34300" marB="34300" marR="68575" marL="68575">
                    <a:solidFill>
                      <a:srgbClr val="F2F2F2"/>
                    </a:solidFill>
                  </a:tcPr>
                </a:tc>
              </a:tr>
            </a:tbl>
          </a:graphicData>
        </a:graphic>
      </p:graphicFrame>
      <p:sp>
        <p:nvSpPr>
          <p:cNvPr id="402" name="Google Shape;402;p23"/>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403" name="Google Shape;403;p23"/>
          <p:cNvSpPr txBox="1"/>
          <p:nvPr/>
        </p:nvSpPr>
        <p:spPr>
          <a:xfrm>
            <a:off x="465150" y="276009"/>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ステップ4 : 宛先選択後に金額を入力する画面の実装</a:t>
            </a:r>
            <a:endParaRPr b="0" i="0" sz="1400" u="none" cap="none" strike="noStrike">
              <a:solidFill>
                <a:schemeClr val="dk1"/>
              </a:solidFill>
              <a:latin typeface="Arial"/>
              <a:ea typeface="Arial"/>
              <a:cs typeface="Arial"/>
              <a:sym typeface="Arial"/>
            </a:endParaRPr>
          </a:p>
        </p:txBody>
      </p:sp>
      <p:sp>
        <p:nvSpPr>
          <p:cNvPr id="404" name="Google Shape;404;p23"/>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4"/>
          <p:cNvSpPr/>
          <p:nvPr/>
        </p:nvSpPr>
        <p:spPr>
          <a:xfrm>
            <a:off x="175164" y="967321"/>
            <a:ext cx="46155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410" name="Google Shape;410;p24"/>
          <p:cNvSpPr/>
          <p:nvPr/>
        </p:nvSpPr>
        <p:spPr>
          <a:xfrm>
            <a:off x="4914679" y="967321"/>
            <a:ext cx="40542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id="411" name="Google Shape;411;p24"/>
          <p:cNvPicPr preferRelativeResize="0"/>
          <p:nvPr/>
        </p:nvPicPr>
        <p:blipFill rotWithShape="1">
          <a:blip r:embed="rId3">
            <a:alphaModFix/>
          </a:blip>
          <a:srcRect b="0" l="0" r="0" t="0"/>
          <a:stretch/>
        </p:blipFill>
        <p:spPr>
          <a:xfrm>
            <a:off x="7695958" y="1821595"/>
            <a:ext cx="1145430" cy="2398578"/>
          </a:xfrm>
          <a:prstGeom prst="rect">
            <a:avLst/>
          </a:prstGeom>
          <a:noFill/>
          <a:ln>
            <a:noFill/>
          </a:ln>
        </p:spPr>
      </p:pic>
      <p:pic>
        <p:nvPicPr>
          <p:cNvPr descr="グラフィカル ユーザー インターフェイス, テキスト, アプリケーション&#10;&#10;自動的に生成された説明" id="412" name="Google Shape;412;p24"/>
          <p:cNvPicPr preferRelativeResize="0"/>
          <p:nvPr/>
        </p:nvPicPr>
        <p:blipFill rotWithShape="1">
          <a:blip r:embed="rId4">
            <a:alphaModFix/>
          </a:blip>
          <a:srcRect b="0" l="0" r="0" t="0"/>
          <a:stretch/>
        </p:blipFill>
        <p:spPr>
          <a:xfrm>
            <a:off x="6262898" y="1824790"/>
            <a:ext cx="1131695" cy="2371326"/>
          </a:xfrm>
          <a:prstGeom prst="rect">
            <a:avLst/>
          </a:prstGeom>
          <a:noFill/>
          <a:ln>
            <a:noFill/>
          </a:ln>
        </p:spPr>
      </p:pic>
      <p:pic>
        <p:nvPicPr>
          <p:cNvPr descr="テキスト, アプリケーション&#10;&#10;自動的に生成された説明" id="413" name="Google Shape;413;p24"/>
          <p:cNvPicPr preferRelativeResize="0"/>
          <p:nvPr/>
        </p:nvPicPr>
        <p:blipFill rotWithShape="1">
          <a:blip r:embed="rId5">
            <a:alphaModFix/>
          </a:blip>
          <a:srcRect b="0" l="0" r="0" t="0"/>
          <a:stretch/>
        </p:blipFill>
        <p:spPr>
          <a:xfrm>
            <a:off x="5007588" y="1825379"/>
            <a:ext cx="1121899" cy="2350801"/>
          </a:xfrm>
          <a:prstGeom prst="rect">
            <a:avLst/>
          </a:prstGeom>
          <a:noFill/>
          <a:ln>
            <a:noFill/>
          </a:ln>
        </p:spPr>
      </p:pic>
      <p:sp>
        <p:nvSpPr>
          <p:cNvPr id="414" name="Google Shape;414;p24"/>
          <p:cNvSpPr txBox="1"/>
          <p:nvPr/>
        </p:nvSpPr>
        <p:spPr>
          <a:xfrm>
            <a:off x="409845" y="1302586"/>
            <a:ext cx="4146000" cy="310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[1]</a:t>
            </a:r>
            <a:r>
              <a:rPr b="0" i="0" lang="ja" sz="1200" u="none" cap="none" strike="noStrike">
                <a:solidFill>
                  <a:srgbClr val="FF0000"/>
                </a:solidFill>
                <a:latin typeface="Meiryo"/>
                <a:ea typeface="Meiryo"/>
                <a:cs typeface="Meiryo"/>
                <a:sym typeface="Meiryo"/>
              </a:rPr>
              <a:t>送金金額チェック機能</a:t>
            </a:r>
            <a:r>
              <a:rPr b="0" i="0" lang="ja" sz="1200" u="none" cap="none" strike="noStrike">
                <a:solidFill>
                  <a:schemeClr val="dk1"/>
                </a:solidFill>
                <a:latin typeface="Meiryo"/>
                <a:ea typeface="Meiryo"/>
                <a:cs typeface="Meiryo"/>
                <a:sym typeface="Meiryo"/>
              </a:rPr>
              <a:t>を実装してください。</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13"/>
              <a:buFont typeface="Arial"/>
              <a:buNone/>
            </a:pPr>
            <a:r>
              <a:rPr b="0" i="0" lang="ja" sz="1013" u="none" cap="none" strike="noStrike">
                <a:solidFill>
                  <a:schemeClr val="dk1"/>
                </a:solidFill>
                <a:latin typeface="Meiryo"/>
                <a:ea typeface="Meiryo"/>
                <a:cs typeface="Meiryo"/>
                <a:sym typeface="Meiryo"/>
              </a:rPr>
              <a:t>　   </a:t>
            </a:r>
            <a:r>
              <a:rPr b="0" i="0" lang="ja" sz="1200" u="none" cap="none" strike="noStrike">
                <a:solidFill>
                  <a:schemeClr val="dk1"/>
                </a:solidFill>
                <a:latin typeface="Meiryo"/>
                <a:ea typeface="Meiryo"/>
                <a:cs typeface="Meiryo"/>
                <a:sym typeface="Meiryo"/>
              </a:rPr>
              <a:t>①送金上限額より大きい金額が入力された場合、</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その旨のエラーメッセージを出力する</a:t>
            </a:r>
            <a:endParaRPr b="0" i="0" sz="1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②送金上限額より小さい金額が入力された場合、</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送金ボタンを活性化する</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[2]</a:t>
            </a:r>
            <a:r>
              <a:rPr b="0" i="0" lang="ja" sz="1200" u="none" cap="none" strike="noStrike">
                <a:solidFill>
                  <a:srgbClr val="FF0000"/>
                </a:solidFill>
                <a:latin typeface="Meiryo"/>
                <a:ea typeface="Meiryo"/>
                <a:cs typeface="Meiryo"/>
                <a:sym typeface="Meiryo"/>
              </a:rPr>
              <a:t>送金処理の完了画面</a:t>
            </a:r>
            <a:r>
              <a:rPr b="0" i="0" lang="ja" sz="1200" u="none" cap="none" strike="noStrike">
                <a:solidFill>
                  <a:schemeClr val="dk1"/>
                </a:solidFill>
                <a:latin typeface="Meiryo"/>
                <a:ea typeface="Meiryo"/>
                <a:cs typeface="Meiryo"/>
                <a:sym typeface="Meiryo"/>
              </a:rPr>
              <a:t>を実装してください。</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[3]下記のような</a:t>
            </a:r>
            <a:r>
              <a:rPr b="0" i="0" lang="ja" sz="1200" u="none" cap="none" strike="noStrike">
                <a:solidFill>
                  <a:srgbClr val="FF0000"/>
                </a:solidFill>
                <a:latin typeface="Meiryo"/>
                <a:ea typeface="Meiryo"/>
                <a:cs typeface="Meiryo"/>
                <a:sym typeface="Meiryo"/>
              </a:rPr>
              <a:t>送金処理機能</a:t>
            </a:r>
            <a:r>
              <a:rPr b="0" i="0" lang="ja" sz="1200" u="none" cap="none" strike="noStrike">
                <a:solidFill>
                  <a:schemeClr val="dk1"/>
                </a:solidFill>
                <a:latin typeface="Meiryo"/>
                <a:ea typeface="Meiryo"/>
                <a:cs typeface="Meiryo"/>
                <a:sym typeface="Meiryo"/>
              </a:rPr>
              <a:t>を実装して下さい。</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525"/>
              <a:buFont typeface="Arial"/>
              <a:buNone/>
            </a:pPr>
            <a:r>
              <a:t/>
            </a:r>
            <a:endParaRPr b="0" i="0" sz="525"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13"/>
              <a:buFont typeface="Arial"/>
              <a:buNone/>
            </a:pPr>
            <a:r>
              <a:rPr b="0" i="0" lang="ja" sz="1013" u="none" cap="none" strike="noStrike">
                <a:solidFill>
                  <a:schemeClr val="dk1"/>
                </a:solidFill>
                <a:latin typeface="Meiryo"/>
                <a:ea typeface="Meiryo"/>
                <a:cs typeface="Meiryo"/>
                <a:sym typeface="Meiryo"/>
              </a:rPr>
              <a:t>    　</a:t>
            </a:r>
            <a:r>
              <a:rPr b="0" i="0" lang="ja" sz="1200" u="none" cap="none" strike="noStrike">
                <a:solidFill>
                  <a:schemeClr val="dk1"/>
                </a:solidFill>
                <a:latin typeface="Meiryo"/>
                <a:ea typeface="Meiryo"/>
                <a:cs typeface="Meiryo"/>
                <a:sym typeface="Meiryo"/>
              </a:rPr>
              <a:t>②の状態で送金ボタンが押下された際に、</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自身の預金残高から送金金額を減算し、</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送金宛先の預金残高に送金金額を加算し、</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送金処理の完了画面に遷移する</a:t>
            </a:r>
            <a:endParaRPr b="0" i="0" sz="1200" u="none" cap="none" strike="noStrike">
              <a:solidFill>
                <a:schemeClr val="dk1"/>
              </a:solidFill>
              <a:latin typeface="Meiryo"/>
              <a:ea typeface="Meiryo"/>
              <a:cs typeface="Meiryo"/>
              <a:sym typeface="Meiryo"/>
            </a:endParaRPr>
          </a:p>
        </p:txBody>
      </p:sp>
      <p:sp>
        <p:nvSpPr>
          <p:cNvPr id="415" name="Google Shape;415;p24"/>
          <p:cNvSpPr/>
          <p:nvPr/>
        </p:nvSpPr>
        <p:spPr>
          <a:xfrm>
            <a:off x="4980115" y="3137505"/>
            <a:ext cx="1160700" cy="4770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416" name="Google Shape;416;p24"/>
          <p:cNvGrpSpPr/>
          <p:nvPr/>
        </p:nvGrpSpPr>
        <p:grpSpPr>
          <a:xfrm>
            <a:off x="5517220" y="2913719"/>
            <a:ext cx="594151" cy="308382"/>
            <a:chOff x="9287189" y="1016473"/>
            <a:chExt cx="979800" cy="578470"/>
          </a:xfrm>
        </p:grpSpPr>
        <p:sp>
          <p:nvSpPr>
            <p:cNvPr id="417" name="Google Shape;417;p24"/>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18" name="Google Shape;418;p24"/>
            <p:cNvSpPr txBox="1"/>
            <p:nvPr/>
          </p:nvSpPr>
          <p:spPr>
            <a:xfrm>
              <a:off x="9442659" y="1162043"/>
              <a:ext cx="751200" cy="4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grpSp>
      <p:sp>
        <p:nvSpPr>
          <p:cNvPr id="419" name="Google Shape;419;p24"/>
          <p:cNvSpPr/>
          <p:nvPr/>
        </p:nvSpPr>
        <p:spPr>
          <a:xfrm>
            <a:off x="6235599" y="3614547"/>
            <a:ext cx="1158900" cy="3924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420" name="Google Shape;420;p24"/>
          <p:cNvGrpSpPr/>
          <p:nvPr/>
        </p:nvGrpSpPr>
        <p:grpSpPr>
          <a:xfrm>
            <a:off x="6930888" y="3353129"/>
            <a:ext cx="594151" cy="308382"/>
            <a:chOff x="9287189" y="1016473"/>
            <a:chExt cx="979800" cy="578470"/>
          </a:xfrm>
        </p:grpSpPr>
        <p:sp>
          <p:nvSpPr>
            <p:cNvPr id="421" name="Google Shape;421;p24"/>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22" name="Google Shape;422;p24"/>
            <p:cNvSpPr txBox="1"/>
            <p:nvPr/>
          </p:nvSpPr>
          <p:spPr>
            <a:xfrm>
              <a:off x="9442659" y="1162043"/>
              <a:ext cx="751200" cy="4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grpSp>
      <p:sp>
        <p:nvSpPr>
          <p:cNvPr id="423" name="Google Shape;423;p24"/>
          <p:cNvSpPr/>
          <p:nvPr/>
        </p:nvSpPr>
        <p:spPr>
          <a:xfrm>
            <a:off x="7622122" y="1781269"/>
            <a:ext cx="1257300" cy="24585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424" name="Google Shape;424;p24"/>
          <p:cNvGrpSpPr/>
          <p:nvPr/>
        </p:nvGrpSpPr>
        <p:grpSpPr>
          <a:xfrm>
            <a:off x="8330610" y="1540392"/>
            <a:ext cx="594151" cy="308382"/>
            <a:chOff x="9287189" y="1016473"/>
            <a:chExt cx="979800" cy="578470"/>
          </a:xfrm>
        </p:grpSpPr>
        <p:sp>
          <p:nvSpPr>
            <p:cNvPr id="425" name="Google Shape;425;p24"/>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26" name="Google Shape;426;p24"/>
            <p:cNvSpPr txBox="1"/>
            <p:nvPr/>
          </p:nvSpPr>
          <p:spPr>
            <a:xfrm>
              <a:off x="9442659" y="1162043"/>
              <a:ext cx="751200" cy="4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grpSp>
      <p:sp>
        <p:nvSpPr>
          <p:cNvPr id="427" name="Google Shape;427;p24"/>
          <p:cNvSpPr/>
          <p:nvPr/>
        </p:nvSpPr>
        <p:spPr>
          <a:xfrm>
            <a:off x="7330000" y="3706576"/>
            <a:ext cx="350700" cy="221100"/>
          </a:xfrm>
          <a:prstGeom prst="rightArrow">
            <a:avLst>
              <a:gd fmla="val 50000" name="adj1"/>
              <a:gd fmla="val 64060" name="adj2"/>
            </a:avLst>
          </a:prstGeom>
          <a:solidFill>
            <a:srgbClr val="CEF3EF"/>
          </a:solidFill>
          <a:ln cap="flat" cmpd="sng" w="25400">
            <a:solidFill>
              <a:srgbClr val="B19B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id="428" name="Google Shape;428;p24"/>
          <p:cNvPicPr preferRelativeResize="0"/>
          <p:nvPr/>
        </p:nvPicPr>
        <p:blipFill rotWithShape="1">
          <a:blip r:embed="rId6">
            <a:alphaModFix/>
          </a:blip>
          <a:srcRect b="0" l="0" r="0" t="0"/>
          <a:stretch/>
        </p:blipFill>
        <p:spPr>
          <a:xfrm rot="-1656425">
            <a:off x="6867982" y="3764400"/>
            <a:ext cx="738325" cy="738325"/>
          </a:xfrm>
          <a:prstGeom prst="rect">
            <a:avLst/>
          </a:prstGeom>
          <a:noFill/>
          <a:ln>
            <a:noFill/>
          </a:ln>
        </p:spPr>
      </p:pic>
      <p:sp>
        <p:nvSpPr>
          <p:cNvPr id="429" name="Google Shape;429;p24"/>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430" name="Google Shape;430;p24"/>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（1）ステップ5のゴール</a:t>
            </a:r>
            <a:endParaRPr b="0" i="0" sz="1050" u="none" cap="none" strike="noStrike">
              <a:solidFill>
                <a:schemeClr val="dk1"/>
              </a:solidFill>
              <a:latin typeface="Meiryo"/>
              <a:ea typeface="Meiryo"/>
              <a:cs typeface="Meiryo"/>
              <a:sym typeface="Meiryo"/>
            </a:endParaRPr>
          </a:p>
        </p:txBody>
      </p:sp>
      <p:sp>
        <p:nvSpPr>
          <p:cNvPr id="431" name="Google Shape;431;p24"/>
          <p:cNvSpPr txBox="1"/>
          <p:nvPr/>
        </p:nvSpPr>
        <p:spPr>
          <a:xfrm>
            <a:off x="5082977" y="81971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432" name="Google Shape;432;p24"/>
          <p:cNvSpPr txBox="1"/>
          <p:nvPr/>
        </p:nvSpPr>
        <p:spPr>
          <a:xfrm>
            <a:off x="465150" y="291264"/>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ステップ5 : 送金処理に関する機能の実装</a:t>
            </a:r>
            <a:endParaRPr b="0" i="0" sz="1400" u="none" cap="none" strike="noStrike">
              <a:solidFill>
                <a:schemeClr val="dk1"/>
              </a:solidFill>
              <a:latin typeface="Arial"/>
              <a:ea typeface="Arial"/>
              <a:cs typeface="Arial"/>
              <a:sym typeface="Arial"/>
            </a:endParaRPr>
          </a:p>
        </p:txBody>
      </p:sp>
      <p:sp>
        <p:nvSpPr>
          <p:cNvPr id="433" name="Google Shape;433;p24"/>
          <p:cNvSpPr txBox="1"/>
          <p:nvPr/>
        </p:nvSpPr>
        <p:spPr>
          <a:xfrm>
            <a:off x="4816350" y="1188075"/>
            <a:ext cx="43278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graphicFrame>
        <p:nvGraphicFramePr>
          <p:cNvPr id="438" name="Google Shape;438;p25"/>
          <p:cNvGraphicFramePr/>
          <p:nvPr/>
        </p:nvGraphicFramePr>
        <p:xfrm>
          <a:off x="950527" y="2106835"/>
          <a:ext cx="3000000" cy="3000000"/>
        </p:xfrm>
        <a:graphic>
          <a:graphicData uri="http://schemas.openxmlformats.org/drawingml/2006/table">
            <a:tbl>
              <a:tblPr>
                <a:noFill/>
                <a:tableStyleId>{DCB4C225-7969-4F9A-B681-CAE03884277C}</a:tableStyleId>
              </a:tblPr>
              <a:tblGrid>
                <a:gridCol w="396925"/>
                <a:gridCol w="1175175"/>
                <a:gridCol w="5561750"/>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　</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送金処理画面の画面表示を実装する</a:t>
                      </a:r>
                      <a:endParaRPr sz="1600" u="none" cap="none" strike="noStrike"/>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送金金額の入力機能を実装する</a:t>
                      </a:r>
                      <a:endParaRPr sz="1600" u="none" cap="none" strike="noStrike"/>
                    </a:p>
                  </a:txBody>
                  <a:tcPr marT="34300" marB="34300" marR="68575" marL="68575">
                    <a:solidFill>
                      <a:srgbClr val="5A5A5A">
                        <a:alpha val="2274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3</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送金ボタン押下後の送金処理（引き落とし、入金）を機能実施する</a:t>
                      </a:r>
                      <a:endParaRPr sz="1600" u="none" cap="none" strike="noStrike"/>
                    </a:p>
                  </a:txBody>
                  <a:tcPr marT="34300" marB="34300" marR="68575" marL="68575">
                    <a:solidFill>
                      <a:srgbClr val="F2F2F2"/>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a:t>
                      </a:r>
                      <a:endParaRPr b="0" i="0" sz="1400" u="none" cap="none" strike="noStrike">
                        <a:latin typeface="Meiryo"/>
                        <a:ea typeface="Meiryo"/>
                        <a:cs typeface="Meiryo"/>
                        <a:sym typeface="Meiryo"/>
                      </a:endParaRPr>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送金処理結果に応じた、画面遷移を実装する</a:t>
                      </a:r>
                      <a:endParaRPr sz="1600" u="none" cap="none" strike="noStrike"/>
                    </a:p>
                  </a:txBody>
                  <a:tcPr marT="34300" marB="34300" marR="68575" marL="68575">
                    <a:solidFill>
                      <a:srgbClr val="D8D8D8"/>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latin typeface="Meiryo"/>
                          <a:ea typeface="Meiryo"/>
                          <a:cs typeface="Meiryo"/>
                          <a:sym typeface="Meiryo"/>
                        </a:rPr>
                        <a:t>5</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b="0" i="0" sz="16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 sz="1400" u="none" cap="none" strike="noStrike">
                          <a:solidFill>
                            <a:schemeClr val="dk1"/>
                          </a:solidFill>
                          <a:latin typeface="Meiryo"/>
                          <a:ea typeface="Meiryo"/>
                          <a:cs typeface="Meiryo"/>
                          <a:sym typeface="Meiryo"/>
                        </a:rPr>
                        <a:t>タイムキーパー</a:t>
                      </a:r>
                      <a:endParaRPr b="0" i="0" sz="1400" u="none" cap="none" strike="noStrike">
                        <a:latin typeface="Meiryo"/>
                        <a:ea typeface="Meiryo"/>
                        <a:cs typeface="Meiryo"/>
                        <a:sym typeface="Meiryo"/>
                      </a:endParaRPr>
                    </a:p>
                  </a:txBody>
                  <a:tcPr marT="34300" marB="34300" marR="68575" marL="68575">
                    <a:solidFill>
                      <a:srgbClr val="F2F2F2"/>
                    </a:solidFill>
                  </a:tcPr>
                </a:tc>
              </a:tr>
            </a:tbl>
          </a:graphicData>
        </a:graphic>
      </p:graphicFrame>
      <p:sp>
        <p:nvSpPr>
          <p:cNvPr id="439" name="Google Shape;439;p25"/>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440" name="Google Shape;440;p25"/>
          <p:cNvSpPr txBox="1"/>
          <p:nvPr/>
        </p:nvSpPr>
        <p:spPr>
          <a:xfrm>
            <a:off x="430800" y="27944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ステップ5 : 送金処理に関する機能の実装</a:t>
            </a:r>
            <a:endParaRPr b="0" i="0" sz="1400" u="none" cap="none" strike="noStrike">
              <a:solidFill>
                <a:schemeClr val="dk1"/>
              </a:solidFill>
              <a:latin typeface="Arial"/>
              <a:ea typeface="Arial"/>
              <a:cs typeface="Arial"/>
              <a:sym typeface="Arial"/>
            </a:endParaRPr>
          </a:p>
        </p:txBody>
      </p:sp>
      <p:sp>
        <p:nvSpPr>
          <p:cNvPr id="441" name="Google Shape;441;p25"/>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6"/>
          <p:cNvSpPr/>
          <p:nvPr/>
        </p:nvSpPr>
        <p:spPr>
          <a:xfrm>
            <a:off x="175164" y="967321"/>
            <a:ext cx="46155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447" name="Google Shape;447;p26"/>
          <p:cNvSpPr/>
          <p:nvPr/>
        </p:nvSpPr>
        <p:spPr>
          <a:xfrm>
            <a:off x="6212250" y="1719075"/>
            <a:ext cx="1560300" cy="28446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10;&#10;自動的に生成された説明" id="448" name="Google Shape;448;p26"/>
          <p:cNvPicPr preferRelativeResize="0"/>
          <p:nvPr/>
        </p:nvPicPr>
        <p:blipFill rotWithShape="1">
          <a:blip r:embed="rId3">
            <a:alphaModFix/>
          </a:blip>
          <a:srcRect b="0" l="0" r="0" t="0"/>
          <a:stretch/>
        </p:blipFill>
        <p:spPr>
          <a:xfrm>
            <a:off x="6323200" y="1848726"/>
            <a:ext cx="1382150" cy="2682300"/>
          </a:xfrm>
          <a:prstGeom prst="rect">
            <a:avLst/>
          </a:prstGeom>
          <a:noFill/>
          <a:ln>
            <a:noFill/>
          </a:ln>
        </p:spPr>
      </p:pic>
      <p:sp>
        <p:nvSpPr>
          <p:cNvPr id="449" name="Google Shape;449;p26"/>
          <p:cNvSpPr txBox="1"/>
          <p:nvPr/>
        </p:nvSpPr>
        <p:spPr>
          <a:xfrm>
            <a:off x="7117911" y="1364986"/>
            <a:ext cx="184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grpSp>
        <p:nvGrpSpPr>
          <p:cNvPr id="450" name="Google Shape;450;p26"/>
          <p:cNvGrpSpPr/>
          <p:nvPr/>
        </p:nvGrpSpPr>
        <p:grpSpPr>
          <a:xfrm>
            <a:off x="7529112" y="1605270"/>
            <a:ext cx="734850" cy="430200"/>
            <a:chOff x="9287189" y="1016473"/>
            <a:chExt cx="979800" cy="573600"/>
          </a:xfrm>
        </p:grpSpPr>
        <p:sp>
          <p:nvSpPr>
            <p:cNvPr id="451" name="Google Shape;451;p26"/>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52" name="Google Shape;452;p26"/>
            <p:cNvSpPr txBox="1"/>
            <p:nvPr/>
          </p:nvSpPr>
          <p:spPr>
            <a:xfrm>
              <a:off x="9442660" y="1162042"/>
              <a:ext cx="7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lt1"/>
                  </a:solidFill>
                  <a:latin typeface="Meiryo"/>
                  <a:ea typeface="Meiryo"/>
                  <a:cs typeface="Meiryo"/>
                  <a:sym typeface="Meiryo"/>
                </a:rPr>
                <a:t>NEW</a:t>
              </a:r>
              <a:endParaRPr b="0" i="0" sz="1200" u="none" cap="none" strike="noStrike">
                <a:solidFill>
                  <a:schemeClr val="lt1"/>
                </a:solidFill>
                <a:latin typeface="Meiryo"/>
                <a:ea typeface="Meiryo"/>
                <a:cs typeface="Meiryo"/>
                <a:sym typeface="Meiryo"/>
              </a:endParaRPr>
            </a:p>
          </p:txBody>
        </p:sp>
      </p:grpSp>
      <p:sp>
        <p:nvSpPr>
          <p:cNvPr id="453" name="Google Shape;453;p26"/>
          <p:cNvSpPr txBox="1"/>
          <p:nvPr/>
        </p:nvSpPr>
        <p:spPr>
          <a:xfrm>
            <a:off x="465139" y="1991446"/>
            <a:ext cx="42558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ステップ4, 5で実装した送金画面に、</a:t>
            </a:r>
            <a:endParaRPr b="0" i="0" sz="1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rgbClr val="E60000"/>
                </a:solidFill>
                <a:latin typeface="Meiryo"/>
                <a:ea typeface="Meiryo"/>
                <a:cs typeface="Meiryo"/>
                <a:sym typeface="Meiryo"/>
              </a:rPr>
              <a:t>任意でメッセージも添付できる機能</a:t>
            </a:r>
            <a:endParaRPr b="0" i="0" sz="1800" u="none" cap="none" strike="noStrike">
              <a:solidFill>
                <a:srgbClr val="E6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を実装してください</a:t>
            </a:r>
            <a:endParaRPr b="0" i="0" sz="1800" u="none" cap="none" strike="noStrike">
              <a:solidFill>
                <a:schemeClr val="dk1"/>
              </a:solidFill>
              <a:latin typeface="Meiryo"/>
              <a:ea typeface="Meiryo"/>
              <a:cs typeface="Meiryo"/>
              <a:sym typeface="Meiryo"/>
            </a:endParaRPr>
          </a:p>
        </p:txBody>
      </p:sp>
      <p:sp>
        <p:nvSpPr>
          <p:cNvPr id="454" name="Google Shape;454;p26"/>
          <p:cNvSpPr/>
          <p:nvPr/>
        </p:nvSpPr>
        <p:spPr>
          <a:xfrm>
            <a:off x="4914675" y="967345"/>
            <a:ext cx="40542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455" name="Google Shape;455;p26"/>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456" name="Google Shape;456;p26"/>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（1）ステップ6のゴール</a:t>
            </a:r>
            <a:endParaRPr b="0" i="0" sz="1050" u="none" cap="none" strike="noStrike">
              <a:solidFill>
                <a:schemeClr val="dk1"/>
              </a:solidFill>
              <a:latin typeface="Meiryo"/>
              <a:ea typeface="Meiryo"/>
              <a:cs typeface="Meiryo"/>
              <a:sym typeface="Meiryo"/>
            </a:endParaRPr>
          </a:p>
        </p:txBody>
      </p:sp>
      <p:sp>
        <p:nvSpPr>
          <p:cNvPr id="457" name="Google Shape;457;p26"/>
          <p:cNvSpPr txBox="1"/>
          <p:nvPr/>
        </p:nvSpPr>
        <p:spPr>
          <a:xfrm>
            <a:off x="5082977" y="81971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458" name="Google Shape;458;p26"/>
          <p:cNvSpPr txBox="1"/>
          <p:nvPr/>
        </p:nvSpPr>
        <p:spPr>
          <a:xfrm>
            <a:off x="441202" y="269573"/>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ステップ6 : 送金時にメッセージを添付できる機能の実装</a:t>
            </a:r>
            <a:endParaRPr b="0" i="0" sz="1400" u="none" cap="none" strike="noStrike">
              <a:solidFill>
                <a:schemeClr val="dk1"/>
              </a:solidFill>
              <a:latin typeface="Arial"/>
              <a:ea typeface="Arial"/>
              <a:cs typeface="Arial"/>
              <a:sym typeface="Arial"/>
            </a:endParaRPr>
          </a:p>
        </p:txBody>
      </p:sp>
      <p:sp>
        <p:nvSpPr>
          <p:cNvPr id="459" name="Google Shape;459;p26"/>
          <p:cNvSpPr txBox="1"/>
          <p:nvPr/>
        </p:nvSpPr>
        <p:spPr>
          <a:xfrm>
            <a:off x="4816350" y="1188075"/>
            <a:ext cx="43278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graphicFrame>
        <p:nvGraphicFramePr>
          <p:cNvPr id="464" name="Google Shape;464;p27"/>
          <p:cNvGraphicFramePr/>
          <p:nvPr/>
        </p:nvGraphicFramePr>
        <p:xfrm>
          <a:off x="772311" y="2125960"/>
          <a:ext cx="3000000" cy="3000000"/>
        </p:xfrm>
        <a:graphic>
          <a:graphicData uri="http://schemas.openxmlformats.org/drawingml/2006/table">
            <a:tbl>
              <a:tblPr>
                <a:noFill/>
                <a:tableStyleId>{DCB4C225-7969-4F9A-B681-CAE03884277C}</a:tableStyleId>
              </a:tblPr>
              <a:tblGrid>
                <a:gridCol w="416750"/>
                <a:gridCol w="1233900"/>
                <a:gridCol w="5839625"/>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45725" marB="45725" marR="91450" marL="91450">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4人（全員）</a:t>
                      </a:r>
                      <a:endParaRPr sz="1600" u="none" cap="none" strike="noStrike"/>
                    </a:p>
                  </a:txBody>
                  <a:tcPr marT="45725" marB="45725" marR="91450" marL="91450">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送金時に任意でメッセージも合わせて添付</a:t>
                      </a:r>
                      <a:r>
                        <a:rPr lang="ja" sz="1400" u="none" cap="none" strike="noStrike">
                          <a:latin typeface="Meiryo"/>
                          <a:ea typeface="Meiryo"/>
                          <a:cs typeface="Meiryo"/>
                          <a:sym typeface="Meiryo"/>
                        </a:rPr>
                        <a:t>でき</a:t>
                      </a:r>
                      <a:r>
                        <a:rPr b="0" i="0" lang="ja" sz="1400" u="none" cap="none" strike="noStrike">
                          <a:latin typeface="Meiryo"/>
                          <a:ea typeface="Meiryo"/>
                          <a:cs typeface="Meiryo"/>
                          <a:sym typeface="Meiryo"/>
                        </a:rPr>
                        <a:t>る機能の実装</a:t>
                      </a:r>
                      <a:endParaRPr sz="1600" u="none" cap="none" strike="noStrike"/>
                    </a:p>
                  </a:txBody>
                  <a:tcPr marT="45725" marB="45725" marR="91450" marL="91450">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45725" marB="45725" marR="91450" marL="91450">
                    <a:solidFill>
                      <a:srgbClr val="5A5A5A">
                        <a:alpha val="22745"/>
                      </a:srgbClr>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45725" marB="45725" marR="91450" marL="91450">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タイムキーパー</a:t>
                      </a:r>
                      <a:endParaRPr sz="1600" u="none" cap="none" strike="noStrike"/>
                    </a:p>
                  </a:txBody>
                  <a:tcPr marT="45725" marB="45725" marR="91450" marL="91450">
                    <a:solidFill>
                      <a:srgbClr val="5A5A5A">
                        <a:alpha val="22745"/>
                      </a:srgbClr>
                    </a:solidFill>
                  </a:tcPr>
                </a:tc>
              </a:tr>
            </a:tbl>
          </a:graphicData>
        </a:graphic>
      </p:graphicFrame>
      <p:sp>
        <p:nvSpPr>
          <p:cNvPr id="465" name="Google Shape;465;p27"/>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466" name="Google Shape;466;p27"/>
          <p:cNvSpPr txBox="1"/>
          <p:nvPr/>
        </p:nvSpPr>
        <p:spPr>
          <a:xfrm>
            <a:off x="471677" y="27337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ステップ6 : 送金時にメッセージを添付できる機能の実装</a:t>
            </a:r>
            <a:endParaRPr b="0" i="0" sz="1400" u="none" cap="none" strike="noStrike">
              <a:solidFill>
                <a:schemeClr val="dk1"/>
              </a:solidFill>
              <a:latin typeface="Arial"/>
              <a:ea typeface="Arial"/>
              <a:cs typeface="Arial"/>
              <a:sym typeface="Arial"/>
            </a:endParaRPr>
          </a:p>
        </p:txBody>
      </p:sp>
      <p:sp>
        <p:nvSpPr>
          <p:cNvPr id="467" name="Google Shape;467;p27"/>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0"/>
          <p:cNvSpPr txBox="1"/>
          <p:nvPr>
            <p:ph idx="1" type="body"/>
          </p:nvPr>
        </p:nvSpPr>
        <p:spPr>
          <a:xfrm>
            <a:off x="474268" y="943330"/>
            <a:ext cx="8208000" cy="3456300"/>
          </a:xfrm>
          <a:prstGeom prst="rect">
            <a:avLst/>
          </a:prstGeom>
          <a:noFill/>
          <a:ln>
            <a:noFill/>
          </a:ln>
        </p:spPr>
        <p:txBody>
          <a:bodyPr anchorCtr="0" anchor="t" bIns="0" lIns="0" spcFirstLastPara="1" rIns="0" wrap="square" tIns="0">
            <a:normAutofit/>
          </a:bodyPr>
          <a:lstStyle/>
          <a:p>
            <a:pPr indent="-228600" lvl="0" marL="457200" rtl="0" algn="l">
              <a:lnSpc>
                <a:spcPct val="111111"/>
              </a:lnSpc>
              <a:spcBef>
                <a:spcPts val="1000"/>
              </a:spcBef>
              <a:spcAft>
                <a:spcPts val="0"/>
              </a:spcAft>
              <a:buClr>
                <a:schemeClr val="dk1"/>
              </a:buClr>
              <a:buSzPts val="1800"/>
              <a:buNone/>
            </a:pPr>
            <a:r>
              <a:rPr lang="ja"/>
              <a:t>ここまでの実装をメンターに説明してみましょう。</a:t>
            </a:r>
            <a:endParaRPr/>
          </a:p>
          <a:p>
            <a:pPr indent="-228600" lvl="0" marL="457200" rtl="0" algn="l">
              <a:lnSpc>
                <a:spcPct val="111111"/>
              </a:lnSpc>
              <a:spcBef>
                <a:spcPts val="1000"/>
              </a:spcBef>
              <a:spcAft>
                <a:spcPts val="0"/>
              </a:spcAft>
              <a:buClr>
                <a:schemeClr val="dk1"/>
              </a:buClr>
              <a:buSzPts val="1800"/>
              <a:buNone/>
            </a:pPr>
            <a:r>
              <a:rPr lang="ja"/>
              <a:t>自分の役割分担</a:t>
            </a:r>
            <a:r>
              <a:rPr lang="ja">
                <a:solidFill>
                  <a:srgbClr val="FF0000"/>
                </a:solidFill>
              </a:rPr>
              <a:t>以外</a:t>
            </a:r>
            <a:r>
              <a:rPr lang="ja"/>
              <a:t>の部分を理解できているか、</a:t>
            </a:r>
            <a:endParaRPr/>
          </a:p>
          <a:p>
            <a:pPr indent="-228600" lvl="0" marL="457200" rtl="0" algn="l">
              <a:lnSpc>
                <a:spcPct val="111111"/>
              </a:lnSpc>
              <a:spcBef>
                <a:spcPts val="1000"/>
              </a:spcBef>
              <a:spcAft>
                <a:spcPts val="0"/>
              </a:spcAft>
              <a:buClr>
                <a:schemeClr val="dk1"/>
              </a:buClr>
              <a:buSzPts val="1800"/>
              <a:buNone/>
            </a:pPr>
            <a:r>
              <a:rPr lang="ja"/>
              <a:t>チーム内で共有してください。</a:t>
            </a:r>
            <a:endParaRPr/>
          </a:p>
        </p:txBody>
      </p:sp>
      <p:sp>
        <p:nvSpPr>
          <p:cNvPr id="473" name="Google Shape;473;p10"/>
          <p:cNvSpPr txBox="1"/>
          <p:nvPr/>
        </p:nvSpPr>
        <p:spPr>
          <a:xfrm>
            <a:off x="471677" y="27337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チェックポイント</a:t>
            </a:r>
            <a:endParaRPr b="0" i="0" sz="2000" u="none" cap="none" strike="noStrike">
              <a:solidFill>
                <a:schemeClr val="dk1"/>
              </a:solidFill>
              <a:latin typeface="Meiryo"/>
              <a:ea typeface="Meiryo"/>
              <a:cs typeface="Meiryo"/>
              <a:sym typeface="Meiryo"/>
            </a:endParaRPr>
          </a:p>
        </p:txBody>
      </p:sp>
      <p:sp>
        <p:nvSpPr>
          <p:cNvPr id="474" name="Google Shape;474;p10"/>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8" name="Shape 478"/>
        <p:cNvGrpSpPr/>
        <p:nvPr/>
      </p:nvGrpSpPr>
      <p:grpSpPr>
        <a:xfrm>
          <a:off x="0" y="0"/>
          <a:ext cx="0" cy="0"/>
          <a:chOff x="0" y="0"/>
          <a:chExt cx="0" cy="0"/>
        </a:xfrm>
      </p:grpSpPr>
      <p:sp>
        <p:nvSpPr>
          <p:cNvPr id="479" name="Google Shape;479;p28"/>
          <p:cNvSpPr/>
          <p:nvPr/>
        </p:nvSpPr>
        <p:spPr>
          <a:xfrm>
            <a:off x="175164" y="967321"/>
            <a:ext cx="46155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pic>
        <p:nvPicPr>
          <p:cNvPr descr="グラフィカル ユーザー インターフェイス, テキスト, アプリケーション&#10;&#10;自動的に生成された説明" id="480" name="Google Shape;480;p28"/>
          <p:cNvPicPr preferRelativeResize="0"/>
          <p:nvPr/>
        </p:nvPicPr>
        <p:blipFill rotWithShape="1">
          <a:blip r:embed="rId3">
            <a:alphaModFix/>
          </a:blip>
          <a:srcRect b="0" l="0" r="0" t="0"/>
          <a:stretch/>
        </p:blipFill>
        <p:spPr>
          <a:xfrm>
            <a:off x="4988055" y="1980495"/>
            <a:ext cx="1211350" cy="2538231"/>
          </a:xfrm>
          <a:prstGeom prst="rect">
            <a:avLst/>
          </a:prstGeom>
          <a:noFill/>
          <a:ln>
            <a:noFill/>
          </a:ln>
        </p:spPr>
      </p:pic>
      <p:pic>
        <p:nvPicPr>
          <p:cNvPr descr="グラフィカル ユーザー インターフェイス, テキスト, アプリケーション, チャットまたはテキスト メッセージ&#10;&#10;自動的に生成された説明" id="481" name="Google Shape;481;p28"/>
          <p:cNvPicPr preferRelativeResize="0"/>
          <p:nvPr/>
        </p:nvPicPr>
        <p:blipFill rotWithShape="1">
          <a:blip r:embed="rId4">
            <a:alphaModFix/>
          </a:blip>
          <a:srcRect b="0" l="0" r="0" t="0"/>
          <a:stretch/>
        </p:blipFill>
        <p:spPr>
          <a:xfrm>
            <a:off x="7637108" y="1967248"/>
            <a:ext cx="1204573" cy="2524033"/>
          </a:xfrm>
          <a:prstGeom prst="rect">
            <a:avLst/>
          </a:prstGeom>
          <a:noFill/>
          <a:ln>
            <a:noFill/>
          </a:ln>
        </p:spPr>
      </p:pic>
      <p:pic>
        <p:nvPicPr>
          <p:cNvPr descr="グラフィカル ユーザー インターフェイス, テキスト, アプリケーション, チャットまたはテキスト メッセージ&#10;&#10;自動的に生成された説明" id="482" name="Google Shape;482;p28"/>
          <p:cNvPicPr preferRelativeResize="0"/>
          <p:nvPr/>
        </p:nvPicPr>
        <p:blipFill rotWithShape="1">
          <a:blip r:embed="rId5">
            <a:alphaModFix/>
          </a:blip>
          <a:srcRect b="0" l="0" r="0" t="0"/>
          <a:stretch/>
        </p:blipFill>
        <p:spPr>
          <a:xfrm>
            <a:off x="6289652" y="1986259"/>
            <a:ext cx="1233854" cy="2497537"/>
          </a:xfrm>
          <a:prstGeom prst="rect">
            <a:avLst/>
          </a:prstGeom>
          <a:noFill/>
          <a:ln>
            <a:noFill/>
          </a:ln>
        </p:spPr>
      </p:pic>
      <p:sp>
        <p:nvSpPr>
          <p:cNvPr id="483" name="Google Shape;483;p28"/>
          <p:cNvSpPr/>
          <p:nvPr/>
        </p:nvSpPr>
        <p:spPr>
          <a:xfrm>
            <a:off x="5032334" y="3618591"/>
            <a:ext cx="1158900" cy="2745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484" name="Google Shape;484;p28"/>
          <p:cNvGrpSpPr/>
          <p:nvPr/>
        </p:nvGrpSpPr>
        <p:grpSpPr>
          <a:xfrm>
            <a:off x="5727620" y="3439679"/>
            <a:ext cx="594151" cy="308382"/>
            <a:chOff x="9287189" y="1016473"/>
            <a:chExt cx="979800" cy="578470"/>
          </a:xfrm>
        </p:grpSpPr>
        <p:sp>
          <p:nvSpPr>
            <p:cNvPr id="485" name="Google Shape;485;p28"/>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86" name="Google Shape;486;p28"/>
            <p:cNvSpPr txBox="1"/>
            <p:nvPr/>
          </p:nvSpPr>
          <p:spPr>
            <a:xfrm>
              <a:off x="9442659" y="1162043"/>
              <a:ext cx="751200" cy="4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grpSp>
      <p:sp>
        <p:nvSpPr>
          <p:cNvPr id="487" name="Google Shape;487;p28"/>
          <p:cNvSpPr/>
          <p:nvPr/>
        </p:nvSpPr>
        <p:spPr>
          <a:xfrm>
            <a:off x="6277933" y="1980496"/>
            <a:ext cx="1267800" cy="24975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488" name="Google Shape;488;p28"/>
          <p:cNvGrpSpPr/>
          <p:nvPr/>
        </p:nvGrpSpPr>
        <p:grpSpPr>
          <a:xfrm>
            <a:off x="6973220" y="1719079"/>
            <a:ext cx="594151" cy="308382"/>
            <a:chOff x="9287189" y="1016473"/>
            <a:chExt cx="979800" cy="578470"/>
          </a:xfrm>
        </p:grpSpPr>
        <p:sp>
          <p:nvSpPr>
            <p:cNvPr id="489" name="Google Shape;489;p28"/>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90" name="Google Shape;490;p28"/>
            <p:cNvSpPr txBox="1"/>
            <p:nvPr/>
          </p:nvSpPr>
          <p:spPr>
            <a:xfrm>
              <a:off x="9442659" y="1162043"/>
              <a:ext cx="751200" cy="4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grpSp>
      <p:sp>
        <p:nvSpPr>
          <p:cNvPr id="491" name="Google Shape;491;p28"/>
          <p:cNvSpPr/>
          <p:nvPr/>
        </p:nvSpPr>
        <p:spPr>
          <a:xfrm>
            <a:off x="7606042" y="1980495"/>
            <a:ext cx="1245300" cy="2503200"/>
          </a:xfrm>
          <a:prstGeom prst="rect">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grpSp>
        <p:nvGrpSpPr>
          <p:cNvPr id="492" name="Google Shape;492;p28"/>
          <p:cNvGrpSpPr/>
          <p:nvPr/>
        </p:nvGrpSpPr>
        <p:grpSpPr>
          <a:xfrm>
            <a:off x="8301328" y="1719079"/>
            <a:ext cx="594151" cy="308382"/>
            <a:chOff x="9287189" y="1016473"/>
            <a:chExt cx="979800" cy="578470"/>
          </a:xfrm>
        </p:grpSpPr>
        <p:sp>
          <p:nvSpPr>
            <p:cNvPr id="493" name="Google Shape;493;p28"/>
            <p:cNvSpPr/>
            <p:nvPr/>
          </p:nvSpPr>
          <p:spPr>
            <a:xfrm>
              <a:off x="9287189" y="1016473"/>
              <a:ext cx="979800" cy="573600"/>
            </a:xfrm>
            <a:prstGeom prst="star7">
              <a:avLst>
                <a:gd fmla="val 34601" name="adj"/>
                <a:gd fmla="val 102572" name="hf"/>
                <a:gd fmla="val 105210" name="vf"/>
              </a:avLst>
            </a:prstGeom>
            <a:solidFill>
              <a:srgbClr val="E60000"/>
            </a:solid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Meiryo"/>
                <a:ea typeface="Meiryo"/>
                <a:cs typeface="Meiryo"/>
                <a:sym typeface="Meiryo"/>
              </a:endParaRPr>
            </a:p>
          </p:txBody>
        </p:sp>
        <p:sp>
          <p:nvSpPr>
            <p:cNvPr id="494" name="Google Shape;494;p28"/>
            <p:cNvSpPr txBox="1"/>
            <p:nvPr/>
          </p:nvSpPr>
          <p:spPr>
            <a:xfrm>
              <a:off x="9442659" y="1162043"/>
              <a:ext cx="751200" cy="4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grpSp>
      <p:sp>
        <p:nvSpPr>
          <p:cNvPr id="495" name="Google Shape;495;p28"/>
          <p:cNvSpPr txBox="1"/>
          <p:nvPr/>
        </p:nvSpPr>
        <p:spPr>
          <a:xfrm>
            <a:off x="425959" y="1336653"/>
            <a:ext cx="4146000" cy="253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[1]トップ画面に請求リンク作成画面へ遷移するボタン</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を実装してください。</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[2]下記4つの情報をもとに</a:t>
            </a:r>
            <a:r>
              <a:rPr b="0" i="0" lang="ja" sz="1200" u="none" cap="none" strike="noStrike">
                <a:solidFill>
                  <a:srgbClr val="FF0000"/>
                </a:solidFill>
                <a:latin typeface="Meiryo"/>
                <a:ea typeface="Meiryo"/>
                <a:cs typeface="Meiryo"/>
                <a:sym typeface="Meiryo"/>
              </a:rPr>
              <a:t>請求リンクを作成する処理</a:t>
            </a:r>
            <a:endParaRPr b="0" i="0" sz="1200" u="none" cap="none" strike="noStrike">
              <a:solidFill>
                <a:srgbClr val="FF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rgbClr val="FF0000"/>
                </a:solidFill>
                <a:latin typeface="Meiryo"/>
                <a:ea typeface="Meiryo"/>
                <a:cs typeface="Meiryo"/>
                <a:sym typeface="Meiryo"/>
              </a:rPr>
              <a:t>　  を行う画面・処理</a:t>
            </a:r>
            <a:r>
              <a:rPr b="0" i="0" lang="ja" sz="1200" u="none" cap="none" strike="noStrike">
                <a:solidFill>
                  <a:schemeClr val="dk1"/>
                </a:solidFill>
                <a:latin typeface="Meiryo"/>
                <a:ea typeface="Meiryo"/>
                <a:cs typeface="Meiryo"/>
                <a:sym typeface="Meiryo"/>
              </a:rPr>
              <a:t>を実装してください。</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①請求金額</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②メッセージ（任意入力）</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③請求リンクを作成した人</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④日付・時間</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[3]</a:t>
            </a:r>
            <a:r>
              <a:rPr b="0" i="0" lang="ja" sz="1200" u="none" cap="none" strike="noStrike">
                <a:solidFill>
                  <a:srgbClr val="FF0000"/>
                </a:solidFill>
                <a:latin typeface="Meiryo"/>
                <a:ea typeface="Meiryo"/>
                <a:cs typeface="Meiryo"/>
                <a:sym typeface="Meiryo"/>
              </a:rPr>
              <a:t>作成した請求リンクを表示・コピーできる画面</a:t>
            </a:r>
            <a:r>
              <a:rPr b="0" i="0" lang="ja" sz="1200" u="none" cap="none" strike="noStrike">
                <a:solidFill>
                  <a:schemeClr val="dk1"/>
                </a:solidFill>
                <a:latin typeface="Meiryo"/>
                <a:ea typeface="Meiryo"/>
                <a:cs typeface="Meiryo"/>
                <a:sym typeface="Meiryo"/>
              </a:rPr>
              <a:t>を</a:t>
            </a:r>
            <a:endParaRPr b="0" i="0" sz="12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　  実装してください。</a:t>
            </a:r>
            <a:endParaRPr b="0" i="0" sz="1200" u="none" cap="none" strike="noStrike">
              <a:solidFill>
                <a:schemeClr val="dk1"/>
              </a:solidFill>
              <a:latin typeface="Meiryo"/>
              <a:ea typeface="Meiryo"/>
              <a:cs typeface="Meiryo"/>
              <a:sym typeface="Meiryo"/>
            </a:endParaRPr>
          </a:p>
        </p:txBody>
      </p:sp>
      <p:sp>
        <p:nvSpPr>
          <p:cNvPr id="496" name="Google Shape;496;p28"/>
          <p:cNvSpPr/>
          <p:nvPr/>
        </p:nvSpPr>
        <p:spPr>
          <a:xfrm>
            <a:off x="4914675" y="967345"/>
            <a:ext cx="40542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497" name="Google Shape;497;p28"/>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498" name="Google Shape;498;p28"/>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（1）ステップ7のゴール</a:t>
            </a:r>
            <a:endParaRPr b="0" i="0" sz="1050" u="none" cap="none" strike="noStrike">
              <a:solidFill>
                <a:schemeClr val="dk1"/>
              </a:solidFill>
              <a:latin typeface="Meiryo"/>
              <a:ea typeface="Meiryo"/>
              <a:cs typeface="Meiryo"/>
              <a:sym typeface="Meiryo"/>
            </a:endParaRPr>
          </a:p>
        </p:txBody>
      </p:sp>
      <p:sp>
        <p:nvSpPr>
          <p:cNvPr id="499" name="Google Shape;499;p28"/>
          <p:cNvSpPr txBox="1"/>
          <p:nvPr/>
        </p:nvSpPr>
        <p:spPr>
          <a:xfrm>
            <a:off x="5082977" y="819719"/>
            <a:ext cx="2258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（2）画面イメージ</a:t>
            </a:r>
            <a:endParaRPr b="0" i="0" sz="1050" u="none" cap="none" strike="noStrike">
              <a:solidFill>
                <a:schemeClr val="dk1"/>
              </a:solidFill>
              <a:latin typeface="Meiryo"/>
              <a:ea typeface="Meiryo"/>
              <a:cs typeface="Meiryo"/>
              <a:sym typeface="Meiryo"/>
            </a:endParaRPr>
          </a:p>
        </p:txBody>
      </p:sp>
      <p:sp>
        <p:nvSpPr>
          <p:cNvPr id="500" name="Google Shape;500;p28"/>
          <p:cNvSpPr txBox="1"/>
          <p:nvPr/>
        </p:nvSpPr>
        <p:spPr>
          <a:xfrm>
            <a:off x="570599" y="3966308"/>
            <a:ext cx="40104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[2]で生成するリンクは①〜④を含む形を想定していますが、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ja" sz="1050" u="none" cap="none" strike="noStrike">
                <a:solidFill>
                  <a:schemeClr val="dk1"/>
                </a:solidFill>
                <a:latin typeface="Meiryo"/>
                <a:ea typeface="Meiryo"/>
                <a:cs typeface="Meiryo"/>
                <a:sym typeface="Meiryo"/>
              </a:rPr>
              <a:t>①〜④を使わずに固定値を含んだリンクでも構いません。</a:t>
            </a:r>
            <a:endParaRPr b="0" i="0" sz="1050" u="none" cap="none" strike="noStrike">
              <a:solidFill>
                <a:schemeClr val="dk1"/>
              </a:solidFill>
              <a:latin typeface="Meiryo"/>
              <a:ea typeface="Meiryo"/>
              <a:cs typeface="Meiryo"/>
              <a:sym typeface="Meiryo"/>
            </a:endParaRPr>
          </a:p>
        </p:txBody>
      </p:sp>
      <p:pic>
        <p:nvPicPr>
          <p:cNvPr id="501" name="Google Shape;501;p28"/>
          <p:cNvPicPr preferRelativeResize="0"/>
          <p:nvPr/>
        </p:nvPicPr>
        <p:blipFill rotWithShape="1">
          <a:blip r:embed="rId6">
            <a:alphaModFix/>
          </a:blip>
          <a:srcRect b="0" l="0" r="0" t="0"/>
          <a:stretch/>
        </p:blipFill>
        <p:spPr>
          <a:xfrm>
            <a:off x="319362" y="3990723"/>
            <a:ext cx="291553" cy="291553"/>
          </a:xfrm>
          <a:prstGeom prst="rect">
            <a:avLst/>
          </a:prstGeom>
          <a:noFill/>
          <a:ln>
            <a:noFill/>
          </a:ln>
        </p:spPr>
      </p:pic>
      <p:sp>
        <p:nvSpPr>
          <p:cNvPr id="502" name="Google Shape;502;p28"/>
          <p:cNvSpPr txBox="1"/>
          <p:nvPr/>
        </p:nvSpPr>
        <p:spPr>
          <a:xfrm>
            <a:off x="465150" y="276914"/>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ステップ7 : 請求リンクを作成する機能の実装</a:t>
            </a:r>
            <a:endParaRPr b="0" i="0" sz="1400" u="none" cap="none" strike="noStrike">
              <a:solidFill>
                <a:schemeClr val="dk1"/>
              </a:solidFill>
              <a:latin typeface="Arial"/>
              <a:ea typeface="Arial"/>
              <a:cs typeface="Arial"/>
              <a:sym typeface="Arial"/>
            </a:endParaRPr>
          </a:p>
        </p:txBody>
      </p:sp>
      <p:sp>
        <p:nvSpPr>
          <p:cNvPr id="503" name="Google Shape;503;p28"/>
          <p:cNvSpPr txBox="1"/>
          <p:nvPr/>
        </p:nvSpPr>
        <p:spPr>
          <a:xfrm>
            <a:off x="4816350" y="1188075"/>
            <a:ext cx="43278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  要件が満たせていれば、UIデザインは変更いただいて問題ございません</a:t>
            </a:r>
            <a:endParaRPr b="0" i="0" sz="95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950"/>
              <a:buFont typeface="Arial"/>
              <a:buNone/>
            </a:pPr>
            <a:r>
              <a:rPr b="0" i="0" lang="ja" sz="950" u="none" cap="none" strike="noStrike">
                <a:solidFill>
                  <a:schemeClr val="dk1"/>
                </a:solidFill>
                <a:latin typeface="Meiryo"/>
                <a:ea typeface="Meiryo"/>
                <a:cs typeface="Meiryo"/>
                <a:sym typeface="Meiryo"/>
              </a:rPr>
              <a:t>（完全に以下のとおりにする必要はありません)</a:t>
            </a:r>
            <a:endParaRPr b="0" i="0" sz="950" u="none" cap="none" strike="noStrike">
              <a:solidFill>
                <a:srgbClr val="000000"/>
              </a:solidFill>
              <a:latin typeface="Meiryo"/>
              <a:ea typeface="Meiryo"/>
              <a:cs typeface="Meiryo"/>
              <a:sym typeface="Meiry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graphicFrame>
        <p:nvGraphicFramePr>
          <p:cNvPr id="508" name="Google Shape;508;p29"/>
          <p:cNvGraphicFramePr/>
          <p:nvPr/>
        </p:nvGraphicFramePr>
        <p:xfrm>
          <a:off x="796073" y="1901122"/>
          <a:ext cx="3000000" cy="3000000"/>
        </p:xfrm>
        <a:graphic>
          <a:graphicData uri="http://schemas.openxmlformats.org/drawingml/2006/table">
            <a:tbl>
              <a:tblPr>
                <a:noFill/>
                <a:tableStyleId>{DCB4C225-7969-4F9A-B681-CAE03884277C}</a:tableStyleId>
              </a:tblPr>
              <a:tblGrid>
                <a:gridCol w="396925"/>
                <a:gridCol w="1175175"/>
                <a:gridCol w="5561750"/>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　</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トップ画面から請求画面へ遷移するボタンの実装</a:t>
                      </a:r>
                      <a:endParaRPr sz="1600" u="none" cap="none" strike="noStrike"/>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請求リンクの作成を行う画面の実装</a:t>
                      </a:r>
                      <a:endParaRPr sz="1600" u="none" cap="none" strike="noStrike"/>
                    </a:p>
                  </a:txBody>
                  <a:tcPr marT="34300" marB="34300" marR="68575" marL="68575">
                    <a:solidFill>
                      <a:srgbClr val="5A5A5A">
                        <a:alpha val="2274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3</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請求リンクの作成を行う処理の実装</a:t>
                      </a:r>
                      <a:endParaRPr sz="1600" u="none" cap="none" strike="noStrike"/>
                    </a:p>
                  </a:txBody>
                  <a:tcPr marT="34300" marB="34300" marR="68575" marL="68575">
                    <a:solidFill>
                      <a:srgbClr val="F2F2F2"/>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a:t>
                      </a:r>
                      <a:endParaRPr b="0" i="0" sz="1400" u="none" cap="none" strike="noStrike">
                        <a:latin typeface="Meiryo"/>
                        <a:ea typeface="Meiryo"/>
                        <a:cs typeface="Meiryo"/>
                        <a:sym typeface="Meiryo"/>
                      </a:endParaRPr>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作成した請求リンクの表示・コピーを行う画面の実装</a:t>
                      </a:r>
                      <a:endParaRPr sz="1600" u="none" cap="none" strike="noStrike"/>
                    </a:p>
                  </a:txBody>
                  <a:tcPr marT="34300" marB="34300" marR="68575" marL="68575">
                    <a:solidFill>
                      <a:srgbClr val="D8D8D8"/>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latin typeface="Meiryo"/>
                          <a:ea typeface="Meiryo"/>
                          <a:cs typeface="Meiryo"/>
                          <a:sym typeface="Meiryo"/>
                        </a:rPr>
                        <a:t>5</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b="0" i="0" sz="16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 sz="1400" u="none" cap="none" strike="noStrike">
                          <a:solidFill>
                            <a:schemeClr val="dk1"/>
                          </a:solidFill>
                          <a:latin typeface="Meiryo"/>
                          <a:ea typeface="Meiryo"/>
                          <a:cs typeface="Meiryo"/>
                          <a:sym typeface="Meiryo"/>
                        </a:rPr>
                        <a:t>タイムキーパー</a:t>
                      </a:r>
                      <a:endParaRPr b="0" i="0" sz="1400" u="none" cap="none" strike="noStrike">
                        <a:latin typeface="Meiryo"/>
                        <a:ea typeface="Meiryo"/>
                        <a:cs typeface="Meiryo"/>
                        <a:sym typeface="Meiryo"/>
                      </a:endParaRPr>
                    </a:p>
                  </a:txBody>
                  <a:tcPr marT="34300" marB="34300" marR="68575" marL="68575">
                    <a:solidFill>
                      <a:srgbClr val="F2F2F2"/>
                    </a:solidFill>
                  </a:tcPr>
                </a:tc>
              </a:tr>
            </a:tbl>
          </a:graphicData>
        </a:graphic>
      </p:graphicFrame>
      <p:sp>
        <p:nvSpPr>
          <p:cNvPr id="509" name="Google Shape;509;p29"/>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10" name="Google Shape;510;p29"/>
          <p:cNvSpPr txBox="1"/>
          <p:nvPr/>
        </p:nvSpPr>
        <p:spPr>
          <a:xfrm>
            <a:off x="465150" y="283562"/>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ステップ7 : 請求リンクを作成する機能の実装</a:t>
            </a:r>
            <a:endParaRPr b="0" i="0" sz="1400" u="none" cap="none" strike="noStrike">
              <a:solidFill>
                <a:schemeClr val="dk1"/>
              </a:solidFill>
              <a:latin typeface="Arial"/>
              <a:ea typeface="Arial"/>
              <a:cs typeface="Arial"/>
              <a:sym typeface="Arial"/>
            </a:endParaRPr>
          </a:p>
        </p:txBody>
      </p:sp>
      <p:sp>
        <p:nvSpPr>
          <p:cNvPr id="511" name="Google Shape;511;p29"/>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0"/>
          <p:cNvSpPr/>
          <p:nvPr/>
        </p:nvSpPr>
        <p:spPr>
          <a:xfrm>
            <a:off x="156625" y="967450"/>
            <a:ext cx="8596399"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517" name="Google Shape;517;p30"/>
          <p:cNvSpPr txBox="1"/>
          <p:nvPr/>
        </p:nvSpPr>
        <p:spPr>
          <a:xfrm>
            <a:off x="364165" y="537281"/>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518" name="Google Shape;518;p30"/>
          <p:cNvSpPr txBox="1"/>
          <p:nvPr/>
        </p:nvSpPr>
        <p:spPr>
          <a:xfrm>
            <a:off x="6237173" y="1772132"/>
            <a:ext cx="465218" cy="23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a:t>
            </a:r>
            <a:endParaRPr b="0" i="0" sz="900" u="none" cap="none" strike="noStrike">
              <a:solidFill>
                <a:schemeClr val="lt1"/>
              </a:solidFill>
              <a:latin typeface="Meiryo"/>
              <a:ea typeface="Meiryo"/>
              <a:cs typeface="Meiryo"/>
              <a:sym typeface="Meiryo"/>
            </a:endParaRPr>
          </a:p>
        </p:txBody>
      </p:sp>
      <p:sp>
        <p:nvSpPr>
          <p:cNvPr id="519" name="Google Shape;519;p30"/>
          <p:cNvSpPr txBox="1"/>
          <p:nvPr/>
        </p:nvSpPr>
        <p:spPr>
          <a:xfrm>
            <a:off x="326925" y="1681850"/>
            <a:ext cx="8060189" cy="10771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[1]ステップ7で作成したリンクをクリックした際に、</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rgbClr val="FF0000"/>
                </a:solidFill>
                <a:latin typeface="Meiryo"/>
                <a:ea typeface="Meiryo"/>
                <a:cs typeface="Meiryo"/>
                <a:sym typeface="Meiryo"/>
              </a:rPr>
              <a:t>相手へ支払いができるような支払画面</a:t>
            </a:r>
            <a:r>
              <a:rPr b="0" i="0" lang="ja" sz="1600" u="none" cap="none" strike="noStrike">
                <a:solidFill>
                  <a:schemeClr val="dk1"/>
                </a:solidFill>
                <a:latin typeface="Meiryo"/>
                <a:ea typeface="Meiryo"/>
                <a:cs typeface="Meiryo"/>
                <a:sym typeface="Meiryo"/>
              </a:rPr>
              <a:t>を作成してください。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chemeClr val="dk1"/>
                </a:solidFill>
                <a:latin typeface="Meiryo"/>
                <a:ea typeface="Meiryo"/>
                <a:cs typeface="Meiryo"/>
                <a:sym typeface="Meiryo"/>
              </a:rPr>
              <a:t>[2]支払ボタン押下後、</a:t>
            </a:r>
            <a:r>
              <a:rPr b="0" i="0" lang="ja" sz="1600" u="none" cap="none" strike="noStrike">
                <a:solidFill>
                  <a:srgbClr val="FF0000"/>
                </a:solidFill>
                <a:latin typeface="Meiryo"/>
                <a:ea typeface="Meiryo"/>
                <a:cs typeface="Meiryo"/>
                <a:sym typeface="Meiryo"/>
              </a:rPr>
              <a:t>支払完了画面に遷移する機能</a:t>
            </a:r>
            <a:r>
              <a:rPr b="0" i="0" lang="ja" sz="1600" u="none" cap="none" strike="noStrike">
                <a:solidFill>
                  <a:schemeClr val="dk1"/>
                </a:solidFill>
                <a:latin typeface="Meiryo"/>
                <a:ea typeface="Meiryo"/>
                <a:cs typeface="Meiryo"/>
                <a:sym typeface="Meiryo"/>
              </a:rPr>
              <a:t>を実装してください。</a:t>
            </a:r>
            <a:endParaRPr b="0" i="0" sz="1600" u="none" cap="none" strike="noStrike">
              <a:solidFill>
                <a:schemeClr val="dk1"/>
              </a:solidFill>
              <a:latin typeface="Meiryo"/>
              <a:ea typeface="Meiryo"/>
              <a:cs typeface="Meiryo"/>
              <a:sym typeface="Meiryo"/>
            </a:endParaRPr>
          </a:p>
        </p:txBody>
      </p:sp>
      <p:sp>
        <p:nvSpPr>
          <p:cNvPr id="520" name="Google Shape;520;p30"/>
          <p:cNvSpPr txBox="1"/>
          <p:nvPr/>
        </p:nvSpPr>
        <p:spPr>
          <a:xfrm>
            <a:off x="644100" y="3047530"/>
            <a:ext cx="7822564" cy="9540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ja" sz="1400" u="none" cap="none" strike="noStrike">
                <a:solidFill>
                  <a:schemeClr val="dk1"/>
                </a:solidFill>
                <a:latin typeface="Meiryo"/>
                <a:ea typeface="Meiryo"/>
                <a:cs typeface="Meiryo"/>
                <a:sym typeface="Meiryo"/>
              </a:rPr>
              <a:t>[1]でのリンクのクリックは、請求情報を送信するためSNS等の外部サービスでの共有を前提としていますが、難しい場合はアプリ内で請求情報を送信する形でも構いません。</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また、ステップ8からは画面イメージを記載しておりません。</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Meiryo"/>
                <a:ea typeface="Meiryo"/>
                <a:cs typeface="Meiryo"/>
                <a:sym typeface="Meiryo"/>
              </a:rPr>
              <a:t>提示された要件を満たし、どうすれば使いやすいアプリになるか考えて実装してください。</a:t>
            </a:r>
            <a:endParaRPr b="0" i="0" sz="1400" u="none" cap="none" strike="noStrike">
              <a:solidFill>
                <a:srgbClr val="000000"/>
              </a:solidFill>
              <a:latin typeface="Arial"/>
              <a:ea typeface="Arial"/>
              <a:cs typeface="Arial"/>
              <a:sym typeface="Arial"/>
            </a:endParaRPr>
          </a:p>
        </p:txBody>
      </p:sp>
      <p:sp>
        <p:nvSpPr>
          <p:cNvPr id="521" name="Google Shape;521;p30"/>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22" name="Google Shape;522;p30"/>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ステップ8のゴール</a:t>
            </a:r>
            <a:endParaRPr b="0" i="0" sz="1050" u="none" cap="none" strike="noStrike">
              <a:solidFill>
                <a:schemeClr val="dk1"/>
              </a:solidFill>
              <a:latin typeface="Meiryo"/>
              <a:ea typeface="Meiryo"/>
              <a:cs typeface="Meiryo"/>
              <a:sym typeface="Meiryo"/>
            </a:endParaRPr>
          </a:p>
        </p:txBody>
      </p:sp>
      <p:pic>
        <p:nvPicPr>
          <p:cNvPr id="523" name="Google Shape;523;p30"/>
          <p:cNvPicPr preferRelativeResize="0"/>
          <p:nvPr/>
        </p:nvPicPr>
        <p:blipFill rotWithShape="1">
          <a:blip r:embed="rId3">
            <a:alphaModFix/>
          </a:blip>
          <a:srcRect b="0" l="0" r="0" t="0"/>
          <a:stretch/>
        </p:blipFill>
        <p:spPr>
          <a:xfrm>
            <a:off x="389252" y="3066341"/>
            <a:ext cx="291553" cy="291553"/>
          </a:xfrm>
          <a:prstGeom prst="rect">
            <a:avLst/>
          </a:prstGeom>
          <a:noFill/>
          <a:ln>
            <a:noFill/>
          </a:ln>
        </p:spPr>
      </p:pic>
      <p:sp>
        <p:nvSpPr>
          <p:cNvPr id="524" name="Google Shape;524;p30"/>
          <p:cNvSpPr txBox="1"/>
          <p:nvPr/>
        </p:nvSpPr>
        <p:spPr>
          <a:xfrm>
            <a:off x="471677" y="291257"/>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ステップ8 : 請求に対し支払いを行う機能の実装</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1"/>
          <p:cNvSpPr txBox="1"/>
          <p:nvPr/>
        </p:nvSpPr>
        <p:spPr>
          <a:xfrm>
            <a:off x="83541" y="114300"/>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lt1"/>
              </a:solidFill>
              <a:latin typeface="Meiryo"/>
              <a:ea typeface="Meiryo"/>
              <a:cs typeface="Meiryo"/>
              <a:sym typeface="Meiryo"/>
            </a:endParaRPr>
          </a:p>
        </p:txBody>
      </p:sp>
      <p:graphicFrame>
        <p:nvGraphicFramePr>
          <p:cNvPr id="530" name="Google Shape;530;p31"/>
          <p:cNvGraphicFramePr/>
          <p:nvPr/>
        </p:nvGraphicFramePr>
        <p:xfrm>
          <a:off x="820552" y="1996448"/>
          <a:ext cx="3000000" cy="3000000"/>
        </p:xfrm>
        <a:graphic>
          <a:graphicData uri="http://schemas.openxmlformats.org/drawingml/2006/table">
            <a:tbl>
              <a:tblPr>
                <a:noFill/>
                <a:tableStyleId>{DCB4C225-7969-4F9A-B681-CAE03884277C}</a:tableStyleId>
              </a:tblPr>
              <a:tblGrid>
                <a:gridCol w="417450"/>
                <a:gridCol w="1235975"/>
                <a:gridCol w="5849475"/>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　</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支払い完了画面の実装</a:t>
                      </a:r>
                      <a:endParaRPr sz="1600" u="none" cap="none" strike="noStrike"/>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請求リンクから送金先や送金金額、メッセージを取得する機能の実装</a:t>
                      </a:r>
                      <a:endParaRPr sz="1600" u="none" cap="none" strike="noStrike"/>
                    </a:p>
                  </a:txBody>
                  <a:tcPr marT="34300" marB="34300" marR="68575" marL="68575">
                    <a:solidFill>
                      <a:srgbClr val="5A5A5A">
                        <a:alpha val="2274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3</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支払いを行う支払画面の実装</a:t>
                      </a:r>
                      <a:endParaRPr sz="1600" u="none" cap="none" strike="noStrike"/>
                    </a:p>
                  </a:txBody>
                  <a:tcPr marT="34300" marB="34300" marR="68575" marL="68575">
                    <a:solidFill>
                      <a:srgbClr val="F2F2F2"/>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a:t>
                      </a:r>
                      <a:endParaRPr b="0" i="0" sz="1400" u="none" cap="none" strike="noStrike">
                        <a:latin typeface="Meiryo"/>
                        <a:ea typeface="Meiryo"/>
                        <a:cs typeface="Meiryo"/>
                        <a:sym typeface="Meiryo"/>
                      </a:endParaRPr>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請求者とは別のユーザ（支払する人）の環境を用意する</a:t>
                      </a:r>
                      <a:endParaRPr sz="1600" u="none" cap="none" strike="noStrike"/>
                    </a:p>
                  </a:txBody>
                  <a:tcPr marT="34300" marB="34300" marR="68575" marL="68575">
                    <a:solidFill>
                      <a:srgbClr val="D8D8D8"/>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latin typeface="Meiryo"/>
                          <a:ea typeface="Meiryo"/>
                          <a:cs typeface="Meiryo"/>
                          <a:sym typeface="Meiryo"/>
                        </a:rPr>
                        <a:t>5</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b="0" i="0" sz="16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 sz="1400" u="none" cap="none" strike="noStrike">
                          <a:solidFill>
                            <a:schemeClr val="dk1"/>
                          </a:solidFill>
                          <a:latin typeface="Meiryo"/>
                          <a:ea typeface="Meiryo"/>
                          <a:cs typeface="Meiryo"/>
                          <a:sym typeface="Meiryo"/>
                        </a:rPr>
                        <a:t>タイムキーパー</a:t>
                      </a:r>
                      <a:endParaRPr b="0" i="0" sz="1400" u="none" cap="none" strike="noStrike">
                        <a:latin typeface="Meiryo"/>
                        <a:ea typeface="Meiryo"/>
                        <a:cs typeface="Meiryo"/>
                        <a:sym typeface="Meiryo"/>
                      </a:endParaRPr>
                    </a:p>
                  </a:txBody>
                  <a:tcPr marT="34300" marB="34300" marR="68575" marL="68575">
                    <a:solidFill>
                      <a:srgbClr val="F2F2F2"/>
                    </a:solidFill>
                  </a:tcPr>
                </a:tc>
              </a:tr>
            </a:tbl>
          </a:graphicData>
        </a:graphic>
      </p:graphicFrame>
      <p:sp>
        <p:nvSpPr>
          <p:cNvPr id="531" name="Google Shape;531;p31"/>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32" name="Google Shape;532;p31"/>
          <p:cNvSpPr txBox="1"/>
          <p:nvPr/>
        </p:nvSpPr>
        <p:spPr>
          <a:xfrm>
            <a:off x="432450" y="284212"/>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ステップ8 : 請求に対し支払いを行う機能の実装</a:t>
            </a:r>
            <a:endParaRPr b="0" i="0" sz="1400" u="none" cap="none" strike="noStrike">
              <a:solidFill>
                <a:schemeClr val="dk1"/>
              </a:solidFill>
              <a:latin typeface="Arial"/>
              <a:ea typeface="Arial"/>
              <a:cs typeface="Arial"/>
              <a:sym typeface="Arial"/>
            </a:endParaRPr>
          </a:p>
        </p:txBody>
      </p:sp>
      <p:sp>
        <p:nvSpPr>
          <p:cNvPr id="533" name="Google Shape;533;p31"/>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5"/>
          <p:cNvSpPr txBox="1"/>
          <p:nvPr>
            <p:ph idx="1" type="body"/>
          </p:nvPr>
        </p:nvSpPr>
        <p:spPr>
          <a:xfrm>
            <a:off x="474268" y="943330"/>
            <a:ext cx="8208000" cy="3456300"/>
          </a:xfrm>
          <a:prstGeom prst="rect">
            <a:avLst/>
          </a:prstGeom>
          <a:noFill/>
          <a:ln>
            <a:noFill/>
          </a:ln>
        </p:spPr>
        <p:txBody>
          <a:bodyPr anchorCtr="0" anchor="t" bIns="0" lIns="0" spcFirstLastPara="1" rIns="0" wrap="square" tIns="0">
            <a:normAutofit/>
          </a:bodyPr>
          <a:lstStyle/>
          <a:p>
            <a:pPr indent="-228600" lvl="0" marL="457200" rtl="0" algn="l">
              <a:lnSpc>
                <a:spcPct val="111111"/>
              </a:lnSpc>
              <a:spcBef>
                <a:spcPts val="1000"/>
              </a:spcBef>
              <a:spcAft>
                <a:spcPts val="0"/>
              </a:spcAft>
              <a:buClr>
                <a:schemeClr val="dk1"/>
              </a:buClr>
              <a:buSzPts val="1800"/>
              <a:buNone/>
            </a:pPr>
            <a:r>
              <a:rPr lang="ja"/>
              <a:t>ここまでの実装をメンターに説明してみましょう。</a:t>
            </a:r>
            <a:endParaRPr/>
          </a:p>
          <a:p>
            <a:pPr indent="-228600" lvl="0" marL="457200" rtl="0" algn="l">
              <a:lnSpc>
                <a:spcPct val="111111"/>
              </a:lnSpc>
              <a:spcBef>
                <a:spcPts val="1000"/>
              </a:spcBef>
              <a:spcAft>
                <a:spcPts val="0"/>
              </a:spcAft>
              <a:buClr>
                <a:schemeClr val="dk1"/>
              </a:buClr>
              <a:buSzPts val="1800"/>
              <a:buNone/>
            </a:pPr>
            <a:r>
              <a:rPr lang="ja"/>
              <a:t>自分の役割分担</a:t>
            </a:r>
            <a:r>
              <a:rPr lang="ja">
                <a:solidFill>
                  <a:srgbClr val="FF0000"/>
                </a:solidFill>
              </a:rPr>
              <a:t>以外</a:t>
            </a:r>
            <a:r>
              <a:rPr lang="ja"/>
              <a:t>の部分を理解できているか、</a:t>
            </a:r>
            <a:endParaRPr/>
          </a:p>
          <a:p>
            <a:pPr indent="-228600" lvl="0" marL="457200" rtl="0" algn="l">
              <a:lnSpc>
                <a:spcPct val="111111"/>
              </a:lnSpc>
              <a:spcBef>
                <a:spcPts val="1000"/>
              </a:spcBef>
              <a:spcAft>
                <a:spcPts val="0"/>
              </a:spcAft>
              <a:buClr>
                <a:schemeClr val="dk1"/>
              </a:buClr>
              <a:buSzPts val="1800"/>
              <a:buNone/>
            </a:pPr>
            <a:r>
              <a:rPr lang="ja"/>
              <a:t>チーム内で共有してください。</a:t>
            </a:r>
            <a:endParaRPr/>
          </a:p>
        </p:txBody>
      </p:sp>
      <p:sp>
        <p:nvSpPr>
          <p:cNvPr id="539" name="Google Shape;539;p15"/>
          <p:cNvSpPr txBox="1"/>
          <p:nvPr/>
        </p:nvSpPr>
        <p:spPr>
          <a:xfrm>
            <a:off x="471677" y="273371"/>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チェックポイント</a:t>
            </a:r>
            <a:endParaRPr b="0" i="0" sz="2000" u="none" cap="none" strike="noStrike">
              <a:solidFill>
                <a:schemeClr val="dk1"/>
              </a:solidFill>
              <a:latin typeface="Meiryo"/>
              <a:ea typeface="Meiryo"/>
              <a:cs typeface="Meiryo"/>
              <a:sym typeface="Meiryo"/>
            </a:endParaRPr>
          </a:p>
        </p:txBody>
      </p:sp>
      <p:sp>
        <p:nvSpPr>
          <p:cNvPr id="540" name="Google Shape;540;p15"/>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2"/>
          <p:cNvSpPr/>
          <p:nvPr/>
        </p:nvSpPr>
        <p:spPr>
          <a:xfrm>
            <a:off x="114550" y="937203"/>
            <a:ext cx="8582400"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546" name="Google Shape;546;p32"/>
          <p:cNvSpPr txBox="1"/>
          <p:nvPr/>
        </p:nvSpPr>
        <p:spPr>
          <a:xfrm>
            <a:off x="468272" y="1228122"/>
            <a:ext cx="8111311" cy="23082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chemeClr val="dk1"/>
                </a:solidFill>
                <a:latin typeface="Meiryo"/>
                <a:ea typeface="Meiryo"/>
                <a:cs typeface="Meiryo"/>
                <a:sym typeface="Meiryo"/>
              </a:rPr>
              <a:t>[1]トップ画面に</a:t>
            </a:r>
            <a:r>
              <a:rPr b="0" i="0" lang="ja" sz="1600" u="none" cap="none" strike="noStrike">
                <a:solidFill>
                  <a:srgbClr val="FF0000"/>
                </a:solidFill>
                <a:latin typeface="Meiryo"/>
                <a:ea typeface="Meiryo"/>
                <a:cs typeface="Meiryo"/>
                <a:sym typeface="Meiryo"/>
              </a:rPr>
              <a:t>請求状態確認画面へ遷移出来るボタン</a:t>
            </a:r>
            <a:r>
              <a:rPr b="0" i="0" lang="ja" sz="1600" u="none" cap="none" strike="noStrike">
                <a:solidFill>
                  <a:schemeClr val="dk1"/>
                </a:solidFill>
                <a:latin typeface="Meiryo"/>
                <a:ea typeface="Meiryo"/>
                <a:cs typeface="Meiryo"/>
                <a:sym typeface="Meiryo"/>
              </a:rPr>
              <a:t>を実装してください。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chemeClr val="dk1"/>
                </a:solidFill>
                <a:latin typeface="Meiryo"/>
                <a:ea typeface="Meiryo"/>
                <a:cs typeface="Meiryo"/>
                <a:sym typeface="Meiryo"/>
              </a:rPr>
              <a:t>[2]下記を表示する</a:t>
            </a:r>
            <a:r>
              <a:rPr b="0" i="0" lang="ja" sz="1600" u="none" cap="none" strike="noStrike">
                <a:solidFill>
                  <a:srgbClr val="FF0000"/>
                </a:solidFill>
                <a:latin typeface="Meiryo"/>
                <a:ea typeface="Meiryo"/>
                <a:cs typeface="Meiryo"/>
                <a:sym typeface="Meiryo"/>
              </a:rPr>
              <a:t>請求状態確認画面</a:t>
            </a:r>
            <a:r>
              <a:rPr b="0" i="0" lang="ja" sz="1600" u="none" cap="none" strike="noStrike">
                <a:solidFill>
                  <a:schemeClr val="dk1"/>
                </a:solidFill>
                <a:latin typeface="Meiryo"/>
                <a:ea typeface="Meiryo"/>
                <a:cs typeface="Meiryo"/>
                <a:sym typeface="Meiryo"/>
              </a:rPr>
              <a:t>を実装してください。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chemeClr val="dk1"/>
                </a:solidFill>
                <a:latin typeface="Meiryo"/>
                <a:ea typeface="Meiryo"/>
                <a:cs typeface="Meiryo"/>
                <a:sym typeface="Meiryo"/>
              </a:rPr>
              <a:t>　①過去に発行した請求リンクの情報</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chemeClr val="dk1"/>
                </a:solidFill>
                <a:latin typeface="Meiryo"/>
                <a:ea typeface="Meiryo"/>
                <a:cs typeface="Meiryo"/>
                <a:sym typeface="Meiryo"/>
              </a:rPr>
              <a:t>　　（請求金額、メッセージ、日付・時間）</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rPr b="0" i="0" lang="ja" sz="1600" u="none" cap="none" strike="noStrike">
                <a:solidFill>
                  <a:schemeClr val="dk1"/>
                </a:solidFill>
                <a:latin typeface="Meiryo"/>
                <a:ea typeface="Meiryo"/>
                <a:cs typeface="Meiryo"/>
                <a:sym typeface="Meiryo"/>
              </a:rPr>
              <a:t>　②支払済みアカウントのユーザ画像</a:t>
            </a:r>
            <a:endParaRPr b="0" i="0" sz="1600" u="none" cap="none" strike="noStrike">
              <a:solidFill>
                <a:schemeClr val="dk1"/>
              </a:solidFill>
              <a:latin typeface="Meiryo"/>
              <a:ea typeface="Meiryo"/>
              <a:cs typeface="Meiryo"/>
              <a:sym typeface="Meiryo"/>
            </a:endParaRPr>
          </a:p>
        </p:txBody>
      </p:sp>
      <p:sp>
        <p:nvSpPr>
          <p:cNvPr id="547" name="Google Shape;547;p32"/>
          <p:cNvSpPr txBox="1"/>
          <p:nvPr/>
        </p:nvSpPr>
        <p:spPr>
          <a:xfrm>
            <a:off x="6441805" y="3644894"/>
            <a:ext cx="455528" cy="2307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ja" sz="900" u="none" cap="none" strike="noStrike">
                <a:solidFill>
                  <a:schemeClr val="lt1"/>
                </a:solidFill>
                <a:latin typeface="Meiryo"/>
                <a:ea typeface="Meiryo"/>
                <a:cs typeface="Meiryo"/>
                <a:sym typeface="Meiryo"/>
              </a:rPr>
              <a:t>NEW</a:t>
            </a:r>
            <a:endParaRPr b="0" i="0" sz="900" u="none" cap="none" strike="noStrike">
              <a:solidFill>
                <a:schemeClr val="lt1"/>
              </a:solidFill>
              <a:latin typeface="Meiryo"/>
              <a:ea typeface="Meiryo"/>
              <a:cs typeface="Meiryo"/>
              <a:sym typeface="Meiryo"/>
            </a:endParaRPr>
          </a:p>
        </p:txBody>
      </p:sp>
      <p:sp>
        <p:nvSpPr>
          <p:cNvPr id="548" name="Google Shape;548;p32"/>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49" name="Google Shape;549;p32"/>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ステップ9のゴール</a:t>
            </a:r>
            <a:endParaRPr b="0" i="0" sz="1050" u="none" cap="none" strike="noStrike">
              <a:solidFill>
                <a:schemeClr val="dk1"/>
              </a:solidFill>
              <a:latin typeface="Meiryo"/>
              <a:ea typeface="Meiryo"/>
              <a:cs typeface="Meiryo"/>
              <a:sym typeface="Meiryo"/>
            </a:endParaRPr>
          </a:p>
        </p:txBody>
      </p:sp>
      <p:sp>
        <p:nvSpPr>
          <p:cNvPr id="550" name="Google Shape;550;p32"/>
          <p:cNvSpPr txBox="1"/>
          <p:nvPr/>
        </p:nvSpPr>
        <p:spPr>
          <a:xfrm>
            <a:off x="895158" y="4063777"/>
            <a:ext cx="7064811"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ja" sz="1200" u="none" cap="none" strike="noStrike">
                <a:solidFill>
                  <a:schemeClr val="dk1"/>
                </a:solidFill>
                <a:latin typeface="Meiryo"/>
                <a:ea typeface="Meiryo"/>
                <a:cs typeface="Meiryo"/>
                <a:sym typeface="Meiryo"/>
              </a:rPr>
              <a:t>[2]②でユーザ画像表示が難しい場合は、ユーザ名を表記する形でも問題ございません。</a:t>
            </a:r>
            <a:endParaRPr b="0" i="0" sz="1200" u="none" cap="none" strike="noStrike">
              <a:solidFill>
                <a:schemeClr val="dk1"/>
              </a:solidFill>
              <a:latin typeface="Meiryo"/>
              <a:ea typeface="Meiryo"/>
              <a:cs typeface="Meiryo"/>
              <a:sym typeface="Meiryo"/>
            </a:endParaRPr>
          </a:p>
        </p:txBody>
      </p:sp>
      <p:pic>
        <p:nvPicPr>
          <p:cNvPr id="551" name="Google Shape;551;p32"/>
          <p:cNvPicPr preferRelativeResize="0"/>
          <p:nvPr/>
        </p:nvPicPr>
        <p:blipFill rotWithShape="1">
          <a:blip r:embed="rId3">
            <a:alphaModFix/>
          </a:blip>
          <a:srcRect b="0" l="0" r="0" t="0"/>
          <a:stretch/>
        </p:blipFill>
        <p:spPr>
          <a:xfrm>
            <a:off x="595544" y="4066420"/>
            <a:ext cx="291553" cy="291553"/>
          </a:xfrm>
          <a:prstGeom prst="rect">
            <a:avLst/>
          </a:prstGeom>
          <a:noFill/>
          <a:ln>
            <a:noFill/>
          </a:ln>
        </p:spPr>
      </p:pic>
      <p:sp>
        <p:nvSpPr>
          <p:cNvPr id="552" name="Google Shape;552;p32"/>
          <p:cNvSpPr txBox="1"/>
          <p:nvPr/>
        </p:nvSpPr>
        <p:spPr>
          <a:xfrm>
            <a:off x="471677" y="283509"/>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ステップ9 : 請求の状況を表示する機能の実装</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3"/>
          <p:cNvSpPr txBox="1"/>
          <p:nvPr/>
        </p:nvSpPr>
        <p:spPr>
          <a:xfrm>
            <a:off x="83541" y="114300"/>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lt1"/>
              </a:solidFill>
              <a:latin typeface="Meiryo"/>
              <a:ea typeface="Meiryo"/>
              <a:cs typeface="Meiryo"/>
              <a:sym typeface="Meiryo"/>
            </a:endParaRPr>
          </a:p>
        </p:txBody>
      </p:sp>
      <p:graphicFrame>
        <p:nvGraphicFramePr>
          <p:cNvPr id="558" name="Google Shape;558;p33"/>
          <p:cNvGraphicFramePr/>
          <p:nvPr/>
        </p:nvGraphicFramePr>
        <p:xfrm>
          <a:off x="349987" y="2077022"/>
          <a:ext cx="3000000" cy="3000000"/>
        </p:xfrm>
        <a:graphic>
          <a:graphicData uri="http://schemas.openxmlformats.org/drawingml/2006/table">
            <a:tbl>
              <a:tblPr>
                <a:noFill/>
                <a:tableStyleId>{DCB4C225-7969-4F9A-B681-CAE03884277C}</a:tableStyleId>
              </a:tblPr>
              <a:tblGrid>
                <a:gridCol w="469800"/>
                <a:gridCol w="1391000"/>
                <a:gridCol w="6583225"/>
              </a:tblGrid>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No.</a:t>
                      </a:r>
                      <a:endParaRPr sz="1400" u="none" cap="none" strike="noStrike">
                        <a:solidFill>
                          <a:schemeClr val="lt1"/>
                        </a:solidFill>
                      </a:endParaRPr>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担当者人数</a:t>
                      </a:r>
                      <a:endParaRPr sz="1600" u="none" cap="none" strike="noStrike"/>
                    </a:p>
                  </a:txBody>
                  <a:tcPr marT="34300" marB="34300" marR="68575" marL="68575">
                    <a:solidFill>
                      <a:srgbClr val="E60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solidFill>
                            <a:schemeClr val="lt1"/>
                          </a:solidFill>
                        </a:rPr>
                        <a:t>課題内容</a:t>
                      </a:r>
                      <a:endParaRPr sz="1600" u="none" cap="none" strike="noStrike"/>
                    </a:p>
                  </a:txBody>
                  <a:tcPr marT="34300" marB="34300" marR="68575" marL="68575">
                    <a:solidFill>
                      <a:srgbClr val="E60000"/>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　</a:t>
                      </a:r>
                      <a:endParaRPr sz="1600" u="none" cap="none" strike="noStrike"/>
                    </a:p>
                  </a:txBody>
                  <a:tcPr marT="34300" marB="34300" marR="68575" marL="68575">
                    <a:solidFill>
                      <a:srgbClr val="5A5A5A">
                        <a:alpha val="8235"/>
                      </a:srgbClr>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Calibri"/>
                          <a:ea typeface="Calibri"/>
                          <a:cs typeface="Calibri"/>
                          <a:sym typeface="Calibri"/>
                        </a:rPr>
                        <a:t>トップ画面に</a:t>
                      </a:r>
                      <a:r>
                        <a:rPr b="0" i="0" lang="ja" sz="1400" u="none" cap="none" strike="noStrike">
                          <a:solidFill>
                            <a:schemeClr val="dk1"/>
                          </a:solidFill>
                          <a:latin typeface="Calibri"/>
                          <a:ea typeface="Calibri"/>
                          <a:cs typeface="Calibri"/>
                          <a:sym typeface="Calibri"/>
                        </a:rPr>
                        <a:t>請求状態確認画面へ遷移</a:t>
                      </a:r>
                      <a:r>
                        <a:rPr lang="ja" sz="1400" u="none" cap="none" strike="noStrike">
                          <a:solidFill>
                            <a:schemeClr val="dk1"/>
                          </a:solidFill>
                          <a:latin typeface="Calibri"/>
                          <a:ea typeface="Calibri"/>
                          <a:cs typeface="Calibri"/>
                          <a:sym typeface="Calibri"/>
                        </a:rPr>
                        <a:t>でき</a:t>
                      </a:r>
                      <a:r>
                        <a:rPr b="0" i="0" lang="ja" sz="1400" u="none" cap="none" strike="noStrike">
                          <a:solidFill>
                            <a:schemeClr val="dk1"/>
                          </a:solidFill>
                          <a:latin typeface="Calibri"/>
                          <a:ea typeface="Calibri"/>
                          <a:cs typeface="Calibri"/>
                          <a:sym typeface="Calibri"/>
                        </a:rPr>
                        <a:t>るボタンの実装</a:t>
                      </a:r>
                      <a:endParaRPr b="0" i="0" sz="1400" u="none" cap="none" strike="noStrike">
                        <a:solidFill>
                          <a:schemeClr val="dk1"/>
                        </a:solidFill>
                        <a:latin typeface="Calibri"/>
                        <a:ea typeface="Calibri"/>
                        <a:cs typeface="Calibri"/>
                        <a:sym typeface="Calibri"/>
                      </a:endParaRPr>
                    </a:p>
                  </a:txBody>
                  <a:tcPr marT="34300" marB="34300" marR="68575" marL="68575">
                    <a:solidFill>
                      <a:srgbClr val="5A5A5A">
                        <a:alpha val="823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2</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5A5A5A">
                        <a:alpha val="22745"/>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Calibri"/>
                          <a:ea typeface="Calibri"/>
                          <a:cs typeface="Calibri"/>
                          <a:sym typeface="Calibri"/>
                        </a:rPr>
                        <a:t>DBとの接続を確立する</a:t>
                      </a:r>
                      <a:endParaRPr sz="1600" u="none" cap="none" strike="noStrike">
                        <a:latin typeface="Calibri"/>
                        <a:ea typeface="Calibri"/>
                        <a:cs typeface="Calibri"/>
                        <a:sym typeface="Calibri"/>
                      </a:endParaRPr>
                    </a:p>
                  </a:txBody>
                  <a:tcPr marT="34300" marB="34300" marR="68575" marL="68575">
                    <a:solidFill>
                      <a:srgbClr val="5A5A5A">
                        <a:alpha val="22745"/>
                      </a:srgbClr>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3</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Calibri"/>
                          <a:ea typeface="Calibri"/>
                          <a:cs typeface="Calibri"/>
                          <a:sym typeface="Calibri"/>
                        </a:rPr>
                        <a:t>ステップ</a:t>
                      </a:r>
                      <a:r>
                        <a:rPr b="0" i="0" lang="ja" sz="1600" u="none" cap="none" strike="noStrike">
                          <a:latin typeface="Calibri"/>
                          <a:ea typeface="Calibri"/>
                          <a:cs typeface="Calibri"/>
                          <a:sym typeface="Calibri"/>
                        </a:rPr>
                        <a:t>7・8</a:t>
                      </a:r>
                      <a:r>
                        <a:rPr b="0" i="0" lang="ja" sz="1400" u="none" cap="none" strike="noStrike">
                          <a:latin typeface="Calibri"/>
                          <a:ea typeface="Calibri"/>
                          <a:cs typeface="Calibri"/>
                          <a:sym typeface="Calibri"/>
                        </a:rPr>
                        <a:t>のリンク発行・支払時にDBに情報を永続化する形に実装を</a:t>
                      </a:r>
                      <a:endParaRPr b="0" i="0"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Calibri"/>
                          <a:ea typeface="Calibri"/>
                          <a:cs typeface="Calibri"/>
                          <a:sym typeface="Calibri"/>
                        </a:rPr>
                        <a:t>変更する</a:t>
                      </a:r>
                      <a:endParaRPr b="0" i="0" sz="1400" u="none" cap="none" strike="noStrike">
                        <a:latin typeface="Calibri"/>
                        <a:ea typeface="Calibri"/>
                        <a:cs typeface="Calibri"/>
                        <a:sym typeface="Calibri"/>
                      </a:endParaRPr>
                    </a:p>
                  </a:txBody>
                  <a:tcPr marT="34300" marB="34300" marR="68575" marL="68575">
                    <a:solidFill>
                      <a:srgbClr val="F2F2F2"/>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4</a:t>
                      </a:r>
                      <a:endParaRPr b="0" i="0" sz="1400" u="none" cap="none" strike="noStrike">
                        <a:latin typeface="Meiryo"/>
                        <a:ea typeface="Meiryo"/>
                        <a:cs typeface="Meiryo"/>
                        <a:sym typeface="Meiryo"/>
                      </a:endParaRPr>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latin typeface="Meiryo"/>
                          <a:ea typeface="Meiryo"/>
                          <a:cs typeface="Meiryo"/>
                          <a:sym typeface="Meiryo"/>
                        </a:rPr>
                        <a:t>1人</a:t>
                      </a:r>
                      <a:endParaRPr sz="1600" u="none" cap="none" strike="noStrike"/>
                    </a:p>
                  </a:txBody>
                  <a:tcPr marT="34300" marB="34300" marR="68575" marL="68575">
                    <a:solidFill>
                      <a:srgbClr val="D8D8D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Calibri"/>
                          <a:ea typeface="Calibri"/>
                          <a:cs typeface="Calibri"/>
                          <a:sym typeface="Calibri"/>
                        </a:rPr>
                        <a:t>請求状態確認画面の実装</a:t>
                      </a:r>
                      <a:endParaRPr b="0" i="0" sz="1400" u="none" cap="none" strike="noStrike">
                        <a:solidFill>
                          <a:schemeClr val="dk1"/>
                        </a:solidFill>
                        <a:latin typeface="Calibri"/>
                        <a:ea typeface="Calibri"/>
                        <a:cs typeface="Calibri"/>
                        <a:sym typeface="Calibri"/>
                      </a:endParaRPr>
                    </a:p>
                  </a:txBody>
                  <a:tcPr marT="34300" marB="34300" marR="68575" marL="68575">
                    <a:solidFill>
                      <a:srgbClr val="D8D8D8"/>
                    </a:solidFill>
                  </a:tcPr>
                </a:tc>
              </a:tr>
              <a:tr h="251450">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latin typeface="Meiryo"/>
                          <a:ea typeface="Meiryo"/>
                          <a:cs typeface="Meiryo"/>
                          <a:sym typeface="Meiryo"/>
                        </a:rPr>
                        <a:t>5</a:t>
                      </a:r>
                      <a:endParaRPr b="0" i="0" sz="14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200"/>
                        <a:buFont typeface="Arial"/>
                        <a:buNone/>
                      </a:pPr>
                      <a:r>
                        <a:rPr b="0" i="0" lang="ja" sz="1400" u="none" cap="none" strike="noStrike">
                          <a:latin typeface="Meiryo"/>
                          <a:ea typeface="Meiryo"/>
                          <a:cs typeface="Meiryo"/>
                          <a:sym typeface="Meiryo"/>
                        </a:rPr>
                        <a:t>1人</a:t>
                      </a:r>
                      <a:endParaRPr b="0" i="0" sz="1600" u="none" cap="none" strike="noStrike">
                        <a:latin typeface="Meiryo"/>
                        <a:ea typeface="Meiryo"/>
                        <a:cs typeface="Meiryo"/>
                        <a:sym typeface="Meiryo"/>
                      </a:endParaRPr>
                    </a:p>
                  </a:txBody>
                  <a:tcPr marT="34300" marB="34300" marR="68575" marL="68575">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 sz="1400" u="none" cap="none" strike="noStrike">
                          <a:solidFill>
                            <a:schemeClr val="dk1"/>
                          </a:solidFill>
                          <a:latin typeface="Meiryo"/>
                          <a:ea typeface="Meiryo"/>
                          <a:cs typeface="Meiryo"/>
                          <a:sym typeface="Meiryo"/>
                        </a:rPr>
                        <a:t>タイムキーパー</a:t>
                      </a:r>
                      <a:endParaRPr b="0" i="0" sz="1400" u="none" cap="none" strike="noStrike">
                        <a:solidFill>
                          <a:schemeClr val="dk1"/>
                        </a:solidFill>
                        <a:latin typeface="Meiryo"/>
                        <a:ea typeface="Meiryo"/>
                        <a:cs typeface="Meiryo"/>
                        <a:sym typeface="Meiryo"/>
                      </a:endParaRPr>
                    </a:p>
                  </a:txBody>
                  <a:tcPr marT="34300" marB="34300" marR="68575" marL="68575">
                    <a:solidFill>
                      <a:srgbClr val="F2F2F2"/>
                    </a:solidFill>
                  </a:tcPr>
                </a:tc>
              </a:tr>
            </a:tbl>
          </a:graphicData>
        </a:graphic>
      </p:graphicFrame>
      <p:sp>
        <p:nvSpPr>
          <p:cNvPr id="559" name="Google Shape;559;p33"/>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60" name="Google Shape;560;p33"/>
          <p:cNvSpPr txBox="1"/>
          <p:nvPr/>
        </p:nvSpPr>
        <p:spPr>
          <a:xfrm>
            <a:off x="465150" y="291935"/>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ステップ9 : 請求の状況を表示する機能の実装</a:t>
            </a:r>
            <a:endParaRPr b="0" i="0" sz="1400" u="none" cap="none" strike="noStrike">
              <a:solidFill>
                <a:schemeClr val="dk1"/>
              </a:solidFill>
              <a:latin typeface="Arial"/>
              <a:ea typeface="Arial"/>
              <a:cs typeface="Arial"/>
              <a:sym typeface="Arial"/>
            </a:endParaRPr>
          </a:p>
        </p:txBody>
      </p:sp>
      <p:sp>
        <p:nvSpPr>
          <p:cNvPr id="561" name="Google Shape;561;p33"/>
          <p:cNvSpPr txBox="1"/>
          <p:nvPr/>
        </p:nvSpPr>
        <p:spPr>
          <a:xfrm>
            <a:off x="83550" y="1236650"/>
            <a:ext cx="8976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1"/>
                </a:solidFill>
                <a:latin typeface="Meiryo"/>
                <a:ea typeface="Meiryo"/>
                <a:cs typeface="Meiryo"/>
                <a:sym typeface="Meiryo"/>
              </a:rPr>
              <a:t>下記は役割分担の例です。メンバ間で相談のうえ、担当者を決めていれば以下のとおりでなくても問題ございません。</a:t>
            </a:r>
            <a:endParaRPr b="0" i="0" sz="1300" u="none" cap="none" strike="noStrike">
              <a:solidFill>
                <a:schemeClr val="dk1"/>
              </a:solidFill>
              <a:latin typeface="Meiryo"/>
              <a:ea typeface="Meiryo"/>
              <a:cs typeface="Meiryo"/>
              <a:sym typeface="Meiry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4"/>
          <p:cNvSpPr txBox="1"/>
          <p:nvPr/>
        </p:nvSpPr>
        <p:spPr>
          <a:xfrm>
            <a:off x="302110" y="738042"/>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567" name="Google Shape;567;p34"/>
          <p:cNvSpPr/>
          <p:nvPr/>
        </p:nvSpPr>
        <p:spPr>
          <a:xfrm>
            <a:off x="175164" y="967321"/>
            <a:ext cx="8577034"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568" name="Google Shape;568;p34"/>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69" name="Google Shape;569;p34"/>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ステップ10のゴール</a:t>
            </a:r>
            <a:endParaRPr b="0" i="0" sz="1050" u="none" cap="none" strike="noStrike">
              <a:solidFill>
                <a:schemeClr val="dk1"/>
              </a:solidFill>
              <a:latin typeface="Meiryo"/>
              <a:ea typeface="Meiryo"/>
              <a:cs typeface="Meiryo"/>
              <a:sym typeface="Meiryo"/>
            </a:endParaRPr>
          </a:p>
        </p:txBody>
      </p:sp>
      <p:sp>
        <p:nvSpPr>
          <p:cNvPr id="570" name="Google Shape;570;p34"/>
          <p:cNvSpPr txBox="1"/>
          <p:nvPr/>
        </p:nvSpPr>
        <p:spPr>
          <a:xfrm>
            <a:off x="471677" y="283546"/>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ステップ10 : 運用して判明した課題の改善を行う</a:t>
            </a:r>
            <a:endParaRPr b="0" i="0" sz="2000" u="none" cap="none" strike="noStrike">
              <a:solidFill>
                <a:schemeClr val="dk1"/>
              </a:solidFill>
              <a:latin typeface="Meiryo"/>
              <a:ea typeface="Meiryo"/>
              <a:cs typeface="Meiryo"/>
              <a:sym typeface="Meiryo"/>
            </a:endParaRPr>
          </a:p>
        </p:txBody>
      </p:sp>
      <p:sp>
        <p:nvSpPr>
          <p:cNvPr id="571" name="Google Shape;571;p34"/>
          <p:cNvSpPr txBox="1"/>
          <p:nvPr/>
        </p:nvSpPr>
        <p:spPr>
          <a:xfrm>
            <a:off x="388256" y="1707721"/>
            <a:ext cx="8286676" cy="193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請求リンクを作成する機能を実装しました。その後、試験運用を行ったところ</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実際には請求リンクを貰った人がお金を振り込むことを忘れてしまうケースがありました。</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この課題について、</a:t>
            </a:r>
            <a:r>
              <a:rPr b="0" i="0" lang="ja" sz="1500" u="none" cap="none" strike="noStrike">
                <a:solidFill>
                  <a:srgbClr val="FF0000"/>
                </a:solidFill>
                <a:latin typeface="Meiryo"/>
                <a:ea typeface="Meiryo"/>
                <a:cs typeface="Meiryo"/>
                <a:sym typeface="Meiryo"/>
              </a:rPr>
              <a:t>システム開発者が行える改修</a:t>
            </a:r>
            <a:r>
              <a:rPr b="0" i="0" lang="ja" sz="1500" u="none" cap="none" strike="noStrike">
                <a:solidFill>
                  <a:schemeClr val="dk1"/>
                </a:solidFill>
                <a:latin typeface="Meiryo"/>
                <a:ea typeface="Meiryo"/>
                <a:cs typeface="Meiryo"/>
                <a:sym typeface="Meiryo"/>
              </a:rPr>
              <a:t>を検討してください。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また、作成したアプリで実現可能であれば実装してください。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5"/>
          <p:cNvSpPr txBox="1"/>
          <p:nvPr/>
        </p:nvSpPr>
        <p:spPr>
          <a:xfrm>
            <a:off x="302110" y="738042"/>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577" name="Google Shape;577;p35"/>
          <p:cNvSpPr/>
          <p:nvPr/>
        </p:nvSpPr>
        <p:spPr>
          <a:xfrm>
            <a:off x="175164" y="967321"/>
            <a:ext cx="8525079"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578" name="Google Shape;578;p35"/>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79" name="Google Shape;579;p35"/>
          <p:cNvSpPr txBox="1"/>
          <p:nvPr/>
        </p:nvSpPr>
        <p:spPr>
          <a:xfrm>
            <a:off x="386253" y="858317"/>
            <a:ext cx="2921400"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ステップ11のゴール</a:t>
            </a:r>
            <a:endParaRPr b="0" i="0" sz="1050" u="none" cap="none" strike="noStrike">
              <a:solidFill>
                <a:schemeClr val="dk1"/>
              </a:solidFill>
              <a:latin typeface="Meiryo"/>
              <a:ea typeface="Meiryo"/>
              <a:cs typeface="Meiryo"/>
              <a:sym typeface="Meiryo"/>
            </a:endParaRPr>
          </a:p>
        </p:txBody>
      </p:sp>
      <p:sp>
        <p:nvSpPr>
          <p:cNvPr id="580" name="Google Shape;580;p35"/>
          <p:cNvSpPr txBox="1"/>
          <p:nvPr/>
        </p:nvSpPr>
        <p:spPr>
          <a:xfrm>
            <a:off x="303831" y="1376510"/>
            <a:ext cx="8306158" cy="1554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各グループのメンターからニーズを聞き、そのニーズに沿った機能の開発を</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rPr b="0" i="0" lang="ja" sz="1600" u="none" cap="none" strike="noStrike">
                <a:solidFill>
                  <a:schemeClr val="dk1"/>
                </a:solidFill>
                <a:latin typeface="Meiryo"/>
                <a:ea typeface="Meiryo"/>
                <a:cs typeface="Meiryo"/>
                <a:sym typeface="Meiryo"/>
              </a:rPr>
              <a:t>行ってください。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dk1"/>
                </a:solidFill>
                <a:latin typeface="Meiryo"/>
                <a:ea typeface="Meiryo"/>
                <a:cs typeface="Meiryo"/>
                <a:sym typeface="Meiryo"/>
              </a:rPr>
              <a:t>確認したい箇所は積極的にメンターに聞き、どのような機能なのかイメージを</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rPr b="0" i="0" lang="ja" sz="1600" u="none" cap="none" strike="noStrike">
                <a:solidFill>
                  <a:schemeClr val="dk1"/>
                </a:solidFill>
                <a:latin typeface="Meiryo"/>
                <a:ea typeface="Meiryo"/>
                <a:cs typeface="Meiryo"/>
                <a:sym typeface="Meiryo"/>
              </a:rPr>
              <a:t>合わせながら、実装を進めてください。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Meiryo"/>
              <a:ea typeface="Meiryo"/>
              <a:cs typeface="Meiryo"/>
              <a:sym typeface="Meiryo"/>
            </a:endParaRPr>
          </a:p>
        </p:txBody>
      </p:sp>
      <p:sp>
        <p:nvSpPr>
          <p:cNvPr id="581" name="Google Shape;581;p35"/>
          <p:cNvSpPr txBox="1"/>
          <p:nvPr/>
        </p:nvSpPr>
        <p:spPr>
          <a:xfrm>
            <a:off x="471677" y="291269"/>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ステップ11 : メンターに課題を聞いて実装を行う</a:t>
            </a:r>
            <a:endParaRPr b="0" i="0" sz="1400" u="none" cap="none" strike="noStrike">
              <a:solidFill>
                <a:schemeClr val="dk1"/>
              </a:solidFill>
              <a:latin typeface="Arial"/>
              <a:ea typeface="Arial"/>
              <a:cs typeface="Arial"/>
              <a:sym typeface="Arial"/>
            </a:endParaRPr>
          </a:p>
        </p:txBody>
      </p:sp>
      <p:pic>
        <p:nvPicPr>
          <p:cNvPr id="582" name="Google Shape;582;p35"/>
          <p:cNvPicPr preferRelativeResize="0"/>
          <p:nvPr/>
        </p:nvPicPr>
        <p:blipFill rotWithShape="1">
          <a:blip r:embed="rId3">
            <a:alphaModFix/>
          </a:blip>
          <a:srcRect b="0" l="0" r="0" t="0"/>
          <a:stretch/>
        </p:blipFill>
        <p:spPr>
          <a:xfrm>
            <a:off x="387726" y="3410494"/>
            <a:ext cx="291553" cy="291553"/>
          </a:xfrm>
          <a:prstGeom prst="rect">
            <a:avLst/>
          </a:prstGeom>
          <a:noFill/>
          <a:ln>
            <a:noFill/>
          </a:ln>
        </p:spPr>
      </p:pic>
      <p:sp>
        <p:nvSpPr>
          <p:cNvPr id="583" name="Google Shape;583;p35"/>
          <p:cNvSpPr txBox="1"/>
          <p:nvPr/>
        </p:nvSpPr>
        <p:spPr>
          <a:xfrm>
            <a:off x="680501" y="3428714"/>
            <a:ext cx="7676210" cy="5539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具体的なイメージを持てない場合は、たたき台を作って実際に触りながら</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chemeClr val="dk1"/>
                </a:solidFill>
                <a:latin typeface="Meiryo"/>
                <a:ea typeface="Meiryo"/>
                <a:cs typeface="Meiryo"/>
                <a:sym typeface="Meiryo"/>
              </a:rPr>
              <a:t>メンターとすり合わせを行うことも効果的です。</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37"/>
          <p:cNvSpPr/>
          <p:nvPr/>
        </p:nvSpPr>
        <p:spPr>
          <a:xfrm>
            <a:off x="175175" y="967325"/>
            <a:ext cx="8488099" cy="36483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Meiryo"/>
              <a:ea typeface="Meiryo"/>
              <a:cs typeface="Meiryo"/>
              <a:sym typeface="Meiryo"/>
            </a:endParaRPr>
          </a:p>
        </p:txBody>
      </p:sp>
      <p:sp>
        <p:nvSpPr>
          <p:cNvPr id="589" name="Google Shape;589;p37"/>
          <p:cNvSpPr txBox="1"/>
          <p:nvPr/>
        </p:nvSpPr>
        <p:spPr>
          <a:xfrm>
            <a:off x="302110" y="1349258"/>
            <a:ext cx="8976900" cy="6495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2700"/>
              <a:buFont typeface="Arial"/>
              <a:buNone/>
            </a:pPr>
            <a:r>
              <a:t/>
            </a:r>
            <a:endParaRPr b="0" i="0" sz="2700" u="none" cap="none" strike="noStrike">
              <a:solidFill>
                <a:schemeClr val="dk1"/>
              </a:solidFill>
              <a:latin typeface="Meiryo"/>
              <a:ea typeface="Meiryo"/>
              <a:cs typeface="Meiryo"/>
              <a:sym typeface="Meiryo"/>
            </a:endParaRPr>
          </a:p>
        </p:txBody>
      </p:sp>
      <p:sp>
        <p:nvSpPr>
          <p:cNvPr id="590" name="Google Shape;590;p37"/>
          <p:cNvSpPr txBox="1"/>
          <p:nvPr/>
        </p:nvSpPr>
        <p:spPr>
          <a:xfrm>
            <a:off x="371002" y="1499606"/>
            <a:ext cx="8087321"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ja" sz="1600" u="none" cap="none" strike="noStrike">
                <a:solidFill>
                  <a:schemeClr val="dk1"/>
                </a:solidFill>
                <a:latin typeface="Meiryo"/>
                <a:ea typeface="Meiryo"/>
                <a:cs typeface="Meiryo"/>
                <a:sym typeface="Meiryo"/>
              </a:rPr>
              <a:t>グループ内で、開発したアプリの問題点・改善点について話し合い、</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500"/>
              <a:buFont typeface="Arial"/>
              <a:buNone/>
            </a:pPr>
            <a:r>
              <a:rPr b="0" i="0" lang="ja" sz="1600" u="none" cap="none" strike="noStrike">
                <a:solidFill>
                  <a:schemeClr val="dk1"/>
                </a:solidFill>
                <a:latin typeface="Meiryo"/>
                <a:ea typeface="Meiryo"/>
                <a:cs typeface="Meiryo"/>
                <a:sym typeface="Meiryo"/>
              </a:rPr>
              <a:t>それに基づいて追加機能を実装してください。</a:t>
            </a:r>
            <a:endParaRPr b="0" i="0" sz="1600" u="none" cap="none" strike="noStrike">
              <a:solidFill>
                <a:schemeClr val="dk1"/>
              </a:solidFill>
              <a:latin typeface="Meiryo"/>
              <a:ea typeface="Meiryo"/>
              <a:cs typeface="Meiryo"/>
              <a:sym typeface="Meiryo"/>
            </a:endParaRPr>
          </a:p>
        </p:txBody>
      </p:sp>
      <p:sp>
        <p:nvSpPr>
          <p:cNvPr id="591" name="Google Shape;591;p37"/>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ja">
                <a:latin typeface="Arial"/>
                <a:ea typeface="Arial"/>
                <a:cs typeface="Arial"/>
                <a:sym typeface="Arial"/>
              </a:rPr>
              <a:t>‹#›</a:t>
            </a:fld>
            <a:endParaRPr>
              <a:latin typeface="Arial"/>
              <a:ea typeface="Arial"/>
              <a:cs typeface="Arial"/>
              <a:sym typeface="Arial"/>
            </a:endParaRPr>
          </a:p>
        </p:txBody>
      </p:sp>
      <p:sp>
        <p:nvSpPr>
          <p:cNvPr id="592" name="Google Shape;592;p37"/>
          <p:cNvSpPr txBox="1"/>
          <p:nvPr/>
        </p:nvSpPr>
        <p:spPr>
          <a:xfrm>
            <a:off x="372806" y="858317"/>
            <a:ext cx="2778071" cy="369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 sz="1800" u="none" cap="none" strike="noStrike">
                <a:solidFill>
                  <a:schemeClr val="dk1"/>
                </a:solidFill>
                <a:latin typeface="Meiryo"/>
                <a:ea typeface="Meiryo"/>
                <a:cs typeface="Meiryo"/>
                <a:sym typeface="Meiryo"/>
              </a:rPr>
              <a:t>ステップ12のゴール</a:t>
            </a:r>
            <a:endParaRPr b="0" i="0" sz="1050" u="none" cap="none" strike="noStrike">
              <a:solidFill>
                <a:schemeClr val="dk1"/>
              </a:solidFill>
              <a:latin typeface="Meiryo"/>
              <a:ea typeface="Meiryo"/>
              <a:cs typeface="Meiryo"/>
              <a:sym typeface="Meiryo"/>
            </a:endParaRPr>
          </a:p>
        </p:txBody>
      </p:sp>
      <p:sp>
        <p:nvSpPr>
          <p:cNvPr id="593" name="Google Shape;593;p37"/>
          <p:cNvSpPr txBox="1"/>
          <p:nvPr/>
        </p:nvSpPr>
        <p:spPr>
          <a:xfrm>
            <a:off x="387051" y="2937278"/>
            <a:ext cx="8085122"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 sz="1600" u="none" cap="none" strike="noStrike">
                <a:solidFill>
                  <a:schemeClr val="dk1"/>
                </a:solidFill>
                <a:latin typeface="Meiryo"/>
                <a:ea typeface="Meiryo"/>
                <a:cs typeface="Meiryo"/>
                <a:sym typeface="Meiryo"/>
              </a:rPr>
              <a:t>※  ステップ12が最終課題となります。ここまでの課題をクリアしたチームは、</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 sz="1600" u="none" cap="none" strike="noStrike">
                <a:solidFill>
                  <a:schemeClr val="dk1"/>
                </a:solidFill>
                <a:latin typeface="Meiryo"/>
                <a:ea typeface="Meiryo"/>
                <a:cs typeface="Meiryo"/>
                <a:sym typeface="Meiryo"/>
              </a:rPr>
              <a:t>　  時間終了までステップ12のゴールに沿ってアプリの改良を行ってください。</a:t>
            </a:r>
            <a:endParaRPr b="0" i="0" sz="1600" u="none" cap="none" strike="noStrike">
              <a:solidFill>
                <a:schemeClr val="dk1"/>
              </a:solidFill>
              <a:latin typeface="Meiryo"/>
              <a:ea typeface="Meiryo"/>
              <a:cs typeface="Meiryo"/>
              <a:sym typeface="Meiryo"/>
            </a:endParaRPr>
          </a:p>
        </p:txBody>
      </p:sp>
      <p:sp>
        <p:nvSpPr>
          <p:cNvPr id="594" name="Google Shape;594;p37"/>
          <p:cNvSpPr txBox="1"/>
          <p:nvPr/>
        </p:nvSpPr>
        <p:spPr>
          <a:xfrm>
            <a:off x="465150" y="265716"/>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ステップ12 : アプリの改善点を検討して追加機能を実装する</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3"/>
          <p:cNvSpPr txBox="1"/>
          <p:nvPr>
            <p:ph idx="1" type="body"/>
          </p:nvPr>
        </p:nvSpPr>
        <p:spPr>
          <a:xfrm>
            <a:off x="987551" y="1711727"/>
            <a:ext cx="7307700" cy="881400"/>
          </a:xfrm>
          <a:prstGeom prst="rect">
            <a:avLst/>
          </a:prstGeom>
          <a:noFill/>
          <a:ln>
            <a:noFill/>
          </a:ln>
        </p:spPr>
        <p:txBody>
          <a:bodyPr anchorCtr="0" anchor="t" bIns="91425" lIns="91425" spcFirstLastPara="1" rIns="91425" wrap="square" tIns="91425">
            <a:normAutofit lnSpcReduction="10000"/>
          </a:bodyPr>
          <a:lstStyle/>
          <a:p>
            <a:pPr indent="0" lvl="0" marL="114300" rtl="0" algn="ctr">
              <a:lnSpc>
                <a:spcPct val="115000"/>
              </a:lnSpc>
              <a:spcBef>
                <a:spcPts val="0"/>
              </a:spcBef>
              <a:spcAft>
                <a:spcPts val="0"/>
              </a:spcAft>
              <a:buSzPts val="1800"/>
              <a:buNone/>
            </a:pPr>
            <a:r>
              <a:rPr lang="ja" sz="2000"/>
              <a:t>Miro内の「DAY1開発の流れ」に記載の順序で</a:t>
            </a:r>
            <a:endParaRPr sz="2000"/>
          </a:p>
          <a:p>
            <a:pPr indent="0" lvl="0" marL="114300" rtl="0" algn="ctr">
              <a:lnSpc>
                <a:spcPct val="115000"/>
              </a:lnSpc>
              <a:spcBef>
                <a:spcPts val="0"/>
              </a:spcBef>
              <a:spcAft>
                <a:spcPts val="0"/>
              </a:spcAft>
              <a:buSzPts val="1800"/>
              <a:buNone/>
            </a:pPr>
            <a:r>
              <a:rPr lang="ja" sz="2000"/>
              <a:t>チーム名決めに進んでください。</a:t>
            </a:r>
            <a:endParaRPr sz="2000"/>
          </a:p>
        </p:txBody>
      </p:sp>
      <p:sp>
        <p:nvSpPr>
          <p:cNvPr id="600" name="Google Shape;600;p13"/>
          <p:cNvSpPr txBox="1"/>
          <p:nvPr/>
        </p:nvSpPr>
        <p:spPr>
          <a:xfrm>
            <a:off x="469952" y="260369"/>
            <a:ext cx="9144000" cy="534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2800"/>
              <a:buFont typeface="Arial"/>
              <a:buNone/>
            </a:pPr>
            <a:r>
              <a:rPr b="0" i="0" lang="ja" sz="2000" u="none" cap="none" strike="noStrike">
                <a:solidFill>
                  <a:schemeClr val="dk1"/>
                </a:solidFill>
                <a:latin typeface="Meiryo"/>
                <a:ea typeface="Meiryo"/>
                <a:cs typeface="Meiryo"/>
                <a:sym typeface="Meiryo"/>
              </a:rPr>
              <a:t>開発着手</a:t>
            </a:r>
            <a:endParaRPr b="0" i="0" sz="1400" u="none" cap="none" strike="noStrike">
              <a:solidFill>
                <a:schemeClr val="dk1"/>
              </a:solidFill>
              <a:latin typeface="Arial"/>
              <a:ea typeface="Arial"/>
              <a:cs typeface="Arial"/>
              <a:sym typeface="Arial"/>
            </a:endParaRPr>
          </a:p>
        </p:txBody>
      </p:sp>
      <p:sp>
        <p:nvSpPr>
          <p:cNvPr id="601" name="Google Shape;601;p13"/>
          <p:cNvSpPr txBox="1"/>
          <p:nvPr/>
        </p:nvSpPr>
        <p:spPr>
          <a:xfrm>
            <a:off x="1038255" y="3018214"/>
            <a:ext cx="7067400" cy="7113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1"/>
              </a:buClr>
              <a:buSzPts val="1800"/>
              <a:buFont typeface="Arial"/>
              <a:buNone/>
            </a:pPr>
            <a:r>
              <a:rPr b="0" i="0" lang="ja" sz="1800" u="none" cap="none" strike="noStrike">
                <a:solidFill>
                  <a:srgbClr val="FF0000"/>
                </a:solidFill>
                <a:latin typeface="Meiryo"/>
                <a:ea typeface="Meiryo"/>
                <a:cs typeface="Meiryo"/>
                <a:sym typeface="Meiryo"/>
              </a:rPr>
              <a:t>※ステップ１を始める前に、p.12〜p.13のレギュレーションを</a:t>
            </a:r>
            <a:endParaRPr b="0" i="0" sz="1800" u="none" cap="none" strike="noStrike">
              <a:solidFill>
                <a:srgbClr val="FF0000"/>
              </a:solidFill>
              <a:latin typeface="Meiryo"/>
              <a:ea typeface="Meiryo"/>
              <a:cs typeface="Meiryo"/>
              <a:sym typeface="Meiryo"/>
            </a:endParaRPr>
          </a:p>
          <a:p>
            <a:pPr indent="0" lvl="0" marL="114300" marR="0" rtl="0" algn="ctr">
              <a:lnSpc>
                <a:spcPct val="115000"/>
              </a:lnSpc>
              <a:spcBef>
                <a:spcPts val="0"/>
              </a:spcBef>
              <a:spcAft>
                <a:spcPts val="0"/>
              </a:spcAft>
              <a:buClr>
                <a:schemeClr val="dk1"/>
              </a:buClr>
              <a:buSzPts val="1800"/>
              <a:buFont typeface="Arial"/>
              <a:buNone/>
            </a:pPr>
            <a:r>
              <a:rPr b="0" i="0" lang="ja" sz="1800" u="none" cap="none" strike="noStrike">
                <a:solidFill>
                  <a:srgbClr val="FF0000"/>
                </a:solidFill>
                <a:latin typeface="Meiryo"/>
                <a:ea typeface="Meiryo"/>
                <a:cs typeface="Meiryo"/>
                <a:sym typeface="Meiryo"/>
              </a:rPr>
              <a:t>よく読んだうえで開発を始めてください。</a:t>
            </a:r>
            <a:endParaRPr b="0" i="0" sz="1800" u="none" cap="none" strike="noStrike">
              <a:solidFill>
                <a:srgbClr val="FF0000"/>
              </a:solidFill>
              <a:latin typeface="Meiryo"/>
              <a:ea typeface="Meiryo"/>
              <a:cs typeface="Meiryo"/>
              <a:sym typeface="Meiryo"/>
            </a:endParaRPr>
          </a:p>
        </p:txBody>
      </p:sp>
      <p:sp>
        <p:nvSpPr>
          <p:cNvPr id="602" name="Google Shape;602;p13"/>
          <p:cNvSpPr txBox="1"/>
          <p:nvPr>
            <p:ph idx="12" type="sldNum"/>
          </p:nvPr>
        </p:nvSpPr>
        <p:spPr>
          <a:xfrm>
            <a:off x="465139" y="4826223"/>
            <a:ext cx="182700" cy="18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fld id="{00000000-1234-1234-1234-123412341234}" type="slidenum">
              <a:rPr lang="ja" sz="900">
                <a:latin typeface="Arial"/>
                <a:ea typeface="Arial"/>
                <a:cs typeface="Arial"/>
                <a:sym typeface="Arial"/>
              </a:rPr>
              <a:t>‹#›</a:t>
            </a:fld>
            <a:endParaRPr sz="9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xt pages_16:9">
  <a:themeElements>
    <a:clrScheme name="MUFG-B">
      <a:dk1>
        <a:srgbClr val="000000"/>
      </a:dk1>
      <a:lt1>
        <a:srgbClr val="FFFFFF"/>
      </a:lt1>
      <a:dk2>
        <a:srgbClr val="5A5A5A"/>
      </a:dk2>
      <a:lt2>
        <a:srgbClr val="E60000"/>
      </a:lt2>
      <a:accent1>
        <a:srgbClr val="F3D54D"/>
      </a:accent1>
      <a:accent2>
        <a:srgbClr val="EB9042"/>
      </a:accent2>
      <a:accent3>
        <a:srgbClr val="DC5A5B"/>
      </a:accent3>
      <a:accent4>
        <a:srgbClr val="AA5194"/>
      </a:accent4>
      <a:accent5>
        <a:srgbClr val="337EBC"/>
      </a:accent5>
      <a:accent6>
        <a:srgbClr val="2AABA0"/>
      </a:accent6>
      <a:hlink>
        <a:srgbClr val="0000FF"/>
      </a:hlink>
      <a:folHlink>
        <a:srgbClr val="ACACA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